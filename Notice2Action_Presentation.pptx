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f4a2c8d-5c83-0e4c-d994-8136190815dd}">
          <p14:sldIdLst>
            <p14:sldId id="256"/>
          </p14:sldIdLst>
        </p14:section>
        <p14:section name="The Problem" id="{1d8a4382-bc02-f2a7-44fe-e2c44fc6e82b}">
          <p14:sldIdLst>
            <p14:sldId id="257"/>
            <p14:sldId id="258"/>
            <p14:sldId id="259"/>
          </p14:sldIdLst>
        </p14:section>
        <p14:section name="The Solution" id="{f171efb8-f64e-c2de-e3d2-15c46063b721}">
          <p14:sldIdLst>
            <p14:sldId id="260"/>
            <p14:sldId id="261"/>
            <p14:sldId id="262"/>
            <p14:sldId id="263"/>
          </p14:sldIdLst>
        </p14:section>
        <p14:section name="The Prototype" id="{23a253a3-5b84-e9d3-7798-98cf3cd24099}">
          <p14:sldIdLst>
            <p14:sldId id="264"/>
            <p14:sldId id="265"/>
            <p14:sldId id="266"/>
          </p14:sldIdLst>
        </p14:section>
        <p14:section name="Wrap-up" id="{c83dd213-71fd-a1fa-6a9f-a34c98d18cfd}">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(about 20 seconds)
SAY: "Good morning. I'm ALAN BAIJU, and this is Notice2Action: an AI-assisted web app that turns college notices into clear, personalized actions. It is an individual project, and the prototype is already live."
KEY TAKEAWAY: Notice2Action is a working prototype, not just an idea.
TRANSITION: "Before I show the solution, let me show the problem every student already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EVERYDAY PROBLEM (about 60 seconds)
SAY: "A student gets information from the college portal, PDF circulars, WhatsApp and Telegram groups, and department announcements. The same student then has to read it all, decide what applies to them, and work out what to do. When that goes wrong, it ends in confusion and missed action opportunities."
KEY TAKEAWAY: The problem is relatable. I am not claiming statistics, only describing a familiar everyday scenario.
TRANSITION: "Let me put that into a single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PROBLEM STATEMENT (about 45 seconds)
SAY: "Students do receive information. What they don't receive is clarity. For every notice a student has to ask three questions: does this apply to me, what must I do, and by when? Answering those takes time and effort. So the real challenge is not finding notices, it is converting unstructured information into useful decisions and next steps."
KEY TAKEAWAY: The gap is between receiving information and understanding the required action.
TRANSITION: "Why don't the usual methods close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WHY MANUAL METHODS FALL SHORT (about 45 seconds)
SAY: "Doing this by hand means four chores: reading long PDFs, finding what is relevant to you, tracking deadlines buried in paragraphs, and working out the actions. None of these is hard on its own, but together they cost time, and they are repeated for every notice."
KEY TAKEAWAY: The effort is in interpretation, not in access. I am deliberately not criticising any specific existing product.
TRANSITION: "That is exactly the gap Notice2Action is built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INTRODUCING NOTICE2ACTION (about 45 seconds)
SAY: "Notice2Action takes scattered information and gives the student structured understanding, personalized relevance, and clear next steps. The focus is on moving from information to action."
HONESTY POINT: "To be clear, today's workflow is based on uploading a PDF. It does not read WhatsApp, Telegram or the college portal automatically; those are future possibilities."
TRANSITION: "Here is how it works from the student's point of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HOW IT WORKS (about 45 seconds)
SAY: "Five simple steps. Review the student profile. Upload a PDF with multiple notices. The app analyzes it. The student reviews the notice cards. Then takes action, knowing what applies, what to do and when."
KEY TAKEAWAY: From the student's side it is simple: profile, upload, review.
TRANSITION: "Now let me open the hood and show what happens in the 'Analyze'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SYSTEM ARCHITECTURE (about 90 seconds)
SAY: "Six stages. 1) The student uploads a PDF. 2) PyMuPDF extracts the readable text. 3) Python splits that text into individual notices. 4) A Groq-hosted large language model helps analyze each notice and produce structured details. 5) Python logic then validates the available details, matches them against the student profile and assigns priority. 6) Streamlit presents the result as notice cards."
KEY POINT: Only one stage is AI-assisted (highlighted in cyan). The rest is conventional Python processing, so the language model does not decide every result.
TECHNICAL NOTES (for questions): It uses a hosted model through the Groq API. There is no custom-trained model, no vector database, no embeddings or RAG pipeline, and no autonomous agents. It is not guaranteed to be perfectly accurate, so details should be verified against the original notice.
TRANSITION: "Let me show how profile matching and priority help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PERSONALIZATION AND PRIORITIZATION (about 60 seconds)
SAY: "Two ideas make the output useful. First, relevance: the notices are compared against the student's profile so the relevant ones surface. Second, priority: each notice carries a priority level. In the examples, the health and immunization clearance is High because documents are due before a deadline, the career fair and literary magazine submissions are Medium, and the parking notice is Low."
HONESTY POINT: This is profile matching plus priority labels. The app does not learn a student's behavior and does not use advanced personalization models.
BEFORE PRESENTING: Confirm which profile fields your app actually offers and say exactly those out loud.
TRANSITION: "Let me show you what it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THE USER INTERFACE (about 45 seconds)
ACTION BEFORE PRESENTING: Replace both placeholders with real screenshots from the deployed app. Then add numbered markers 1-4 on the screenshot for: profile controls, upload area, notice cards, and priority plus required action.
SAY: "The interface is a simple Streamlit page. On the left, the profile controls and the PDF upload area. On the right, the result: notice cards showing priority and required action."
TRANSITION: "Here is what that transformation looks like for real example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REAL EXAMPLES (about 60 seconds)
SAY: "Here are three example notices of the type the prototype handles. A long block of notice text becomes a card with a priority and a required action. The health and immunization clearance is High: submit the documents before the deadline, which is exactly the kind of deadline and consequence worth surfacing. The career fair is Medium: pre-register, prepare resumes, attend. The parking notice is Low: avoid the lot after the stated time and use an authorized alternative."
EXTRA EXAMPLE (if asked): A literary magazine submissions notice, Medium priority, submit content through the stated channel before the deadline.
HONESTY POINT: These are illustrative examples, not verified real announcements, and not proof of measured performance. If your app's cards show a relevant student group or submission channel, add those fields here exactly as the app displays them.
TRANSITION: "Better than slides, you can try it yourself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THE PROTOTYPE IS LIVE (about 90 seconds live demo)
SAY: "This is not a mockup. The prototype is deployed. You can open it from the link or scan the QR code."
LIVE DEMO SCRIPT (60-90 seconds):
1. (0:00) Open the deployed website. Say: "This is the live app."
2. (0:10) Point out the student profile controls. Say: "First, the student profile, which the notices are matched against."
3. (0:20) Upload the prepared sample PDF containing multiple notices. Say: "One PDF, several notices."
4. (0:30) Wait while it processes. Say: "PyMuPDF extracts the text, Python splits it into notices, the language model helps analyze them, and Python rules handle relevance and priority."
5. (0:45) Scroll through the notice cards. Say: "Each notice is now a card."
6. (1:00) Point at one High and one Low card. Say: "Priority, deadline and required action are visible at a glance, with no need to read the whole PDF."
7. (1:15) Close: "Everything here came from a single uploaded PDF."
BACKUP PLAN: Streamlit apps can go to sleep when idle, so open the link a few minutes before presenting. Keep a screen recording or screenshots as a fallback in case the network fails.
TRANSITION: "Now a quick look at the technology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TECHNOLOGY STACK (about 45 seconds)
SAY: "Python is the core: segmentation, matching and priority logic. Streamlit provides the web interface. PyMuPDF extracts text from the PDF. The Groq API provides hosted language-model inference to help analyze notice content. And Python rules handle relevance and priority."
KEY POINT: A hosted model is used. No custom-trained model, no vector database, no RAG pipeline.
IF ASKED 'Why Groq?': Hosted inference keeps the app lightweight and responsive for a prototype. Confirm your own reason before presenting.
TRANSITION: "Let me be transparent about what works today and what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CAPABILITIES AND LIMITATIONS (about 60 seconds)
SAY: "Here is what is implemented: PDF upload, text extraction, splitting into notices, AI-assisted extraction of details, profile matching, priority levels, and structured cards. And here is what is not: it needs a PDF, it does not read WhatsApp, Telegram or portals automatically, extracted and AI-generated details should be verified against the original notice, results depend on readable text in the PDF, there is no formal accuracy evaluation yet, and it is a prototype, not a production system."
KEY TAKEAWAY: Being upfront about limits makes the project more credible.
TRANSITION: "So where could it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FUTURE SCOPE (about 45 seconds)
SAY: "These are possibilities, not features: automated notice ingestion from approved college sources, calendar integration with deadline reminders, more document formats, stronger extraction validation and formal evaluation, and more convenient profile management."
KEY POINT: The dashed outlines signal that none of these exists yet.
TRANSITION: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CLOSING (about 20 seconds)
SAY: "College notices should not stop at delivering information. Students need to understand what applies to them, what action is required, and when they must act. Notice2Action is a working step in that direction: less time interpreting notices, more clarity about what to do next. The prototype is live, so please try it. Thank you. I'm happy to take questions."
LIKELY QUESTIONS:
- How accurate is it? "There is no formal evaluation yet, so I recommend verifying details against the original notice."
- Does it use a custom model? "No. It uses a hosted model through the Groq API combined with Python logic."
- Does it read WhatsApp or the portal? "Not today. Currently it works from an uploaded PDF. Automatic ingestion is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Notice2Action  |  Developed by ALAN BAIJU</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Notice2Action  |  Developed by ALAN BAIJU</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notice2action-ppdndd9hck3vpiskvwn3oy.streamlit.app/" TargetMode="External"/><Relationship Id="rId2" Type="http://schemas.openxmlformats.org/officeDocument/2006/relationships/hyperlink" Target="https://notice2action-ppdndd9hck3vpiskvwn3oy.streamlit.app/" TargetMode="External"/><Relationship Id="rId4" Type="http://schemas.openxmlformats.org/officeDocument/2006/relationships/hyperlink" Target="https://notice2action-ppdndd9hck3vpiskvwn3oy.streamlit.app/" TargetMode="External"/><Relationship Id="rId3" Type="http://schemas.openxmlformats.org/officeDocument/2006/relationships/image" Target="../media/image-11-1.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3.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notice2action-ppdndd9hck3vpiskvwn3oy.streamlit.app/" TargetMode="External"/><Relationship Id="rId3" Type="http://schemas.openxmlformats.org/officeDocument/2006/relationships/hyperlink" Target="https://notice2action-ppdndd9hck3vpiskvwn3oy.streamlit.app/" TargetMode="External"/><Relationship Id="rId2" Type="http://schemas.openxmlformats.org/officeDocument/2006/relationships/image" Target="../media/image-15-1.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tag"/>
          <p:cNvSpPr txBox="1"/>
          <p:nvPr/>
        </p:nvSpPr>
        <p:spPr>
          <a:xfrm>
            <a:off x="731520" y="1600200"/>
            <a:ext cx="6217920" cy="320040"/>
          </a:xfrm>
          <a:prstGeom prst="rect">
            <a:avLst/>
          </a:prstGeom>
          <a:noFill/>
          <a:ln/>
        </p:spPr>
        <p:txBody>
          <a:bodyPr wrap="square" lIns="0" tIns="0" rIns="0" bIns="0" rtlCol="0" anchor="t"/>
          <a:lstStyle/>
          <a:p>
            <a:pPr indent="0" marL="0">
              <a:buNone/>
            </a:pPr>
            <a:r>
              <a:rPr lang="en-US" sz="1400" b="1" spc="400" kern="0" dirty="0">
                <a:solidFill>
                  <a:schemeClr val="accent2"/>
                </a:solidFill>
              </a:rPr>
              <a:t>AI-POWERED COLLEGE NOTICE ASSISTANT</a:t>
            </a:r>
            <a:endParaRPr lang="en-US" sz="1400" dirty="0"/>
          </a:p>
        </p:txBody>
      </p:sp>
      <p:sp>
        <p:nvSpPr>
          <p:cNvPr id="3" name="Cover title"/>
          <p:cNvSpPr txBox="1"/>
          <p:nvPr/>
        </p:nvSpPr>
        <p:spPr>
          <a:xfrm>
            <a:off x="731520" y="2057400"/>
            <a:ext cx="6400800" cy="1005840"/>
          </a:xfrm>
          <a:prstGeom prst="rect">
            <a:avLst/>
          </a:prstGeom>
          <a:noFill/>
          <a:ln/>
        </p:spPr>
        <p:txBody>
          <a:bodyPr wrap="square" lIns="0" tIns="0" rIns="0" bIns="0" rtlCol="0" anchor="ctr"/>
          <a:lstStyle/>
          <a:p>
            <a:pPr indent="0" marL="0">
              <a:buNone/>
            </a:pPr>
            <a:r>
              <a:rPr lang="en-US" sz="6000" b="1" dirty="0">
                <a:solidFill>
                  <a:schemeClr val="bg1"/>
                </a:solidFill>
              </a:rPr>
              <a:t>NOTICE</a:t>
            </a:r>
            <a:pPr indent="0" marL="0">
              <a:buNone/>
            </a:pPr>
            <a:r>
              <a:rPr lang="en-US" sz="6000" b="1" dirty="0">
                <a:solidFill>
                  <a:schemeClr val="accent2"/>
                </a:solidFill>
              </a:rPr>
              <a:t>2</a:t>
            </a:r>
            <a:pPr indent="0" marL="0">
              <a:buNone/>
            </a:pPr>
            <a:r>
              <a:rPr lang="en-US" sz="6000" b="1" dirty="0">
                <a:solidFill>
                  <a:schemeClr val="bg1"/>
                </a:solidFill>
              </a:rPr>
              <a:t>ACTION</a:t>
            </a:r>
            <a:endParaRPr lang="en-US" sz="6000" dirty="0"/>
          </a:p>
        </p:txBody>
      </p:sp>
      <p:sp>
        <p:nvSpPr>
          <p:cNvPr id="4" name="Cover subtitle"/>
          <p:cNvSpPr txBox="1"/>
          <p:nvPr/>
        </p:nvSpPr>
        <p:spPr>
          <a:xfrm>
            <a:off x="731520" y="3291840"/>
            <a:ext cx="6217920" cy="914400"/>
          </a:xfrm>
          <a:prstGeom prst="rect">
            <a:avLst/>
          </a:prstGeom>
          <a:noFill/>
          <a:ln/>
        </p:spPr>
        <p:txBody>
          <a:bodyPr wrap="square" lIns="0" tIns="0" rIns="0" bIns="0" rtlCol="0" anchor="t"/>
          <a:lstStyle/>
          <a:p>
            <a:pPr indent="0" marL="0">
              <a:buNone/>
            </a:pPr>
            <a:r>
              <a:rPr lang="en-US" sz="2600" dirty="0">
                <a:solidFill>
                  <a:schemeClr val="bg2"/>
                </a:solidFill>
              </a:rPr>
              <a:t>From College Notices to</a:t>
            </a:r>
            <a:endParaRPr lang="en-US" sz="2600" dirty="0"/>
          </a:p>
          <a:p>
            <a:pPr indent="0" marL="0">
              <a:buNone/>
            </a:pPr>
            <a:r>
              <a:rPr lang="en-US" sz="2600" dirty="0">
                <a:solidFill>
                  <a:schemeClr val="bg2"/>
                </a:solidFill>
              </a:rPr>
              <a:t>Clear, Personalized Actions.</a:t>
            </a:r>
            <a:endParaRPr lang="en-US" sz="2600" dirty="0"/>
          </a:p>
        </p:txBody>
      </p:sp>
      <p:sp>
        <p:nvSpPr>
          <p:cNvPr id="5" name="Cover credit"/>
          <p:cNvSpPr txBox="1"/>
          <p:nvPr/>
        </p:nvSpPr>
        <p:spPr>
          <a:xfrm>
            <a:off x="731520" y="4526280"/>
            <a:ext cx="6035040" cy="365760"/>
          </a:xfrm>
          <a:prstGeom prst="rect">
            <a:avLst/>
          </a:prstGeom>
          <a:noFill/>
          <a:ln/>
        </p:spPr>
        <p:txBody>
          <a:bodyPr wrap="square" lIns="0" tIns="0" rIns="0" bIns="0" rtlCol="0" anchor="t"/>
          <a:lstStyle/>
          <a:p>
            <a:pPr indent="0" marL="0">
              <a:buNone/>
            </a:pPr>
            <a:r>
              <a:rPr lang="en-US" sz="1800" b="1" dirty="0">
                <a:solidFill>
                  <a:schemeClr val="bg1"/>
                </a:solidFill>
              </a:rPr>
              <a:t>An Individual Project by ALAN BAIJU</a:t>
            </a:r>
            <a:endParaRPr lang="en-US" sz="1800" dirty="0"/>
          </a:p>
        </p:txBody>
      </p:sp>
      <p:sp>
        <p:nvSpPr>
          <p:cNvPr id="6" name="Cover stack"/>
          <p:cNvSpPr txBox="1"/>
          <p:nvPr/>
        </p:nvSpPr>
        <p:spPr>
          <a:xfrm>
            <a:off x="731520" y="5029200"/>
            <a:ext cx="6035040" cy="320040"/>
          </a:xfrm>
          <a:prstGeom prst="rect">
            <a:avLst/>
          </a:prstGeom>
          <a:noFill/>
          <a:ln/>
        </p:spPr>
        <p:txBody>
          <a:bodyPr wrap="square" lIns="0" tIns="0" rIns="0" bIns="0" rtlCol="0" anchor="t"/>
          <a:lstStyle/>
          <a:p>
            <a:pPr indent="0" marL="0">
              <a:buNone/>
            </a:pPr>
            <a:r>
              <a:rPr lang="en-US" sz="1400" dirty="0">
                <a:solidFill>
                  <a:schemeClr val="accent2"/>
                </a:solidFill>
              </a:rPr>
              <a:t>Working prototype  |  Python  |  Streamlit  |  Groq API</a:t>
            </a:r>
            <a:endParaRPr lang="en-US" sz="1400" dirty="0"/>
          </a:p>
        </p:txBody>
      </p:sp>
      <p:sp>
        <p:nvSpPr>
          <p:cNvPr id="7" name="Cover page"/>
          <p:cNvSpPr/>
          <p:nvPr/>
        </p:nvSpPr>
        <p:spPr>
          <a:xfrm>
            <a:off x="7223760" y="1600200"/>
            <a:ext cx="1828800" cy="3383280"/>
          </a:xfrm>
          <a:prstGeom prst="roundRect">
            <a:avLst>
              <a:gd name="adj" fmla="val 5000"/>
            </a:avLst>
          </a:prstGeom>
          <a:solidFill>
            <a:schemeClr val="bg1">
              <a:alpha val="10000"/>
            </a:schemeClr>
          </a:solidFill>
          <a:ln w="12700">
            <a:solidFill>
              <a:schemeClr val="bg1">
                <a:alpha val="30000"/>
              </a:schemeClr>
            </a:solidFill>
            <a:prstDash val="solid"/>
          </a:ln>
        </p:spPr>
      </p:sp>
      <p:sp>
        <p:nvSpPr>
          <p:cNvPr id="8" name="Cover page line 1"/>
          <p:cNvSpPr/>
          <p:nvPr/>
        </p:nvSpPr>
        <p:spPr>
          <a:xfrm>
            <a:off x="7406640" y="1828800"/>
            <a:ext cx="1371600" cy="91440"/>
          </a:xfrm>
          <a:prstGeom prst="roundRect">
            <a:avLst>
              <a:gd name="adj" fmla="val 50000"/>
            </a:avLst>
          </a:prstGeom>
          <a:solidFill>
            <a:schemeClr val="bg1">
              <a:alpha val="22000"/>
            </a:schemeClr>
          </a:solidFill>
          <a:ln/>
        </p:spPr>
      </p:sp>
      <p:sp>
        <p:nvSpPr>
          <p:cNvPr id="9" name="Cover page line 2"/>
          <p:cNvSpPr/>
          <p:nvPr/>
        </p:nvSpPr>
        <p:spPr>
          <a:xfrm>
            <a:off x="7406640" y="2043684"/>
            <a:ext cx="1097280" cy="91440"/>
          </a:xfrm>
          <a:prstGeom prst="roundRect">
            <a:avLst>
              <a:gd name="adj" fmla="val 50000"/>
            </a:avLst>
          </a:prstGeom>
          <a:solidFill>
            <a:schemeClr val="bg1">
              <a:alpha val="22000"/>
            </a:schemeClr>
          </a:solidFill>
          <a:ln/>
        </p:spPr>
      </p:sp>
      <p:sp>
        <p:nvSpPr>
          <p:cNvPr id="10" name="Cover page line 3"/>
          <p:cNvSpPr/>
          <p:nvPr/>
        </p:nvSpPr>
        <p:spPr>
          <a:xfrm>
            <a:off x="7406640" y="2258568"/>
            <a:ext cx="1463040" cy="91440"/>
          </a:xfrm>
          <a:prstGeom prst="roundRect">
            <a:avLst>
              <a:gd name="adj" fmla="val 50000"/>
            </a:avLst>
          </a:prstGeom>
          <a:solidFill>
            <a:schemeClr val="bg1">
              <a:alpha val="22000"/>
            </a:schemeClr>
          </a:solidFill>
          <a:ln/>
        </p:spPr>
      </p:sp>
      <p:sp>
        <p:nvSpPr>
          <p:cNvPr id="11" name="Cover page line 4"/>
          <p:cNvSpPr/>
          <p:nvPr/>
        </p:nvSpPr>
        <p:spPr>
          <a:xfrm>
            <a:off x="7406640" y="2473452"/>
            <a:ext cx="822960" cy="91440"/>
          </a:xfrm>
          <a:prstGeom prst="roundRect">
            <a:avLst>
              <a:gd name="adj" fmla="val 50000"/>
            </a:avLst>
          </a:prstGeom>
          <a:solidFill>
            <a:schemeClr val="bg1">
              <a:alpha val="22000"/>
            </a:schemeClr>
          </a:solidFill>
          <a:ln/>
        </p:spPr>
      </p:sp>
      <p:sp>
        <p:nvSpPr>
          <p:cNvPr id="12" name="Cover page line 5"/>
          <p:cNvSpPr/>
          <p:nvPr/>
        </p:nvSpPr>
        <p:spPr>
          <a:xfrm>
            <a:off x="7406640" y="2688336"/>
            <a:ext cx="1371600" cy="91440"/>
          </a:xfrm>
          <a:prstGeom prst="roundRect">
            <a:avLst>
              <a:gd name="adj" fmla="val 50000"/>
            </a:avLst>
          </a:prstGeom>
          <a:solidFill>
            <a:schemeClr val="bg1">
              <a:alpha val="22000"/>
            </a:schemeClr>
          </a:solidFill>
          <a:ln/>
        </p:spPr>
      </p:sp>
      <p:sp>
        <p:nvSpPr>
          <p:cNvPr id="13" name="Cover page line 6"/>
          <p:cNvSpPr/>
          <p:nvPr/>
        </p:nvSpPr>
        <p:spPr>
          <a:xfrm>
            <a:off x="7406640" y="2903220"/>
            <a:ext cx="1188720" cy="91440"/>
          </a:xfrm>
          <a:prstGeom prst="roundRect">
            <a:avLst>
              <a:gd name="adj" fmla="val 50000"/>
            </a:avLst>
          </a:prstGeom>
          <a:solidFill>
            <a:schemeClr val="bg1">
              <a:alpha val="22000"/>
            </a:schemeClr>
          </a:solidFill>
          <a:ln/>
        </p:spPr>
      </p:sp>
      <p:sp>
        <p:nvSpPr>
          <p:cNvPr id="14" name="Cover page line 7"/>
          <p:cNvSpPr/>
          <p:nvPr/>
        </p:nvSpPr>
        <p:spPr>
          <a:xfrm>
            <a:off x="7406640" y="3118104"/>
            <a:ext cx="1463040" cy="91440"/>
          </a:xfrm>
          <a:prstGeom prst="roundRect">
            <a:avLst>
              <a:gd name="adj" fmla="val 50000"/>
            </a:avLst>
          </a:prstGeom>
          <a:solidFill>
            <a:schemeClr val="bg1">
              <a:alpha val="22000"/>
            </a:schemeClr>
          </a:solidFill>
          <a:ln/>
        </p:spPr>
      </p:sp>
      <p:sp>
        <p:nvSpPr>
          <p:cNvPr id="15" name="Cover page line 8"/>
          <p:cNvSpPr/>
          <p:nvPr/>
        </p:nvSpPr>
        <p:spPr>
          <a:xfrm>
            <a:off x="7406640" y="3332988"/>
            <a:ext cx="1005840" cy="91440"/>
          </a:xfrm>
          <a:prstGeom prst="roundRect">
            <a:avLst>
              <a:gd name="adj" fmla="val 50000"/>
            </a:avLst>
          </a:prstGeom>
          <a:solidFill>
            <a:schemeClr val="bg1">
              <a:alpha val="22000"/>
            </a:schemeClr>
          </a:solidFill>
          <a:ln/>
        </p:spPr>
      </p:sp>
      <p:sp>
        <p:nvSpPr>
          <p:cNvPr id="16" name="Cover page line 9"/>
          <p:cNvSpPr/>
          <p:nvPr/>
        </p:nvSpPr>
        <p:spPr>
          <a:xfrm>
            <a:off x="7406640" y="3547872"/>
            <a:ext cx="1371600" cy="91440"/>
          </a:xfrm>
          <a:prstGeom prst="roundRect">
            <a:avLst>
              <a:gd name="adj" fmla="val 50000"/>
            </a:avLst>
          </a:prstGeom>
          <a:solidFill>
            <a:schemeClr val="bg1">
              <a:alpha val="22000"/>
            </a:schemeClr>
          </a:solidFill>
          <a:ln/>
        </p:spPr>
      </p:sp>
      <p:sp>
        <p:nvSpPr>
          <p:cNvPr id="17" name="Cover page line 10"/>
          <p:cNvSpPr/>
          <p:nvPr/>
        </p:nvSpPr>
        <p:spPr>
          <a:xfrm>
            <a:off x="7406640" y="3762756"/>
            <a:ext cx="731520" cy="91440"/>
          </a:xfrm>
          <a:prstGeom prst="roundRect">
            <a:avLst>
              <a:gd name="adj" fmla="val 50000"/>
            </a:avLst>
          </a:prstGeom>
          <a:solidFill>
            <a:schemeClr val="bg1">
              <a:alpha val="22000"/>
            </a:schemeClr>
          </a:solidFill>
          <a:ln/>
        </p:spPr>
      </p:sp>
      <p:sp>
        <p:nvSpPr>
          <p:cNvPr id="18" name="Cover page line 11"/>
          <p:cNvSpPr/>
          <p:nvPr/>
        </p:nvSpPr>
        <p:spPr>
          <a:xfrm>
            <a:off x="7406640" y="3977640"/>
            <a:ext cx="1280160" cy="91440"/>
          </a:xfrm>
          <a:prstGeom prst="roundRect">
            <a:avLst>
              <a:gd name="adj" fmla="val 50000"/>
            </a:avLst>
          </a:prstGeom>
          <a:solidFill>
            <a:schemeClr val="bg1">
              <a:alpha val="22000"/>
            </a:schemeClr>
          </a:solidFill>
          <a:ln/>
        </p:spPr>
      </p:sp>
      <p:sp>
        <p:nvSpPr>
          <p:cNvPr id="19" name="Cover page line 12"/>
          <p:cNvSpPr/>
          <p:nvPr/>
        </p:nvSpPr>
        <p:spPr>
          <a:xfrm>
            <a:off x="7406640" y="4192524"/>
            <a:ext cx="1097280" cy="91440"/>
          </a:xfrm>
          <a:prstGeom prst="roundRect">
            <a:avLst>
              <a:gd name="adj" fmla="val 50000"/>
            </a:avLst>
          </a:prstGeom>
          <a:solidFill>
            <a:schemeClr val="bg1">
              <a:alpha val="22000"/>
            </a:schemeClr>
          </a:solidFill>
          <a:ln/>
        </p:spPr>
      </p:sp>
      <p:sp>
        <p:nvSpPr>
          <p:cNvPr id="20" name="Cover page line 13"/>
          <p:cNvSpPr/>
          <p:nvPr/>
        </p:nvSpPr>
        <p:spPr>
          <a:xfrm>
            <a:off x="7406640" y="4407408"/>
            <a:ext cx="1463040" cy="91440"/>
          </a:xfrm>
          <a:prstGeom prst="roundRect">
            <a:avLst>
              <a:gd name="adj" fmla="val 50000"/>
            </a:avLst>
          </a:prstGeom>
          <a:solidFill>
            <a:schemeClr val="bg1">
              <a:alpha val="22000"/>
            </a:schemeClr>
          </a:solidFill>
          <a:ln/>
        </p:spPr>
      </p:sp>
      <p:sp>
        <p:nvSpPr>
          <p:cNvPr id="21" name="Cover page line 14"/>
          <p:cNvSpPr/>
          <p:nvPr/>
        </p:nvSpPr>
        <p:spPr>
          <a:xfrm>
            <a:off x="7406640" y="4622292"/>
            <a:ext cx="914400" cy="91440"/>
          </a:xfrm>
          <a:prstGeom prst="roundRect">
            <a:avLst>
              <a:gd name="adj" fmla="val 50000"/>
            </a:avLst>
          </a:prstGeom>
          <a:solidFill>
            <a:schemeClr val="bg1">
              <a:alpha val="22000"/>
            </a:schemeClr>
          </a:solidFill>
          <a:ln/>
        </p:spPr>
      </p:sp>
      <p:sp>
        <p:nvSpPr>
          <p:cNvPr id="22" name="Cover page highlight"/>
          <p:cNvSpPr/>
          <p:nvPr/>
        </p:nvSpPr>
        <p:spPr>
          <a:xfrm>
            <a:off x="7406640" y="2926080"/>
            <a:ext cx="1463040" cy="91440"/>
          </a:xfrm>
          <a:prstGeom prst="roundRect">
            <a:avLst>
              <a:gd name="adj" fmla="val 50000"/>
            </a:avLst>
          </a:prstGeom>
          <a:solidFill>
            <a:schemeClr val="accent2"/>
          </a:solidFill>
          <a:ln/>
        </p:spPr>
      </p:sp>
      <p:sp>
        <p:nvSpPr>
          <p:cNvPr id="23" name="Cover arrow"/>
          <p:cNvSpPr/>
          <p:nvPr/>
        </p:nvSpPr>
        <p:spPr>
          <a:xfrm>
            <a:off x="9189720" y="3108960"/>
            <a:ext cx="411480" cy="365760"/>
          </a:xfrm>
          <a:prstGeom prst="rightArrow">
            <a:avLst/>
          </a:prstGeom>
          <a:solidFill>
            <a:schemeClr val="accent2"/>
          </a:solidFill>
          <a:ln/>
        </p:spPr>
      </p:sp>
      <p:sp>
        <p:nvSpPr>
          <p:cNvPr id="24" name="Cover card"/>
          <p:cNvSpPr/>
          <p:nvPr/>
        </p:nvSpPr>
        <p:spPr>
          <a:xfrm>
            <a:off x="9738360" y="1920240"/>
            <a:ext cx="2011680" cy="2743200"/>
          </a:xfrm>
          <a:prstGeom prst="roundRect">
            <a:avLst>
              <a:gd name="adj" fmla="val 6364"/>
            </a:avLst>
          </a:prstGeom>
          <a:solidFill>
            <a:schemeClr val="bg1"/>
          </a:solidFill>
          <a:ln/>
          <a:effectLst>
            <a:outerShdw sx="100000" sy="100000" kx="0" ky="0" algn="bl" rotWithShape="0" blurRad="101600" dist="25400" dir="5400000">
              <a:srgbClr val="000000">
                <a:alpha val="14000"/>
              </a:srgbClr>
            </a:outerShdw>
          </a:effectLst>
        </p:spPr>
      </p:sp>
      <p:sp>
        <p:nvSpPr>
          <p:cNvPr id="25" name="Cover card priority"/>
          <p:cNvSpPr/>
          <p:nvPr/>
        </p:nvSpPr>
        <p:spPr>
          <a:xfrm>
            <a:off x="9921240" y="2103120"/>
            <a:ext cx="731520" cy="274320"/>
          </a:xfrm>
          <a:prstGeom prst="roundRect">
            <a:avLst>
              <a:gd name="adj" fmla="val 50000"/>
            </a:avLst>
          </a:prstGeom>
          <a:solidFill>
            <a:schemeClr val="accent4"/>
          </a:solidFill>
          <a:ln/>
        </p:spPr>
      </p:sp>
      <p:sp>
        <p:nvSpPr>
          <p:cNvPr id="26" name="Cover card priority label"/>
          <p:cNvSpPr txBox="1"/>
          <p:nvPr/>
        </p:nvSpPr>
        <p:spPr>
          <a:xfrm>
            <a:off x="9921240" y="2103120"/>
            <a:ext cx="731520" cy="274320"/>
          </a:xfrm>
          <a:prstGeom prst="rect">
            <a:avLst/>
          </a:prstGeom>
          <a:no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27" name="Cover card title"/>
          <p:cNvSpPr txBox="1"/>
          <p:nvPr/>
        </p:nvSpPr>
        <p:spPr>
          <a:xfrm>
            <a:off x="9921240" y="2514600"/>
            <a:ext cx="1691640" cy="685800"/>
          </a:xfrm>
          <a:prstGeom prst="rect">
            <a:avLst/>
          </a:prstGeom>
          <a:noFill/>
          <a:ln/>
        </p:spPr>
        <p:txBody>
          <a:bodyPr wrap="square" lIns="0" tIns="0" rIns="0" bIns="0" rtlCol="0" anchor="t"/>
          <a:lstStyle/>
          <a:p>
            <a:pPr indent="0" marL="0">
              <a:buNone/>
            </a:pPr>
            <a:r>
              <a:rPr lang="en-US" sz="1400" b="1" dirty="0">
                <a:solidFill>
                  <a:schemeClr val="tx1"/>
                </a:solidFill>
              </a:rPr>
              <a:t>Health &amp; Immunization Clearance</a:t>
            </a:r>
            <a:endParaRPr lang="en-US" sz="1400" dirty="0"/>
          </a:p>
        </p:txBody>
      </p:sp>
      <p:sp>
        <p:nvSpPr>
          <p:cNvPr id="28" name="Cover card action label"/>
          <p:cNvSpPr txBox="1"/>
          <p:nvPr/>
        </p:nvSpPr>
        <p:spPr>
          <a:xfrm>
            <a:off x="9921240" y="3291840"/>
            <a:ext cx="1691640" cy="228600"/>
          </a:xfrm>
          <a:prstGeom prst="rect">
            <a:avLst/>
          </a:prstGeom>
          <a:noFill/>
          <a:ln/>
        </p:spPr>
        <p:txBody>
          <a:bodyPr wrap="square" lIns="0" tIns="0" rIns="0" bIns="0" rtlCol="0" anchor="t"/>
          <a:lstStyle/>
          <a:p>
            <a:pPr indent="0" marL="0">
              <a:buNone/>
            </a:pPr>
            <a:r>
              <a:rPr lang="en-US" sz="1000" b="1" dirty="0">
                <a:solidFill>
                  <a:schemeClr val="accent1"/>
                </a:solidFill>
              </a:rPr>
              <a:t>REQUIRED ACTION</a:t>
            </a:r>
            <a:endParaRPr lang="en-US" sz="1000" dirty="0"/>
          </a:p>
        </p:txBody>
      </p:sp>
      <p:sp>
        <p:nvSpPr>
          <p:cNvPr id="29" name="Cover card action"/>
          <p:cNvSpPr txBox="1"/>
          <p:nvPr/>
        </p:nvSpPr>
        <p:spPr>
          <a:xfrm>
            <a:off x="9921240" y="3547872"/>
            <a:ext cx="1691640" cy="914400"/>
          </a:xfrm>
          <a:prstGeom prst="rect">
            <a:avLst/>
          </a:prstGeom>
          <a:noFill/>
          <a:ln/>
        </p:spPr>
        <p:txBody>
          <a:bodyPr wrap="square" lIns="0" tIns="0" rIns="0" bIns="0" rtlCol="0" anchor="t"/>
          <a:lstStyle/>
          <a:p>
            <a:pPr indent="0" marL="0">
              <a:buNone/>
            </a:pPr>
            <a:r>
              <a:rPr lang="en-US" sz="1200" dirty="0">
                <a:solidFill>
                  <a:schemeClr val="tx1"/>
                </a:solidFill>
              </a:rPr>
              <a:t>Submit the required documents before the deadline.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Notices Arrive From Everywhere</a:t>
            </a:r>
            <a:endParaRPr lang="en-US" sz="3600" dirty="0"/>
          </a:p>
        </p:txBody>
      </p:sp>
      <p:sp>
        <p:nvSpPr>
          <p:cNvPr id="3" name="Channel tile 1"/>
          <p:cNvSpPr/>
          <p:nvPr/>
        </p:nvSpPr>
        <p:spPr>
          <a:xfrm>
            <a:off x="548640" y="1463040"/>
            <a:ext cx="2560320" cy="1554480"/>
          </a:xfrm>
          <a:prstGeom prst="roundRect">
            <a:avLst>
              <a:gd name="adj" fmla="val 8235"/>
            </a:avLst>
          </a:prstGeom>
          <a:solidFill>
            <a:schemeClr val="bg2"/>
          </a:solidFill>
          <a:ln/>
        </p:spPr>
      </p:sp>
      <p:sp>
        <p:nvSpPr>
          <p:cNvPr id="4" name="Channel 1 circle"/>
          <p:cNvSpPr/>
          <p:nvPr/>
        </p:nvSpPr>
        <p:spPr>
          <a:xfrm>
            <a:off x="777240" y="1691640"/>
            <a:ext cx="548640" cy="548640"/>
          </a:xfrm>
          <a:prstGeom prst="ellipse">
            <a:avLst/>
          </a:prstGeom>
          <a:solidFill>
            <a:schemeClr val="accent1"/>
          </a:solidFill>
          <a:ln/>
        </p:spPr>
      </p:sp>
      <p:pic>
        <p:nvPicPr>
          <p:cNvPr id="5" name="Channel 1 icon" descr="Channel 1">    </p:cNvPr>
          <p:cNvPicPr>
            <a:picLocks noChangeAspect="1"/>
          </p:cNvPicPr>
          <p:nvPr/>
        </p:nvPicPr>
        <p:blipFill>
          <a:blip r:embed="rId1"/>
          <a:stretch>
            <a:fillRect/>
          </a:stretch>
        </p:blipFill>
        <p:spPr>
          <a:xfrm>
            <a:off x="925373" y="1839773"/>
            <a:ext cx="252374" cy="252374"/>
          </a:xfrm>
          <a:prstGeom prst="rect">
            <a:avLst/>
          </a:prstGeom>
        </p:spPr>
      </p:pic>
      <p:sp>
        <p:nvSpPr>
          <p:cNvPr id="6" name="Channel label 1"/>
          <p:cNvSpPr txBox="1"/>
          <p:nvPr/>
        </p:nvSpPr>
        <p:spPr>
          <a:xfrm>
            <a:off x="777240" y="2377440"/>
            <a:ext cx="2148840" cy="502920"/>
          </a:xfrm>
          <a:prstGeom prst="rect">
            <a:avLst/>
          </a:prstGeom>
          <a:noFill/>
          <a:ln/>
        </p:spPr>
        <p:txBody>
          <a:bodyPr wrap="square" lIns="0" tIns="0" rIns="0" bIns="0" rtlCol="0" anchor="t"/>
          <a:lstStyle/>
          <a:p>
            <a:pPr indent="0" marL="0">
              <a:buNone/>
            </a:pPr>
            <a:r>
              <a:rPr lang="en-US" sz="1600" b="1" dirty="0">
                <a:solidFill>
                  <a:schemeClr val="tx1"/>
                </a:solidFill>
              </a:rPr>
              <a:t>College portals &amp; websites</a:t>
            </a:r>
            <a:endParaRPr lang="en-US" sz="1600" dirty="0"/>
          </a:p>
        </p:txBody>
      </p:sp>
      <p:sp>
        <p:nvSpPr>
          <p:cNvPr id="7" name="Channel tile 2"/>
          <p:cNvSpPr/>
          <p:nvPr/>
        </p:nvSpPr>
        <p:spPr>
          <a:xfrm>
            <a:off x="3383280" y="1463040"/>
            <a:ext cx="2560320" cy="1554480"/>
          </a:xfrm>
          <a:prstGeom prst="roundRect">
            <a:avLst>
              <a:gd name="adj" fmla="val 8235"/>
            </a:avLst>
          </a:prstGeom>
          <a:solidFill>
            <a:schemeClr val="bg2"/>
          </a:solidFill>
          <a:ln/>
        </p:spPr>
      </p:sp>
      <p:sp>
        <p:nvSpPr>
          <p:cNvPr id="8" name="Channel 2 circle"/>
          <p:cNvSpPr/>
          <p:nvPr/>
        </p:nvSpPr>
        <p:spPr>
          <a:xfrm>
            <a:off x="3611880" y="1691640"/>
            <a:ext cx="548640" cy="548640"/>
          </a:xfrm>
          <a:prstGeom prst="ellipse">
            <a:avLst/>
          </a:prstGeom>
          <a:solidFill>
            <a:schemeClr val="accent1"/>
          </a:solidFill>
          <a:ln/>
        </p:spPr>
      </p:sp>
      <p:pic>
        <p:nvPicPr>
          <p:cNvPr id="9" name="Channel 2 icon" descr="Channel 2">    </p:cNvPr>
          <p:cNvPicPr>
            <a:picLocks noChangeAspect="1"/>
          </p:cNvPicPr>
          <p:nvPr/>
        </p:nvPicPr>
        <p:blipFill>
          <a:blip r:embed="rId2"/>
          <a:stretch>
            <a:fillRect/>
          </a:stretch>
        </p:blipFill>
        <p:spPr>
          <a:xfrm>
            <a:off x="3760013" y="1839773"/>
            <a:ext cx="252374" cy="252374"/>
          </a:xfrm>
          <a:prstGeom prst="rect">
            <a:avLst/>
          </a:prstGeom>
        </p:spPr>
      </p:pic>
      <p:sp>
        <p:nvSpPr>
          <p:cNvPr id="10" name="Channel label 2"/>
          <p:cNvSpPr txBox="1"/>
          <p:nvPr/>
        </p:nvSpPr>
        <p:spPr>
          <a:xfrm>
            <a:off x="3611880" y="2377440"/>
            <a:ext cx="2148840" cy="502920"/>
          </a:xfrm>
          <a:prstGeom prst="rect">
            <a:avLst/>
          </a:prstGeom>
          <a:noFill/>
          <a:ln/>
        </p:spPr>
        <p:txBody>
          <a:bodyPr wrap="square" lIns="0" tIns="0" rIns="0" bIns="0" rtlCol="0" anchor="t"/>
          <a:lstStyle/>
          <a:p>
            <a:pPr indent="0" marL="0">
              <a:buNone/>
            </a:pPr>
            <a:r>
              <a:rPr lang="en-US" sz="1600" b="1" dirty="0">
                <a:solidFill>
                  <a:schemeClr val="tx1"/>
                </a:solidFill>
              </a:rPr>
              <a:t>PDF circulars &amp; official notices</a:t>
            </a:r>
            <a:endParaRPr lang="en-US" sz="1600" dirty="0"/>
          </a:p>
        </p:txBody>
      </p:sp>
      <p:sp>
        <p:nvSpPr>
          <p:cNvPr id="11" name="Channel tile 3"/>
          <p:cNvSpPr/>
          <p:nvPr/>
        </p:nvSpPr>
        <p:spPr>
          <a:xfrm>
            <a:off x="6217920" y="1463040"/>
            <a:ext cx="2560320" cy="1554480"/>
          </a:xfrm>
          <a:prstGeom prst="roundRect">
            <a:avLst>
              <a:gd name="adj" fmla="val 8235"/>
            </a:avLst>
          </a:prstGeom>
          <a:solidFill>
            <a:schemeClr val="bg2"/>
          </a:solidFill>
          <a:ln/>
        </p:spPr>
      </p:sp>
      <p:sp>
        <p:nvSpPr>
          <p:cNvPr id="12" name="Channel 3 circle"/>
          <p:cNvSpPr/>
          <p:nvPr/>
        </p:nvSpPr>
        <p:spPr>
          <a:xfrm>
            <a:off x="6446520" y="1691640"/>
            <a:ext cx="548640" cy="548640"/>
          </a:xfrm>
          <a:prstGeom prst="ellipse">
            <a:avLst/>
          </a:prstGeom>
          <a:solidFill>
            <a:schemeClr val="accent1"/>
          </a:solidFill>
          <a:ln/>
        </p:spPr>
      </p:sp>
      <p:pic>
        <p:nvPicPr>
          <p:cNvPr id="13" name="Channel 3 icon" descr="Channel 3">    </p:cNvPr>
          <p:cNvPicPr>
            <a:picLocks noChangeAspect="1"/>
          </p:cNvPicPr>
          <p:nvPr/>
        </p:nvPicPr>
        <p:blipFill>
          <a:blip r:embed="rId3"/>
          <a:stretch>
            <a:fillRect/>
          </a:stretch>
        </p:blipFill>
        <p:spPr>
          <a:xfrm>
            <a:off x="6594653" y="1839773"/>
            <a:ext cx="252374" cy="252374"/>
          </a:xfrm>
          <a:prstGeom prst="rect">
            <a:avLst/>
          </a:prstGeom>
        </p:spPr>
      </p:pic>
      <p:sp>
        <p:nvSpPr>
          <p:cNvPr id="14" name="Channel label 3"/>
          <p:cNvSpPr txBox="1"/>
          <p:nvPr/>
        </p:nvSpPr>
        <p:spPr>
          <a:xfrm>
            <a:off x="6446520" y="2377440"/>
            <a:ext cx="2148840" cy="502920"/>
          </a:xfrm>
          <a:prstGeom prst="rect">
            <a:avLst/>
          </a:prstGeom>
          <a:noFill/>
          <a:ln/>
        </p:spPr>
        <p:txBody>
          <a:bodyPr wrap="square" lIns="0" tIns="0" rIns="0" bIns="0" rtlCol="0" anchor="t"/>
          <a:lstStyle/>
          <a:p>
            <a:pPr indent="0" marL="0">
              <a:buNone/>
            </a:pPr>
            <a:r>
              <a:rPr lang="en-US" sz="1600" b="1" dirty="0">
                <a:solidFill>
                  <a:schemeClr val="tx1"/>
                </a:solidFill>
              </a:rPr>
              <a:t>WhatsApp &amp; Telegram groups</a:t>
            </a:r>
            <a:endParaRPr lang="en-US" sz="1600" dirty="0"/>
          </a:p>
        </p:txBody>
      </p:sp>
      <p:sp>
        <p:nvSpPr>
          <p:cNvPr id="15" name="Channel tile 4"/>
          <p:cNvSpPr/>
          <p:nvPr/>
        </p:nvSpPr>
        <p:spPr>
          <a:xfrm>
            <a:off x="9052560" y="1463040"/>
            <a:ext cx="2560320" cy="1554480"/>
          </a:xfrm>
          <a:prstGeom prst="roundRect">
            <a:avLst>
              <a:gd name="adj" fmla="val 8235"/>
            </a:avLst>
          </a:prstGeom>
          <a:solidFill>
            <a:schemeClr val="bg2"/>
          </a:solidFill>
          <a:ln/>
        </p:spPr>
      </p:sp>
      <p:sp>
        <p:nvSpPr>
          <p:cNvPr id="16" name="Channel 4 circle"/>
          <p:cNvSpPr/>
          <p:nvPr/>
        </p:nvSpPr>
        <p:spPr>
          <a:xfrm>
            <a:off x="9281160" y="1691640"/>
            <a:ext cx="548640" cy="548640"/>
          </a:xfrm>
          <a:prstGeom prst="ellipse">
            <a:avLst/>
          </a:prstGeom>
          <a:solidFill>
            <a:schemeClr val="accent1"/>
          </a:solidFill>
          <a:ln/>
        </p:spPr>
      </p:sp>
      <p:pic>
        <p:nvPicPr>
          <p:cNvPr id="17" name="Channel 4 icon" descr="Channel 4">    </p:cNvPr>
          <p:cNvPicPr>
            <a:picLocks noChangeAspect="1"/>
          </p:cNvPicPr>
          <p:nvPr/>
        </p:nvPicPr>
        <p:blipFill>
          <a:blip r:embed="rId4"/>
          <a:stretch>
            <a:fillRect/>
          </a:stretch>
        </p:blipFill>
        <p:spPr>
          <a:xfrm>
            <a:off x="9429293" y="1839773"/>
            <a:ext cx="252374" cy="252374"/>
          </a:xfrm>
          <a:prstGeom prst="rect">
            <a:avLst/>
          </a:prstGeom>
        </p:spPr>
      </p:pic>
      <p:sp>
        <p:nvSpPr>
          <p:cNvPr id="18" name="Channel label 4"/>
          <p:cNvSpPr txBox="1"/>
          <p:nvPr/>
        </p:nvSpPr>
        <p:spPr>
          <a:xfrm>
            <a:off x="9281160" y="2377440"/>
            <a:ext cx="2148840" cy="502920"/>
          </a:xfrm>
          <a:prstGeom prst="rect">
            <a:avLst/>
          </a:prstGeom>
          <a:noFill/>
          <a:ln/>
        </p:spPr>
        <p:txBody>
          <a:bodyPr wrap="square" lIns="0" tIns="0" rIns="0" bIns="0" rtlCol="0" anchor="t"/>
          <a:lstStyle/>
          <a:p>
            <a:pPr indent="0" marL="0">
              <a:buNone/>
            </a:pPr>
            <a:r>
              <a:rPr lang="en-US" sz="1600" b="1" dirty="0">
                <a:solidFill>
                  <a:schemeClr val="tx1"/>
                </a:solidFill>
              </a:rPr>
              <a:t>Departmental announcements</a:t>
            </a:r>
            <a:endParaRPr lang="en-US" sz="1600" dirty="0"/>
          </a:p>
        </p:txBody>
      </p:sp>
      <p:sp>
        <p:nvSpPr>
          <p:cNvPr id="19" name="Channels to chain"/>
          <p:cNvSpPr/>
          <p:nvPr/>
        </p:nvSpPr>
        <p:spPr>
          <a:xfrm>
            <a:off x="5852160" y="3246120"/>
            <a:ext cx="502920" cy="457200"/>
          </a:xfrm>
          <a:prstGeom prst="downArrow">
            <a:avLst/>
          </a:prstGeom>
          <a:solidFill>
            <a:schemeClr val="accent1"/>
          </a:solidFill>
          <a:ln/>
        </p:spPr>
      </p:sp>
      <p:sp>
        <p:nvSpPr>
          <p:cNvPr id="20" name="Chain box 1"/>
          <p:cNvSpPr/>
          <p:nvPr/>
        </p:nvSpPr>
        <p:spPr>
          <a:xfrm>
            <a:off x="548640" y="3931920"/>
            <a:ext cx="3108960" cy="1600200"/>
          </a:xfrm>
          <a:prstGeom prst="roundRect">
            <a:avLst>
              <a:gd name="adj" fmla="val 8000"/>
            </a:avLst>
          </a:prstGeom>
          <a:solidFill>
            <a:schemeClr val="bg2"/>
          </a:solidFill>
          <a:ln/>
        </p:spPr>
      </p:sp>
      <p:sp>
        <p:nvSpPr>
          <p:cNvPr id="21" name="Chain heading 1"/>
          <p:cNvSpPr txBox="1"/>
          <p:nvPr/>
        </p:nvSpPr>
        <p:spPr>
          <a:xfrm>
            <a:off x="777240" y="4114800"/>
            <a:ext cx="2651760" cy="365760"/>
          </a:xfrm>
          <a:prstGeom prst="rect">
            <a:avLst/>
          </a:prstGeom>
          <a:noFill/>
          <a:ln/>
        </p:spPr>
        <p:txBody>
          <a:bodyPr wrap="square" lIns="0" tIns="0" rIns="0" bIns="0" rtlCol="0" anchor="t"/>
          <a:lstStyle/>
          <a:p>
            <a:pPr indent="0" marL="0">
              <a:buNone/>
            </a:pPr>
            <a:r>
              <a:rPr lang="en-US" sz="2000" b="1" dirty="0">
                <a:solidFill>
                  <a:schemeClr val="tx1"/>
                </a:solidFill>
              </a:rPr>
              <a:t>Scattered notices</a:t>
            </a:r>
            <a:endParaRPr lang="en-US" sz="2000" dirty="0"/>
          </a:p>
        </p:txBody>
      </p:sp>
      <p:sp>
        <p:nvSpPr>
          <p:cNvPr id="22" name="Chain text 1"/>
          <p:cNvSpPr txBox="1"/>
          <p:nvPr/>
        </p:nvSpPr>
        <p:spPr>
          <a:xfrm>
            <a:off x="777240" y="4572000"/>
            <a:ext cx="2651760" cy="731520"/>
          </a:xfrm>
          <a:prstGeom prst="rect">
            <a:avLst/>
          </a:prstGeom>
          <a:noFill/>
          <a:ln/>
        </p:spPr>
        <p:txBody>
          <a:bodyPr wrap="square" lIns="0" tIns="0" rIns="0" bIns="0" rtlCol="0" anchor="t"/>
          <a:lstStyle/>
          <a:p>
            <a:pPr indent="0" marL="0">
              <a:buNone/>
            </a:pPr>
            <a:r>
              <a:rPr lang="en-US" sz="1400" dirty="0">
                <a:solidFill>
                  <a:schemeClr val="accent6"/>
                </a:solidFill>
              </a:rPr>
              <a:t>Deadlines and actions hidden across many sources</a:t>
            </a:r>
            <a:endParaRPr lang="en-US" sz="1400" dirty="0"/>
          </a:p>
        </p:txBody>
      </p:sp>
      <p:sp>
        <p:nvSpPr>
          <p:cNvPr id="23" name="Chain arrow 1"/>
          <p:cNvSpPr/>
          <p:nvPr/>
        </p:nvSpPr>
        <p:spPr>
          <a:xfrm>
            <a:off x="3794760" y="4526280"/>
            <a:ext cx="594360" cy="365760"/>
          </a:xfrm>
          <a:prstGeom prst="rightArrow">
            <a:avLst/>
          </a:prstGeom>
          <a:solidFill>
            <a:schemeClr val="accent1"/>
          </a:solidFill>
          <a:ln/>
        </p:spPr>
      </p:sp>
      <p:sp>
        <p:nvSpPr>
          <p:cNvPr id="24" name="Chain box 2"/>
          <p:cNvSpPr/>
          <p:nvPr/>
        </p:nvSpPr>
        <p:spPr>
          <a:xfrm>
            <a:off x="4526280" y="3931920"/>
            <a:ext cx="3108960" cy="1600200"/>
          </a:xfrm>
          <a:prstGeom prst="roundRect">
            <a:avLst>
              <a:gd name="adj" fmla="val 8000"/>
            </a:avLst>
          </a:prstGeom>
          <a:solidFill>
            <a:schemeClr val="bg2"/>
          </a:solidFill>
          <a:ln/>
        </p:spPr>
      </p:sp>
      <p:sp>
        <p:nvSpPr>
          <p:cNvPr id="25" name="Chain heading 2"/>
          <p:cNvSpPr txBox="1"/>
          <p:nvPr/>
        </p:nvSpPr>
        <p:spPr>
          <a:xfrm>
            <a:off x="4754880" y="4114800"/>
            <a:ext cx="2651760" cy="365760"/>
          </a:xfrm>
          <a:prstGeom prst="rect">
            <a:avLst/>
          </a:prstGeom>
          <a:noFill/>
          <a:ln/>
        </p:spPr>
        <p:txBody>
          <a:bodyPr wrap="square" lIns="0" tIns="0" rIns="0" bIns="0" rtlCol="0" anchor="t"/>
          <a:lstStyle/>
          <a:p>
            <a:pPr indent="0" marL="0">
              <a:buNone/>
            </a:pPr>
            <a:r>
              <a:rPr lang="en-US" sz="2000" b="1" dirty="0">
                <a:solidFill>
                  <a:schemeClr val="tx1"/>
                </a:solidFill>
              </a:rPr>
              <a:t>Manual reading</a:t>
            </a:r>
            <a:endParaRPr lang="en-US" sz="2000" dirty="0"/>
          </a:p>
        </p:txBody>
      </p:sp>
      <p:sp>
        <p:nvSpPr>
          <p:cNvPr id="26" name="Chain text 2"/>
          <p:cNvSpPr txBox="1"/>
          <p:nvPr/>
        </p:nvSpPr>
        <p:spPr>
          <a:xfrm>
            <a:off x="4754880" y="4572000"/>
            <a:ext cx="2651760" cy="731520"/>
          </a:xfrm>
          <a:prstGeom prst="rect">
            <a:avLst/>
          </a:prstGeom>
          <a:noFill/>
          <a:ln/>
        </p:spPr>
        <p:txBody>
          <a:bodyPr wrap="square" lIns="0" tIns="0" rIns="0" bIns="0" rtlCol="0" anchor="t"/>
          <a:lstStyle/>
          <a:p>
            <a:pPr indent="0" marL="0">
              <a:buNone/>
            </a:pPr>
            <a:r>
              <a:rPr lang="en-US" sz="1400" dirty="0">
                <a:solidFill>
                  <a:schemeClr val="accent6"/>
                </a:solidFill>
              </a:rPr>
              <a:t>Long notices read line by line to check relevance</a:t>
            </a:r>
            <a:endParaRPr lang="en-US" sz="1400" dirty="0"/>
          </a:p>
        </p:txBody>
      </p:sp>
      <p:sp>
        <p:nvSpPr>
          <p:cNvPr id="27" name="Chain arrow 2"/>
          <p:cNvSpPr/>
          <p:nvPr/>
        </p:nvSpPr>
        <p:spPr>
          <a:xfrm>
            <a:off x="7772400" y="4526280"/>
            <a:ext cx="594360" cy="365760"/>
          </a:xfrm>
          <a:prstGeom prst="rightArrow">
            <a:avLst/>
          </a:prstGeom>
          <a:solidFill>
            <a:schemeClr val="accent1"/>
          </a:solidFill>
          <a:ln/>
        </p:spPr>
      </p:sp>
      <p:sp>
        <p:nvSpPr>
          <p:cNvPr id="28" name="Chain box 3"/>
          <p:cNvSpPr/>
          <p:nvPr/>
        </p:nvSpPr>
        <p:spPr>
          <a:xfrm>
            <a:off x="8503920" y="3931920"/>
            <a:ext cx="3108960" cy="1600200"/>
          </a:xfrm>
          <a:prstGeom prst="roundRect">
            <a:avLst>
              <a:gd name="adj" fmla="val 8000"/>
            </a:avLst>
          </a:prstGeom>
          <a:solidFill>
            <a:schemeClr val="accent4">
              <a:alpha val="15000"/>
            </a:schemeClr>
          </a:solidFill>
          <a:ln w="12700">
            <a:solidFill>
              <a:schemeClr val="accent4"/>
            </a:solidFill>
            <a:prstDash val="solid"/>
          </a:ln>
        </p:spPr>
      </p:sp>
      <p:sp>
        <p:nvSpPr>
          <p:cNvPr id="29" name="Chain heading 3"/>
          <p:cNvSpPr txBox="1"/>
          <p:nvPr/>
        </p:nvSpPr>
        <p:spPr>
          <a:xfrm>
            <a:off x="8732520" y="4114800"/>
            <a:ext cx="2651760" cy="365760"/>
          </a:xfrm>
          <a:prstGeom prst="rect">
            <a:avLst/>
          </a:prstGeom>
          <a:noFill/>
          <a:ln/>
        </p:spPr>
        <p:txBody>
          <a:bodyPr wrap="square" lIns="0" tIns="0" rIns="0" bIns="0" rtlCol="0" anchor="t"/>
          <a:lstStyle/>
          <a:p>
            <a:pPr indent="0" marL="0">
              <a:buNone/>
            </a:pPr>
            <a:r>
              <a:rPr lang="en-US" sz="2000" b="1" dirty="0">
                <a:solidFill>
                  <a:schemeClr val="tx1"/>
                </a:solidFill>
              </a:rPr>
              <a:t>Confusion</a:t>
            </a:r>
            <a:endParaRPr lang="en-US" sz="2000" dirty="0"/>
          </a:p>
        </p:txBody>
      </p:sp>
      <p:sp>
        <p:nvSpPr>
          <p:cNvPr id="30" name="Chain text 3"/>
          <p:cNvSpPr txBox="1"/>
          <p:nvPr/>
        </p:nvSpPr>
        <p:spPr>
          <a:xfrm>
            <a:off x="8732520" y="4572000"/>
            <a:ext cx="2651760" cy="731520"/>
          </a:xfrm>
          <a:prstGeom prst="rect">
            <a:avLst/>
          </a:prstGeom>
          <a:noFill/>
          <a:ln/>
        </p:spPr>
        <p:txBody>
          <a:bodyPr wrap="square" lIns="0" tIns="0" rIns="0" bIns="0" rtlCol="0" anchor="t"/>
          <a:lstStyle/>
          <a:p>
            <a:pPr indent="0" marL="0">
              <a:buNone/>
            </a:pPr>
            <a:r>
              <a:rPr lang="en-US" sz="1400" dirty="0">
                <a:solidFill>
                  <a:schemeClr val="accent6"/>
                </a:solidFill>
              </a:rPr>
              <a:t>Missed action opportunities; hard to tell urgent from general</a:t>
            </a:r>
            <a:endParaRPr lang="en-US" sz="1400" dirty="0"/>
          </a:p>
        </p:txBody>
      </p:sp>
      <p:sp>
        <p:nvSpPr>
          <p:cNvPr id="31" name="Scenario caption"/>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200" i="1" dirty="0">
                <a:solidFill>
                  <a:schemeClr val="accent6"/>
                </a:solidFill>
              </a:rPr>
              <a:t>Illustrative everyday scenario. No statistics are claimed.</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The Gap Between Information and Action</a:t>
            </a:r>
            <a:endParaRPr lang="en-US" sz="3600" dirty="0"/>
          </a:p>
        </p:txBody>
      </p:sp>
      <p:sp>
        <p:nvSpPr>
          <p:cNvPr id="3" name="Problem label"/>
          <p:cNvSpPr txBox="1"/>
          <p:nvPr/>
        </p:nvSpPr>
        <p:spPr>
          <a:xfrm>
            <a:off x="548640" y="1554480"/>
            <a:ext cx="612648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THE CORE PROBLEM</a:t>
            </a:r>
            <a:endParaRPr lang="en-US" sz="1200" dirty="0"/>
          </a:p>
        </p:txBody>
      </p:sp>
      <p:sp>
        <p:nvSpPr>
          <p:cNvPr id="4" name="Problem statement"/>
          <p:cNvSpPr txBox="1"/>
          <p:nvPr/>
        </p:nvSpPr>
        <p:spPr>
          <a:xfrm>
            <a:off x="548640" y="1920240"/>
            <a:ext cx="6126480" cy="2468880"/>
          </a:xfrm>
          <a:prstGeom prst="rect">
            <a:avLst/>
          </a:prstGeom>
          <a:noFill/>
          <a:ln/>
        </p:spPr>
        <p:txBody>
          <a:bodyPr wrap="square" lIns="0" tIns="0" rIns="0" bIns="0" rtlCol="0" anchor="t"/>
          <a:lstStyle/>
          <a:p>
            <a:pPr indent="0" marL="0">
              <a:buNone/>
            </a:pPr>
            <a:r>
              <a:rPr lang="en-US" sz="2800" b="1" dirty="0">
                <a:solidFill>
                  <a:schemeClr val="tx1"/>
                </a:solidFill>
              </a:rPr>
              <a:t>Students receive information, but turning scattered notices into clear, personalized, and actionable tasks requires time and effort.</a:t>
            </a:r>
            <a:endParaRPr lang="en-US" sz="2800" dirty="0"/>
          </a:p>
        </p:txBody>
      </p:sp>
      <p:sp>
        <p:nvSpPr>
          <p:cNvPr id="5" name="Problem support"/>
          <p:cNvSpPr txBox="1"/>
          <p:nvPr/>
        </p:nvSpPr>
        <p:spPr>
          <a:xfrm>
            <a:off x="548640" y="3977640"/>
            <a:ext cx="6126480" cy="1005840"/>
          </a:xfrm>
          <a:prstGeom prst="rect">
            <a:avLst/>
          </a:prstGeom>
          <a:noFill/>
          <a:ln/>
        </p:spPr>
        <p:txBody>
          <a:bodyPr wrap="square" lIns="0" tIns="0" rIns="0" bIns="0" rtlCol="0" anchor="t"/>
          <a:lstStyle/>
          <a:p>
            <a:pPr indent="0" marL="0">
              <a:buNone/>
            </a:pPr>
            <a:r>
              <a:rPr lang="en-US" sz="1800" dirty="0">
                <a:solidFill>
                  <a:schemeClr val="accent6"/>
                </a:solidFill>
              </a:rPr>
              <a:t>The challenge is not merely finding notices. It is converting unstructured information into useful decisions and next steps.</a:t>
            </a:r>
            <a:endParaRPr lang="en-US" sz="1800" dirty="0"/>
          </a:p>
        </p:txBody>
      </p:sp>
      <p:sp>
        <p:nvSpPr>
          <p:cNvPr id="6" name="Needs label"/>
          <p:cNvSpPr txBox="1"/>
          <p:nvPr/>
        </p:nvSpPr>
        <p:spPr>
          <a:xfrm>
            <a:off x="7223760" y="1554480"/>
            <a:ext cx="438912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WHAT A STUDENT NEEDS TO KNOW</a:t>
            </a:r>
            <a:endParaRPr lang="en-US" sz="1200" dirty="0"/>
          </a:p>
        </p:txBody>
      </p:sp>
      <p:sp>
        <p:nvSpPr>
          <p:cNvPr id="7" name="Question card 1"/>
          <p:cNvSpPr/>
          <p:nvPr/>
        </p:nvSpPr>
        <p:spPr>
          <a:xfrm>
            <a:off x="7223760" y="1920240"/>
            <a:ext cx="4389120" cy="1188720"/>
          </a:xfrm>
          <a:prstGeom prst="roundRect">
            <a:avLst>
              <a:gd name="adj" fmla="val 10769"/>
            </a:avLst>
          </a:prstGeom>
          <a:solidFill>
            <a:schemeClr val="bg2"/>
          </a:solidFill>
          <a:ln/>
        </p:spPr>
      </p:sp>
      <p:sp>
        <p:nvSpPr>
          <p:cNvPr id="8" name="Question 1 circle"/>
          <p:cNvSpPr/>
          <p:nvPr/>
        </p:nvSpPr>
        <p:spPr>
          <a:xfrm>
            <a:off x="7452360" y="2194560"/>
            <a:ext cx="640080" cy="640080"/>
          </a:xfrm>
          <a:prstGeom prst="ellipse">
            <a:avLst/>
          </a:prstGeom>
          <a:solidFill>
            <a:schemeClr val="accent1"/>
          </a:solidFill>
          <a:ln/>
        </p:spPr>
      </p:sp>
      <p:pic>
        <p:nvPicPr>
          <p:cNvPr id="9" name="Question 1 icon" descr="Question 1">    </p:cNvPr>
          <p:cNvPicPr>
            <a:picLocks noChangeAspect="1"/>
          </p:cNvPicPr>
          <p:nvPr/>
        </p:nvPicPr>
        <p:blipFill>
          <a:blip r:embed="rId1"/>
          <a:stretch>
            <a:fillRect/>
          </a:stretch>
        </p:blipFill>
        <p:spPr>
          <a:xfrm>
            <a:off x="7625182" y="2367382"/>
            <a:ext cx="294437" cy="294437"/>
          </a:xfrm>
          <a:prstGeom prst="rect">
            <a:avLst/>
          </a:prstGeom>
        </p:spPr>
      </p:pic>
      <p:sp>
        <p:nvSpPr>
          <p:cNvPr id="10" name="Question text 1"/>
          <p:cNvSpPr txBox="1"/>
          <p:nvPr/>
        </p:nvSpPr>
        <p:spPr>
          <a:xfrm>
            <a:off x="8321040" y="2176272"/>
            <a:ext cx="3108960" cy="365760"/>
          </a:xfrm>
          <a:prstGeom prst="rect">
            <a:avLst/>
          </a:prstGeom>
          <a:noFill/>
          <a:ln/>
        </p:spPr>
        <p:txBody>
          <a:bodyPr wrap="square" lIns="0" tIns="0" rIns="0" bIns="0" rtlCol="0" anchor="t"/>
          <a:lstStyle/>
          <a:p>
            <a:pPr indent="0" marL="0">
              <a:buNone/>
            </a:pPr>
            <a:r>
              <a:rPr lang="en-US" sz="2000" b="1" dirty="0">
                <a:solidFill>
                  <a:schemeClr val="tx1"/>
                </a:solidFill>
              </a:rPr>
              <a:t>Does this apply to me?</a:t>
            </a:r>
            <a:endParaRPr lang="en-US" sz="2000" dirty="0"/>
          </a:p>
        </p:txBody>
      </p:sp>
      <p:sp>
        <p:nvSpPr>
          <p:cNvPr id="11" name="Question sub 1"/>
          <p:cNvSpPr txBox="1"/>
          <p:nvPr/>
        </p:nvSpPr>
        <p:spPr>
          <a:xfrm>
            <a:off x="8321040" y="2578608"/>
            <a:ext cx="3108960" cy="320040"/>
          </a:xfrm>
          <a:prstGeom prst="rect">
            <a:avLst/>
          </a:prstGeom>
          <a:noFill/>
          <a:ln/>
        </p:spPr>
        <p:txBody>
          <a:bodyPr wrap="square" lIns="0" tIns="0" rIns="0" bIns="0" rtlCol="0" anchor="t"/>
          <a:lstStyle/>
          <a:p>
            <a:pPr indent="0" marL="0">
              <a:buNone/>
            </a:pPr>
            <a:r>
              <a:rPr lang="en-US" sz="1400" dirty="0">
                <a:solidFill>
                  <a:schemeClr val="accent6"/>
                </a:solidFill>
              </a:rPr>
              <a:t>Relevance to my profile</a:t>
            </a:r>
            <a:endParaRPr lang="en-US" sz="1400" dirty="0"/>
          </a:p>
        </p:txBody>
      </p:sp>
      <p:sp>
        <p:nvSpPr>
          <p:cNvPr id="12" name="Question card 2"/>
          <p:cNvSpPr/>
          <p:nvPr/>
        </p:nvSpPr>
        <p:spPr>
          <a:xfrm>
            <a:off x="7223760" y="3291840"/>
            <a:ext cx="4389120" cy="1188720"/>
          </a:xfrm>
          <a:prstGeom prst="roundRect">
            <a:avLst>
              <a:gd name="adj" fmla="val 10769"/>
            </a:avLst>
          </a:prstGeom>
          <a:solidFill>
            <a:schemeClr val="bg2"/>
          </a:solidFill>
          <a:ln/>
        </p:spPr>
      </p:sp>
      <p:sp>
        <p:nvSpPr>
          <p:cNvPr id="13" name="Question 2 circle"/>
          <p:cNvSpPr/>
          <p:nvPr/>
        </p:nvSpPr>
        <p:spPr>
          <a:xfrm>
            <a:off x="7452360" y="3566160"/>
            <a:ext cx="640080" cy="640080"/>
          </a:xfrm>
          <a:prstGeom prst="ellipse">
            <a:avLst/>
          </a:prstGeom>
          <a:solidFill>
            <a:schemeClr val="accent1"/>
          </a:solidFill>
          <a:ln/>
        </p:spPr>
      </p:sp>
      <p:pic>
        <p:nvPicPr>
          <p:cNvPr id="14" name="Question 2 icon" descr="Question 2">    </p:cNvPr>
          <p:cNvPicPr>
            <a:picLocks noChangeAspect="1"/>
          </p:cNvPicPr>
          <p:nvPr/>
        </p:nvPicPr>
        <p:blipFill>
          <a:blip r:embed="rId2"/>
          <a:stretch>
            <a:fillRect/>
          </a:stretch>
        </p:blipFill>
        <p:spPr>
          <a:xfrm>
            <a:off x="7625182" y="3738982"/>
            <a:ext cx="294437" cy="294437"/>
          </a:xfrm>
          <a:prstGeom prst="rect">
            <a:avLst/>
          </a:prstGeom>
        </p:spPr>
      </p:pic>
      <p:sp>
        <p:nvSpPr>
          <p:cNvPr id="15" name="Question text 2"/>
          <p:cNvSpPr txBox="1"/>
          <p:nvPr/>
        </p:nvSpPr>
        <p:spPr>
          <a:xfrm>
            <a:off x="8321040" y="3547872"/>
            <a:ext cx="3108960" cy="365760"/>
          </a:xfrm>
          <a:prstGeom prst="rect">
            <a:avLst/>
          </a:prstGeom>
          <a:noFill/>
          <a:ln/>
        </p:spPr>
        <p:txBody>
          <a:bodyPr wrap="square" lIns="0" tIns="0" rIns="0" bIns="0" rtlCol="0" anchor="t"/>
          <a:lstStyle/>
          <a:p>
            <a:pPr indent="0" marL="0">
              <a:buNone/>
            </a:pPr>
            <a:r>
              <a:rPr lang="en-US" sz="2000" b="1" dirty="0">
                <a:solidFill>
                  <a:schemeClr val="tx1"/>
                </a:solidFill>
              </a:rPr>
              <a:t>What must I do?</a:t>
            </a:r>
            <a:endParaRPr lang="en-US" sz="2000" dirty="0"/>
          </a:p>
        </p:txBody>
      </p:sp>
      <p:sp>
        <p:nvSpPr>
          <p:cNvPr id="16" name="Question sub 2"/>
          <p:cNvSpPr txBox="1"/>
          <p:nvPr/>
        </p:nvSpPr>
        <p:spPr>
          <a:xfrm>
            <a:off x="8321040" y="3950208"/>
            <a:ext cx="3108960" cy="320040"/>
          </a:xfrm>
          <a:prstGeom prst="rect">
            <a:avLst/>
          </a:prstGeom>
          <a:noFill/>
          <a:ln/>
        </p:spPr>
        <p:txBody>
          <a:bodyPr wrap="square" lIns="0" tIns="0" rIns="0" bIns="0" rtlCol="0" anchor="t"/>
          <a:lstStyle/>
          <a:p>
            <a:pPr indent="0" marL="0">
              <a:buNone/>
            </a:pPr>
            <a:r>
              <a:rPr lang="en-US" sz="1400" dirty="0">
                <a:solidFill>
                  <a:schemeClr val="accent6"/>
                </a:solidFill>
              </a:rPr>
              <a:t>Required documents and steps</a:t>
            </a:r>
            <a:endParaRPr lang="en-US" sz="1400" dirty="0"/>
          </a:p>
        </p:txBody>
      </p:sp>
      <p:sp>
        <p:nvSpPr>
          <p:cNvPr id="17" name="Question card 3"/>
          <p:cNvSpPr/>
          <p:nvPr/>
        </p:nvSpPr>
        <p:spPr>
          <a:xfrm>
            <a:off x="7223760" y="4663440"/>
            <a:ext cx="4389120" cy="1188720"/>
          </a:xfrm>
          <a:prstGeom prst="roundRect">
            <a:avLst>
              <a:gd name="adj" fmla="val 10769"/>
            </a:avLst>
          </a:prstGeom>
          <a:solidFill>
            <a:schemeClr val="bg2"/>
          </a:solidFill>
          <a:ln/>
        </p:spPr>
      </p:sp>
      <p:sp>
        <p:nvSpPr>
          <p:cNvPr id="18" name="Question 3 circle"/>
          <p:cNvSpPr/>
          <p:nvPr/>
        </p:nvSpPr>
        <p:spPr>
          <a:xfrm>
            <a:off x="7452360" y="4937760"/>
            <a:ext cx="640080" cy="640080"/>
          </a:xfrm>
          <a:prstGeom prst="ellipse">
            <a:avLst/>
          </a:prstGeom>
          <a:solidFill>
            <a:schemeClr val="accent1"/>
          </a:solidFill>
          <a:ln/>
        </p:spPr>
      </p:sp>
      <p:pic>
        <p:nvPicPr>
          <p:cNvPr id="19" name="Question 3 icon" descr="Question 3">    </p:cNvPr>
          <p:cNvPicPr>
            <a:picLocks noChangeAspect="1"/>
          </p:cNvPicPr>
          <p:nvPr/>
        </p:nvPicPr>
        <p:blipFill>
          <a:blip r:embed="rId3"/>
          <a:stretch>
            <a:fillRect/>
          </a:stretch>
        </p:blipFill>
        <p:spPr>
          <a:xfrm>
            <a:off x="7625182" y="5110582"/>
            <a:ext cx="294437" cy="294437"/>
          </a:xfrm>
          <a:prstGeom prst="rect">
            <a:avLst/>
          </a:prstGeom>
        </p:spPr>
      </p:pic>
      <p:sp>
        <p:nvSpPr>
          <p:cNvPr id="20" name="Question text 3"/>
          <p:cNvSpPr txBox="1"/>
          <p:nvPr/>
        </p:nvSpPr>
        <p:spPr>
          <a:xfrm>
            <a:off x="8321040" y="4919472"/>
            <a:ext cx="3108960" cy="365760"/>
          </a:xfrm>
          <a:prstGeom prst="rect">
            <a:avLst/>
          </a:prstGeom>
          <a:noFill/>
          <a:ln/>
        </p:spPr>
        <p:txBody>
          <a:bodyPr wrap="square" lIns="0" tIns="0" rIns="0" bIns="0" rtlCol="0" anchor="t"/>
          <a:lstStyle/>
          <a:p>
            <a:pPr indent="0" marL="0">
              <a:buNone/>
            </a:pPr>
            <a:r>
              <a:rPr lang="en-US" sz="2000" b="1" dirty="0">
                <a:solidFill>
                  <a:schemeClr val="tx1"/>
                </a:solidFill>
              </a:rPr>
              <a:t>By when?</a:t>
            </a:r>
            <a:endParaRPr lang="en-US" sz="2000" dirty="0"/>
          </a:p>
        </p:txBody>
      </p:sp>
      <p:sp>
        <p:nvSpPr>
          <p:cNvPr id="21" name="Question sub 3"/>
          <p:cNvSpPr txBox="1"/>
          <p:nvPr/>
        </p:nvSpPr>
        <p:spPr>
          <a:xfrm>
            <a:off x="8321040" y="5321808"/>
            <a:ext cx="3108960" cy="320040"/>
          </a:xfrm>
          <a:prstGeom prst="rect">
            <a:avLst/>
          </a:prstGeom>
          <a:noFill/>
          <a:ln/>
        </p:spPr>
        <p:txBody>
          <a:bodyPr wrap="square" lIns="0" tIns="0" rIns="0" bIns="0" rtlCol="0" anchor="t"/>
          <a:lstStyle/>
          <a:p>
            <a:pPr indent="0" marL="0">
              <a:buNone/>
            </a:pPr>
            <a:r>
              <a:rPr lang="en-US" sz="1400" dirty="0">
                <a:solidFill>
                  <a:schemeClr val="accent6"/>
                </a:solidFill>
              </a:rPr>
              <a:t>Deadlines and priority</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Why Manual Methods Fall Short</a:t>
            </a:r>
            <a:endParaRPr lang="en-US" sz="3600" dirty="0"/>
          </a:p>
        </p:txBody>
      </p:sp>
      <p:sp>
        <p:nvSpPr>
          <p:cNvPr id="3" name="Manual card 1"/>
          <p:cNvSpPr/>
          <p:nvPr/>
        </p:nvSpPr>
        <p:spPr>
          <a:xfrm>
            <a:off x="548640" y="1508760"/>
            <a:ext cx="2606040" cy="3383280"/>
          </a:xfrm>
          <a:prstGeom prst="roundRect">
            <a:avLst>
              <a:gd name="adj" fmla="val 4912"/>
            </a:avLst>
          </a:prstGeom>
          <a:solidFill>
            <a:schemeClr val="bg2"/>
          </a:solidFill>
          <a:ln/>
        </p:spPr>
      </p:sp>
      <p:sp>
        <p:nvSpPr>
          <p:cNvPr id="4" name="Manual 1 circle"/>
          <p:cNvSpPr/>
          <p:nvPr/>
        </p:nvSpPr>
        <p:spPr>
          <a:xfrm>
            <a:off x="822960" y="1783080"/>
            <a:ext cx="777240" cy="777240"/>
          </a:xfrm>
          <a:prstGeom prst="ellipse">
            <a:avLst/>
          </a:prstGeom>
          <a:solidFill>
            <a:schemeClr val="accent1"/>
          </a:solidFill>
          <a:ln/>
        </p:spPr>
      </p:sp>
      <p:pic>
        <p:nvPicPr>
          <p:cNvPr id="5" name="Manual 1 icon" descr="Manual 1">    </p:cNvPr>
          <p:cNvPicPr>
            <a:picLocks noChangeAspect="1"/>
          </p:cNvPicPr>
          <p:nvPr/>
        </p:nvPicPr>
        <p:blipFill>
          <a:blip r:embed="rId1"/>
          <a:stretch>
            <a:fillRect/>
          </a:stretch>
        </p:blipFill>
        <p:spPr>
          <a:xfrm>
            <a:off x="1032815" y="1992935"/>
            <a:ext cx="357530" cy="357530"/>
          </a:xfrm>
          <a:prstGeom prst="rect">
            <a:avLst/>
          </a:prstGeom>
        </p:spPr>
      </p:pic>
      <p:sp>
        <p:nvSpPr>
          <p:cNvPr id="6" name="Manual heading 1"/>
          <p:cNvSpPr txBox="1"/>
          <p:nvPr/>
        </p:nvSpPr>
        <p:spPr>
          <a:xfrm>
            <a:off x="822960" y="2788920"/>
            <a:ext cx="2148840" cy="411480"/>
          </a:xfrm>
          <a:prstGeom prst="rect">
            <a:avLst/>
          </a:prstGeom>
          <a:noFill/>
          <a:ln/>
        </p:spPr>
        <p:txBody>
          <a:bodyPr wrap="square" lIns="0" tIns="0" rIns="0" bIns="0" rtlCol="0" anchor="t"/>
          <a:lstStyle/>
          <a:p>
            <a:pPr indent="0" marL="0">
              <a:buNone/>
            </a:pPr>
            <a:r>
              <a:rPr lang="en-US" sz="2000" b="1" dirty="0">
                <a:solidFill>
                  <a:schemeClr val="tx1"/>
                </a:solidFill>
              </a:rPr>
              <a:t>Read long PDFs</a:t>
            </a:r>
            <a:endParaRPr lang="en-US" sz="2000" dirty="0"/>
          </a:p>
        </p:txBody>
      </p:sp>
      <p:sp>
        <p:nvSpPr>
          <p:cNvPr id="7" name="Manual text 1"/>
          <p:cNvSpPr txBox="1"/>
          <p:nvPr/>
        </p:nvSpPr>
        <p:spPr>
          <a:xfrm>
            <a:off x="822960" y="3337560"/>
            <a:ext cx="2103120" cy="1371600"/>
          </a:xfrm>
          <a:prstGeom prst="rect">
            <a:avLst/>
          </a:prstGeom>
          <a:noFill/>
          <a:ln/>
        </p:spPr>
        <p:txBody>
          <a:bodyPr wrap="square" lIns="0" tIns="0" rIns="0" bIns="0" rtlCol="0" anchor="t"/>
          <a:lstStyle/>
          <a:p>
            <a:pPr indent="0" marL="0">
              <a:buNone/>
            </a:pPr>
            <a:r>
              <a:rPr lang="en-US" sz="1600" dirty="0">
                <a:solidFill>
                  <a:schemeClr val="accent6"/>
                </a:solidFill>
              </a:rPr>
              <a:t>Lengthy circulars must be read in full to find the key point.</a:t>
            </a:r>
            <a:endParaRPr lang="en-US" sz="1600" dirty="0"/>
          </a:p>
        </p:txBody>
      </p:sp>
      <p:sp>
        <p:nvSpPr>
          <p:cNvPr id="8" name="Manual card 2"/>
          <p:cNvSpPr/>
          <p:nvPr/>
        </p:nvSpPr>
        <p:spPr>
          <a:xfrm>
            <a:off x="3364992" y="1508760"/>
            <a:ext cx="2606040" cy="3383280"/>
          </a:xfrm>
          <a:prstGeom prst="roundRect">
            <a:avLst>
              <a:gd name="adj" fmla="val 4912"/>
            </a:avLst>
          </a:prstGeom>
          <a:solidFill>
            <a:schemeClr val="bg2"/>
          </a:solidFill>
          <a:ln/>
        </p:spPr>
      </p:sp>
      <p:sp>
        <p:nvSpPr>
          <p:cNvPr id="9" name="Manual 2 circle"/>
          <p:cNvSpPr/>
          <p:nvPr/>
        </p:nvSpPr>
        <p:spPr>
          <a:xfrm>
            <a:off x="3639312" y="1783080"/>
            <a:ext cx="777240" cy="777240"/>
          </a:xfrm>
          <a:prstGeom prst="ellipse">
            <a:avLst/>
          </a:prstGeom>
          <a:solidFill>
            <a:schemeClr val="accent1"/>
          </a:solidFill>
          <a:ln/>
        </p:spPr>
      </p:sp>
      <p:pic>
        <p:nvPicPr>
          <p:cNvPr id="10" name="Manual 2 icon" descr="Manual 2">    </p:cNvPr>
          <p:cNvPicPr>
            <a:picLocks noChangeAspect="1"/>
          </p:cNvPicPr>
          <p:nvPr/>
        </p:nvPicPr>
        <p:blipFill>
          <a:blip r:embed="rId2"/>
          <a:stretch>
            <a:fillRect/>
          </a:stretch>
        </p:blipFill>
        <p:spPr>
          <a:xfrm>
            <a:off x="3849167" y="1992935"/>
            <a:ext cx="357530" cy="357530"/>
          </a:xfrm>
          <a:prstGeom prst="rect">
            <a:avLst/>
          </a:prstGeom>
        </p:spPr>
      </p:pic>
      <p:sp>
        <p:nvSpPr>
          <p:cNvPr id="11" name="Manual heading 2"/>
          <p:cNvSpPr txBox="1"/>
          <p:nvPr/>
        </p:nvSpPr>
        <p:spPr>
          <a:xfrm>
            <a:off x="3639312" y="2788920"/>
            <a:ext cx="2148840" cy="411480"/>
          </a:xfrm>
          <a:prstGeom prst="rect">
            <a:avLst/>
          </a:prstGeom>
          <a:noFill/>
          <a:ln/>
        </p:spPr>
        <p:txBody>
          <a:bodyPr wrap="square" lIns="0" tIns="0" rIns="0" bIns="0" rtlCol="0" anchor="t"/>
          <a:lstStyle/>
          <a:p>
            <a:pPr indent="0" marL="0">
              <a:buNone/>
            </a:pPr>
            <a:r>
              <a:rPr lang="en-US" sz="2000" b="1" dirty="0">
                <a:solidFill>
                  <a:schemeClr val="tx1"/>
                </a:solidFill>
              </a:rPr>
              <a:t>Find what's relevant</a:t>
            </a:r>
            <a:endParaRPr lang="en-US" sz="2000" dirty="0"/>
          </a:p>
        </p:txBody>
      </p:sp>
      <p:sp>
        <p:nvSpPr>
          <p:cNvPr id="12" name="Manual text 2"/>
          <p:cNvSpPr txBox="1"/>
          <p:nvPr/>
        </p:nvSpPr>
        <p:spPr>
          <a:xfrm>
            <a:off x="3639312" y="3337560"/>
            <a:ext cx="2103120" cy="1371600"/>
          </a:xfrm>
          <a:prstGeom prst="rect">
            <a:avLst/>
          </a:prstGeom>
          <a:noFill/>
          <a:ln/>
        </p:spPr>
        <p:txBody>
          <a:bodyPr wrap="square" lIns="0" tIns="0" rIns="0" bIns="0" rtlCol="0" anchor="t"/>
          <a:lstStyle/>
          <a:p>
            <a:pPr indent="0" marL="0">
              <a:buNone/>
            </a:pPr>
            <a:r>
              <a:rPr lang="en-US" sz="1600" dirty="0">
                <a:solidFill>
                  <a:schemeClr val="accent6"/>
                </a:solidFill>
              </a:rPr>
              <a:t>Each notice has to be checked against your own situation.</a:t>
            </a:r>
            <a:endParaRPr lang="en-US" sz="1600" dirty="0"/>
          </a:p>
        </p:txBody>
      </p:sp>
      <p:sp>
        <p:nvSpPr>
          <p:cNvPr id="13" name="Manual card 3"/>
          <p:cNvSpPr/>
          <p:nvPr/>
        </p:nvSpPr>
        <p:spPr>
          <a:xfrm>
            <a:off x="6181344" y="1508760"/>
            <a:ext cx="2606040" cy="3383280"/>
          </a:xfrm>
          <a:prstGeom prst="roundRect">
            <a:avLst>
              <a:gd name="adj" fmla="val 4912"/>
            </a:avLst>
          </a:prstGeom>
          <a:solidFill>
            <a:schemeClr val="bg2"/>
          </a:solidFill>
          <a:ln/>
        </p:spPr>
      </p:sp>
      <p:sp>
        <p:nvSpPr>
          <p:cNvPr id="14" name="Manual 3 circle"/>
          <p:cNvSpPr/>
          <p:nvPr/>
        </p:nvSpPr>
        <p:spPr>
          <a:xfrm>
            <a:off x="6455664" y="1783080"/>
            <a:ext cx="777240" cy="777240"/>
          </a:xfrm>
          <a:prstGeom prst="ellipse">
            <a:avLst/>
          </a:prstGeom>
          <a:solidFill>
            <a:schemeClr val="accent1"/>
          </a:solidFill>
          <a:ln/>
        </p:spPr>
      </p:sp>
      <p:pic>
        <p:nvPicPr>
          <p:cNvPr id="15" name="Manual 3 icon" descr="Manual 3">    </p:cNvPr>
          <p:cNvPicPr>
            <a:picLocks noChangeAspect="1"/>
          </p:cNvPicPr>
          <p:nvPr/>
        </p:nvPicPr>
        <p:blipFill>
          <a:blip r:embed="rId3"/>
          <a:stretch>
            <a:fillRect/>
          </a:stretch>
        </p:blipFill>
        <p:spPr>
          <a:xfrm>
            <a:off x="6665519" y="1992935"/>
            <a:ext cx="357530" cy="357530"/>
          </a:xfrm>
          <a:prstGeom prst="rect">
            <a:avLst/>
          </a:prstGeom>
        </p:spPr>
      </p:pic>
      <p:sp>
        <p:nvSpPr>
          <p:cNvPr id="16" name="Manual heading 3"/>
          <p:cNvSpPr txBox="1"/>
          <p:nvPr/>
        </p:nvSpPr>
        <p:spPr>
          <a:xfrm>
            <a:off x="6455664" y="2788920"/>
            <a:ext cx="2148840" cy="411480"/>
          </a:xfrm>
          <a:prstGeom prst="rect">
            <a:avLst/>
          </a:prstGeom>
          <a:noFill/>
          <a:ln/>
        </p:spPr>
        <p:txBody>
          <a:bodyPr wrap="square" lIns="0" tIns="0" rIns="0" bIns="0" rtlCol="0" anchor="t"/>
          <a:lstStyle/>
          <a:p>
            <a:pPr indent="0" marL="0">
              <a:buNone/>
            </a:pPr>
            <a:r>
              <a:rPr lang="en-US" sz="2000" b="1" dirty="0">
                <a:solidFill>
                  <a:schemeClr val="tx1"/>
                </a:solidFill>
              </a:rPr>
              <a:t>Track deadlines</a:t>
            </a:r>
            <a:endParaRPr lang="en-US" sz="2000" dirty="0"/>
          </a:p>
        </p:txBody>
      </p:sp>
      <p:sp>
        <p:nvSpPr>
          <p:cNvPr id="17" name="Manual text 3"/>
          <p:cNvSpPr txBox="1"/>
          <p:nvPr/>
        </p:nvSpPr>
        <p:spPr>
          <a:xfrm>
            <a:off x="6455664" y="3337560"/>
            <a:ext cx="2103120" cy="1371600"/>
          </a:xfrm>
          <a:prstGeom prst="rect">
            <a:avLst/>
          </a:prstGeom>
          <a:noFill/>
          <a:ln/>
        </p:spPr>
        <p:txBody>
          <a:bodyPr wrap="square" lIns="0" tIns="0" rIns="0" bIns="0" rtlCol="0" anchor="t"/>
          <a:lstStyle/>
          <a:p>
            <a:pPr indent="0" marL="0">
              <a:buNone/>
            </a:pPr>
            <a:r>
              <a:rPr lang="en-US" sz="1600" dirty="0">
                <a:solidFill>
                  <a:schemeClr val="accent6"/>
                </a:solidFill>
              </a:rPr>
              <a:t>Dates sit inside paragraphs and are easy to overlook.</a:t>
            </a:r>
            <a:endParaRPr lang="en-US" sz="1600" dirty="0"/>
          </a:p>
        </p:txBody>
      </p:sp>
      <p:sp>
        <p:nvSpPr>
          <p:cNvPr id="18" name="Manual card 4"/>
          <p:cNvSpPr/>
          <p:nvPr/>
        </p:nvSpPr>
        <p:spPr>
          <a:xfrm>
            <a:off x="8997696" y="1508760"/>
            <a:ext cx="2606040" cy="3383280"/>
          </a:xfrm>
          <a:prstGeom prst="roundRect">
            <a:avLst>
              <a:gd name="adj" fmla="val 4912"/>
            </a:avLst>
          </a:prstGeom>
          <a:solidFill>
            <a:schemeClr val="bg2"/>
          </a:solidFill>
          <a:ln/>
        </p:spPr>
      </p:sp>
      <p:sp>
        <p:nvSpPr>
          <p:cNvPr id="19" name="Manual 4 circle"/>
          <p:cNvSpPr/>
          <p:nvPr/>
        </p:nvSpPr>
        <p:spPr>
          <a:xfrm>
            <a:off x="9272016" y="1783080"/>
            <a:ext cx="777240" cy="777240"/>
          </a:xfrm>
          <a:prstGeom prst="ellipse">
            <a:avLst/>
          </a:prstGeom>
          <a:solidFill>
            <a:schemeClr val="accent1"/>
          </a:solidFill>
          <a:ln/>
        </p:spPr>
      </p:sp>
      <p:pic>
        <p:nvPicPr>
          <p:cNvPr id="20" name="Manual 4 icon" descr="Manual 4">    </p:cNvPr>
          <p:cNvPicPr>
            <a:picLocks noChangeAspect="1"/>
          </p:cNvPicPr>
          <p:nvPr/>
        </p:nvPicPr>
        <p:blipFill>
          <a:blip r:embed="rId4"/>
          <a:stretch>
            <a:fillRect/>
          </a:stretch>
        </p:blipFill>
        <p:spPr>
          <a:xfrm>
            <a:off x="9481871" y="1992935"/>
            <a:ext cx="357530" cy="357530"/>
          </a:xfrm>
          <a:prstGeom prst="rect">
            <a:avLst/>
          </a:prstGeom>
        </p:spPr>
      </p:pic>
      <p:sp>
        <p:nvSpPr>
          <p:cNvPr id="21" name="Manual heading 4"/>
          <p:cNvSpPr txBox="1"/>
          <p:nvPr/>
        </p:nvSpPr>
        <p:spPr>
          <a:xfrm>
            <a:off x="9272016" y="2788920"/>
            <a:ext cx="2148840" cy="411480"/>
          </a:xfrm>
          <a:prstGeom prst="rect">
            <a:avLst/>
          </a:prstGeom>
          <a:noFill/>
          <a:ln/>
        </p:spPr>
        <p:txBody>
          <a:bodyPr wrap="square" lIns="0" tIns="0" rIns="0" bIns="0" rtlCol="0" anchor="t"/>
          <a:lstStyle/>
          <a:p>
            <a:pPr indent="0" marL="0">
              <a:buNone/>
            </a:pPr>
            <a:r>
              <a:rPr lang="en-US" sz="2000" b="1" dirty="0">
                <a:solidFill>
                  <a:schemeClr val="tx1"/>
                </a:solidFill>
              </a:rPr>
              <a:t>Work out actions</a:t>
            </a:r>
            <a:endParaRPr lang="en-US" sz="2000" dirty="0"/>
          </a:p>
        </p:txBody>
      </p:sp>
      <p:sp>
        <p:nvSpPr>
          <p:cNvPr id="22" name="Manual text 4"/>
          <p:cNvSpPr txBox="1"/>
          <p:nvPr/>
        </p:nvSpPr>
        <p:spPr>
          <a:xfrm>
            <a:off x="9272016" y="3337560"/>
            <a:ext cx="2103120" cy="1371600"/>
          </a:xfrm>
          <a:prstGeom prst="rect">
            <a:avLst/>
          </a:prstGeom>
          <a:noFill/>
          <a:ln/>
        </p:spPr>
        <p:txBody>
          <a:bodyPr wrap="square" lIns="0" tIns="0" rIns="0" bIns="0" rtlCol="0" anchor="t"/>
          <a:lstStyle/>
          <a:p>
            <a:pPr indent="0" marL="0">
              <a:buNone/>
            </a:pPr>
            <a:r>
              <a:rPr lang="en-US" sz="1600" dirty="0">
                <a:solidFill>
                  <a:schemeClr val="accent6"/>
                </a:solidFill>
              </a:rPr>
              <a:t>Required documents and next steps must be pieced together.</a:t>
            </a:r>
            <a:endParaRPr lang="en-US" sz="1600" dirty="0"/>
          </a:p>
        </p:txBody>
      </p:sp>
      <p:sp>
        <p:nvSpPr>
          <p:cNvPr id="23" name="Manual banner"/>
          <p:cNvSpPr/>
          <p:nvPr/>
        </p:nvSpPr>
        <p:spPr>
          <a:xfrm>
            <a:off x="548640" y="5257800"/>
            <a:ext cx="11064240" cy="868680"/>
          </a:xfrm>
          <a:prstGeom prst="roundRect">
            <a:avLst>
              <a:gd name="adj" fmla="val 14737"/>
            </a:avLst>
          </a:prstGeom>
          <a:solidFill>
            <a:schemeClr val="tx1"/>
          </a:solidFill>
          <a:ln/>
        </p:spPr>
      </p:sp>
      <p:sp>
        <p:nvSpPr>
          <p:cNvPr id="24" name="Manual banner text"/>
          <p:cNvSpPr txBox="1"/>
          <p:nvPr/>
        </p:nvSpPr>
        <p:spPr>
          <a:xfrm>
            <a:off x="548640" y="5257800"/>
            <a:ext cx="11064240" cy="868680"/>
          </a:xfrm>
          <a:prstGeom prst="rect">
            <a:avLst/>
          </a:prstGeom>
          <a:noFill/>
          <a:ln/>
        </p:spPr>
        <p:txBody>
          <a:bodyPr wrap="square" lIns="0" tIns="0" rIns="0" bIns="0" rtlCol="0" anchor="ctr"/>
          <a:lstStyle/>
          <a:p>
            <a:pPr algn="ctr" indent="0" marL="0">
              <a:buNone/>
            </a:pPr>
            <a:r>
              <a:rPr lang="en-US" sz="2200" b="1" dirty="0">
                <a:solidFill>
                  <a:schemeClr val="bg1"/>
                </a:solidFill>
              </a:rPr>
              <a:t>Time goes into interpreting notices, not acting on them.</a:t>
            </a: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bg1"/>
                </a:solidFill>
              </a:rPr>
              <a:t>Introducing Notice2Action</a:t>
            </a:r>
            <a:endParaRPr lang="en-US" sz="3600" dirty="0"/>
          </a:p>
        </p:txBody>
      </p:sp>
      <p:sp>
        <p:nvSpPr>
          <p:cNvPr id="3" name="Intro lead"/>
          <p:cNvSpPr txBox="1"/>
          <p:nvPr/>
        </p:nvSpPr>
        <p:spPr>
          <a:xfrm>
            <a:off x="548640" y="1417320"/>
            <a:ext cx="9692640" cy="914400"/>
          </a:xfrm>
          <a:prstGeom prst="rect">
            <a:avLst/>
          </a:prstGeom>
          <a:noFill/>
          <a:ln/>
        </p:spPr>
        <p:txBody>
          <a:bodyPr wrap="square" lIns="0" tIns="0" rIns="0" bIns="0" rtlCol="0" anchor="t"/>
          <a:lstStyle/>
          <a:p>
            <a:pPr indent="0" marL="0">
              <a:buNone/>
            </a:pPr>
            <a:r>
              <a:rPr lang="en-US" sz="2200" dirty="0">
                <a:solidFill>
                  <a:schemeClr val="bg2"/>
                </a:solidFill>
              </a:rPr>
              <a:t>An AI-assisted web app that turns an uploaded PDF of college notices into structured, student-relevant action cards.</a:t>
            </a:r>
            <a:endParaRPr lang="en-US" sz="2200" dirty="0"/>
          </a:p>
        </p:txBody>
      </p:sp>
      <p:sp>
        <p:nvSpPr>
          <p:cNvPr id="4" name="Transform box 1"/>
          <p:cNvSpPr/>
          <p:nvPr/>
        </p:nvSpPr>
        <p:spPr>
          <a:xfrm>
            <a:off x="548640" y="2743200"/>
            <a:ext cx="2423160" cy="1828800"/>
          </a:xfrm>
          <a:prstGeom prst="roundRect">
            <a:avLst>
              <a:gd name="adj" fmla="val 7000"/>
            </a:avLst>
          </a:prstGeom>
          <a:solidFill>
            <a:schemeClr val="tx2"/>
          </a:solidFill>
          <a:ln w="12700">
            <a:solidFill>
              <a:schemeClr val="accent1">
                <a:alpha val="45000"/>
              </a:schemeClr>
            </a:solidFill>
            <a:prstDash val="solid"/>
          </a:ln>
        </p:spPr>
      </p:sp>
      <p:sp>
        <p:nvSpPr>
          <p:cNvPr id="5" name="Transform step 1"/>
          <p:cNvSpPr txBox="1"/>
          <p:nvPr/>
        </p:nvSpPr>
        <p:spPr>
          <a:xfrm>
            <a:off x="777240" y="2926080"/>
            <a:ext cx="914400" cy="320040"/>
          </a:xfrm>
          <a:prstGeom prst="rect">
            <a:avLst/>
          </a:prstGeom>
          <a:noFill/>
          <a:ln/>
        </p:spPr>
        <p:txBody>
          <a:bodyPr wrap="square" lIns="0" tIns="0" rIns="0" bIns="0" rtlCol="0" anchor="t"/>
          <a:lstStyle/>
          <a:p>
            <a:pPr indent="0" marL="0">
              <a:buNone/>
            </a:pPr>
            <a:r>
              <a:rPr lang="en-US" sz="1400" b="1" dirty="0">
                <a:solidFill>
                  <a:schemeClr val="accent2"/>
                </a:solidFill>
              </a:rPr>
              <a:t>01</a:t>
            </a:r>
            <a:endParaRPr lang="en-US" sz="1400" dirty="0"/>
          </a:p>
        </p:txBody>
      </p:sp>
      <p:sp>
        <p:nvSpPr>
          <p:cNvPr id="6" name="Transform heading 1"/>
          <p:cNvSpPr txBox="1"/>
          <p:nvPr/>
        </p:nvSpPr>
        <p:spPr>
          <a:xfrm>
            <a:off x="777240" y="3291840"/>
            <a:ext cx="2011680" cy="685800"/>
          </a:xfrm>
          <a:prstGeom prst="rect">
            <a:avLst/>
          </a:prstGeom>
          <a:noFill/>
          <a:ln/>
        </p:spPr>
        <p:txBody>
          <a:bodyPr wrap="square" lIns="0" tIns="0" rIns="0" bIns="0" rtlCol="0" anchor="t"/>
          <a:lstStyle/>
          <a:p>
            <a:pPr indent="0" marL="0">
              <a:buNone/>
            </a:pPr>
            <a:r>
              <a:rPr lang="en-US" sz="2000" b="1" dirty="0">
                <a:solidFill>
                  <a:schemeClr val="bg1"/>
                </a:solidFill>
              </a:rPr>
              <a:t>Scattered information</a:t>
            </a:r>
            <a:endParaRPr lang="en-US" sz="2000" dirty="0"/>
          </a:p>
        </p:txBody>
      </p:sp>
      <p:sp>
        <p:nvSpPr>
          <p:cNvPr id="7" name="Transform text 1"/>
          <p:cNvSpPr txBox="1"/>
          <p:nvPr/>
        </p:nvSpPr>
        <p:spPr>
          <a:xfrm>
            <a:off x="777240" y="4023360"/>
            <a:ext cx="2011680" cy="457200"/>
          </a:xfrm>
          <a:prstGeom prst="rect">
            <a:avLst/>
          </a:prstGeom>
          <a:noFill/>
          <a:ln/>
        </p:spPr>
        <p:txBody>
          <a:bodyPr wrap="square" lIns="0" tIns="0" rIns="0" bIns="0" rtlCol="0" anchor="t"/>
          <a:lstStyle/>
          <a:p>
            <a:pPr indent="0" marL="0">
              <a:buNone/>
            </a:pPr>
            <a:r>
              <a:rPr lang="en-US" sz="1400" dirty="0">
                <a:solidFill>
                  <a:schemeClr val="bg2"/>
                </a:solidFill>
              </a:rPr>
              <a:t>Notices inside a PDF</a:t>
            </a:r>
            <a:endParaRPr lang="en-US" sz="1400" dirty="0"/>
          </a:p>
        </p:txBody>
      </p:sp>
      <p:sp>
        <p:nvSpPr>
          <p:cNvPr id="8" name="Transform arrow 1"/>
          <p:cNvSpPr/>
          <p:nvPr/>
        </p:nvSpPr>
        <p:spPr>
          <a:xfrm>
            <a:off x="3072384" y="3474720"/>
            <a:ext cx="347472" cy="365760"/>
          </a:xfrm>
          <a:prstGeom prst="rightArrow">
            <a:avLst/>
          </a:prstGeom>
          <a:solidFill>
            <a:schemeClr val="accent2"/>
          </a:solidFill>
          <a:ln/>
        </p:spPr>
      </p:sp>
      <p:sp>
        <p:nvSpPr>
          <p:cNvPr id="9" name="Transform box 2"/>
          <p:cNvSpPr/>
          <p:nvPr/>
        </p:nvSpPr>
        <p:spPr>
          <a:xfrm>
            <a:off x="3429000" y="2743200"/>
            <a:ext cx="2423160" cy="1828800"/>
          </a:xfrm>
          <a:prstGeom prst="roundRect">
            <a:avLst>
              <a:gd name="adj" fmla="val 7000"/>
            </a:avLst>
          </a:prstGeom>
          <a:solidFill>
            <a:schemeClr val="tx2"/>
          </a:solidFill>
          <a:ln w="12700">
            <a:solidFill>
              <a:schemeClr val="accent1">
                <a:alpha val="45000"/>
              </a:schemeClr>
            </a:solidFill>
            <a:prstDash val="solid"/>
          </a:ln>
        </p:spPr>
      </p:sp>
      <p:sp>
        <p:nvSpPr>
          <p:cNvPr id="10" name="Transform step 2"/>
          <p:cNvSpPr txBox="1"/>
          <p:nvPr/>
        </p:nvSpPr>
        <p:spPr>
          <a:xfrm>
            <a:off x="3657600" y="2926080"/>
            <a:ext cx="914400" cy="320040"/>
          </a:xfrm>
          <a:prstGeom prst="rect">
            <a:avLst/>
          </a:prstGeom>
          <a:noFill/>
          <a:ln/>
        </p:spPr>
        <p:txBody>
          <a:bodyPr wrap="square" lIns="0" tIns="0" rIns="0" bIns="0" rtlCol="0" anchor="t"/>
          <a:lstStyle/>
          <a:p>
            <a:pPr indent="0" marL="0">
              <a:buNone/>
            </a:pPr>
            <a:r>
              <a:rPr lang="en-US" sz="1400" b="1" dirty="0">
                <a:solidFill>
                  <a:schemeClr val="accent2"/>
                </a:solidFill>
              </a:rPr>
              <a:t>02</a:t>
            </a:r>
            <a:endParaRPr lang="en-US" sz="1400" dirty="0"/>
          </a:p>
        </p:txBody>
      </p:sp>
      <p:sp>
        <p:nvSpPr>
          <p:cNvPr id="11" name="Transform heading 2"/>
          <p:cNvSpPr txBox="1"/>
          <p:nvPr/>
        </p:nvSpPr>
        <p:spPr>
          <a:xfrm>
            <a:off x="3657600" y="3291840"/>
            <a:ext cx="2011680" cy="685800"/>
          </a:xfrm>
          <a:prstGeom prst="rect">
            <a:avLst/>
          </a:prstGeom>
          <a:noFill/>
          <a:ln/>
        </p:spPr>
        <p:txBody>
          <a:bodyPr wrap="square" lIns="0" tIns="0" rIns="0" bIns="0" rtlCol="0" anchor="t"/>
          <a:lstStyle/>
          <a:p>
            <a:pPr indent="0" marL="0">
              <a:buNone/>
            </a:pPr>
            <a:r>
              <a:rPr lang="en-US" sz="2000" b="1" dirty="0">
                <a:solidFill>
                  <a:schemeClr val="bg1"/>
                </a:solidFill>
              </a:rPr>
              <a:t>Structured understanding</a:t>
            </a:r>
            <a:endParaRPr lang="en-US" sz="2000" dirty="0"/>
          </a:p>
        </p:txBody>
      </p:sp>
      <p:sp>
        <p:nvSpPr>
          <p:cNvPr id="12" name="Transform text 2"/>
          <p:cNvSpPr txBox="1"/>
          <p:nvPr/>
        </p:nvSpPr>
        <p:spPr>
          <a:xfrm>
            <a:off x="3657600" y="4023360"/>
            <a:ext cx="2011680" cy="457200"/>
          </a:xfrm>
          <a:prstGeom prst="rect">
            <a:avLst/>
          </a:prstGeom>
          <a:noFill/>
          <a:ln/>
        </p:spPr>
        <p:txBody>
          <a:bodyPr wrap="square" lIns="0" tIns="0" rIns="0" bIns="0" rtlCol="0" anchor="t"/>
          <a:lstStyle/>
          <a:p>
            <a:pPr indent="0" marL="0">
              <a:buNone/>
            </a:pPr>
            <a:r>
              <a:rPr lang="en-US" sz="1400" dirty="0">
                <a:solidFill>
                  <a:schemeClr val="bg2"/>
                </a:solidFill>
              </a:rPr>
              <a:t>Titles, deadlines, actions</a:t>
            </a:r>
            <a:endParaRPr lang="en-US" sz="1400" dirty="0"/>
          </a:p>
        </p:txBody>
      </p:sp>
      <p:sp>
        <p:nvSpPr>
          <p:cNvPr id="13" name="Transform arrow 2"/>
          <p:cNvSpPr/>
          <p:nvPr/>
        </p:nvSpPr>
        <p:spPr>
          <a:xfrm>
            <a:off x="5952744" y="3474720"/>
            <a:ext cx="347472" cy="365760"/>
          </a:xfrm>
          <a:prstGeom prst="rightArrow">
            <a:avLst/>
          </a:prstGeom>
          <a:solidFill>
            <a:schemeClr val="accent2"/>
          </a:solidFill>
          <a:ln/>
        </p:spPr>
      </p:sp>
      <p:sp>
        <p:nvSpPr>
          <p:cNvPr id="14" name="Transform box 3"/>
          <p:cNvSpPr/>
          <p:nvPr/>
        </p:nvSpPr>
        <p:spPr>
          <a:xfrm>
            <a:off x="6309360" y="2743200"/>
            <a:ext cx="2423160" cy="1828800"/>
          </a:xfrm>
          <a:prstGeom prst="roundRect">
            <a:avLst>
              <a:gd name="adj" fmla="val 7000"/>
            </a:avLst>
          </a:prstGeom>
          <a:solidFill>
            <a:schemeClr val="tx2"/>
          </a:solidFill>
          <a:ln w="12700">
            <a:solidFill>
              <a:schemeClr val="accent1">
                <a:alpha val="45000"/>
              </a:schemeClr>
            </a:solidFill>
            <a:prstDash val="solid"/>
          </a:ln>
        </p:spPr>
      </p:sp>
      <p:sp>
        <p:nvSpPr>
          <p:cNvPr id="15" name="Transform step 3"/>
          <p:cNvSpPr txBox="1"/>
          <p:nvPr/>
        </p:nvSpPr>
        <p:spPr>
          <a:xfrm>
            <a:off x="6537960" y="2926080"/>
            <a:ext cx="914400" cy="320040"/>
          </a:xfrm>
          <a:prstGeom prst="rect">
            <a:avLst/>
          </a:prstGeom>
          <a:noFill/>
          <a:ln/>
        </p:spPr>
        <p:txBody>
          <a:bodyPr wrap="square" lIns="0" tIns="0" rIns="0" bIns="0" rtlCol="0" anchor="t"/>
          <a:lstStyle/>
          <a:p>
            <a:pPr indent="0" marL="0">
              <a:buNone/>
            </a:pPr>
            <a:r>
              <a:rPr lang="en-US" sz="1400" b="1" dirty="0">
                <a:solidFill>
                  <a:schemeClr val="accent2"/>
                </a:solidFill>
              </a:rPr>
              <a:t>03</a:t>
            </a:r>
            <a:endParaRPr lang="en-US" sz="1400" dirty="0"/>
          </a:p>
        </p:txBody>
      </p:sp>
      <p:sp>
        <p:nvSpPr>
          <p:cNvPr id="16" name="Transform heading 3"/>
          <p:cNvSpPr txBox="1"/>
          <p:nvPr/>
        </p:nvSpPr>
        <p:spPr>
          <a:xfrm>
            <a:off x="6537960" y="3291840"/>
            <a:ext cx="2011680" cy="685800"/>
          </a:xfrm>
          <a:prstGeom prst="rect">
            <a:avLst/>
          </a:prstGeom>
          <a:noFill/>
          <a:ln/>
        </p:spPr>
        <p:txBody>
          <a:bodyPr wrap="square" lIns="0" tIns="0" rIns="0" bIns="0" rtlCol="0" anchor="t"/>
          <a:lstStyle/>
          <a:p>
            <a:pPr indent="0" marL="0">
              <a:buNone/>
            </a:pPr>
            <a:r>
              <a:rPr lang="en-US" sz="2000" b="1" dirty="0">
                <a:solidFill>
                  <a:schemeClr val="bg1"/>
                </a:solidFill>
              </a:rPr>
              <a:t>Personalized relevance</a:t>
            </a:r>
            <a:endParaRPr lang="en-US" sz="2000" dirty="0"/>
          </a:p>
        </p:txBody>
      </p:sp>
      <p:sp>
        <p:nvSpPr>
          <p:cNvPr id="17" name="Transform text 3"/>
          <p:cNvSpPr txBox="1"/>
          <p:nvPr/>
        </p:nvSpPr>
        <p:spPr>
          <a:xfrm>
            <a:off x="6537960" y="4023360"/>
            <a:ext cx="2011680" cy="457200"/>
          </a:xfrm>
          <a:prstGeom prst="rect">
            <a:avLst/>
          </a:prstGeom>
          <a:noFill/>
          <a:ln/>
        </p:spPr>
        <p:txBody>
          <a:bodyPr wrap="square" lIns="0" tIns="0" rIns="0" bIns="0" rtlCol="0" anchor="t"/>
          <a:lstStyle/>
          <a:p>
            <a:pPr indent="0" marL="0">
              <a:buNone/>
            </a:pPr>
            <a:r>
              <a:rPr lang="en-US" sz="1400" dirty="0">
                <a:solidFill>
                  <a:schemeClr val="bg2"/>
                </a:solidFill>
              </a:rPr>
              <a:t>Matched to the student profile</a:t>
            </a:r>
            <a:endParaRPr lang="en-US" sz="1400" dirty="0"/>
          </a:p>
        </p:txBody>
      </p:sp>
      <p:sp>
        <p:nvSpPr>
          <p:cNvPr id="18" name="Transform arrow 3"/>
          <p:cNvSpPr/>
          <p:nvPr/>
        </p:nvSpPr>
        <p:spPr>
          <a:xfrm>
            <a:off x="8833104" y="3474720"/>
            <a:ext cx="347472" cy="365760"/>
          </a:xfrm>
          <a:prstGeom prst="rightArrow">
            <a:avLst/>
          </a:prstGeom>
          <a:solidFill>
            <a:schemeClr val="accent2"/>
          </a:solidFill>
          <a:ln/>
        </p:spPr>
      </p:sp>
      <p:sp>
        <p:nvSpPr>
          <p:cNvPr id="19" name="Transform box 4"/>
          <p:cNvSpPr/>
          <p:nvPr/>
        </p:nvSpPr>
        <p:spPr>
          <a:xfrm>
            <a:off x="9189720" y="2743200"/>
            <a:ext cx="2423160" cy="1828800"/>
          </a:xfrm>
          <a:prstGeom prst="roundRect">
            <a:avLst>
              <a:gd name="adj" fmla="val 7000"/>
            </a:avLst>
          </a:prstGeom>
          <a:solidFill>
            <a:schemeClr val="accent1"/>
          </a:solidFill>
          <a:ln/>
        </p:spPr>
      </p:sp>
      <p:sp>
        <p:nvSpPr>
          <p:cNvPr id="20" name="Transform step 4"/>
          <p:cNvSpPr txBox="1"/>
          <p:nvPr/>
        </p:nvSpPr>
        <p:spPr>
          <a:xfrm>
            <a:off x="9418320" y="2926080"/>
            <a:ext cx="914400" cy="320040"/>
          </a:xfrm>
          <a:prstGeom prst="rect">
            <a:avLst/>
          </a:prstGeom>
          <a:noFill/>
          <a:ln/>
        </p:spPr>
        <p:txBody>
          <a:bodyPr wrap="square" lIns="0" tIns="0" rIns="0" bIns="0" rtlCol="0" anchor="t"/>
          <a:lstStyle/>
          <a:p>
            <a:pPr indent="0" marL="0">
              <a:buNone/>
            </a:pPr>
            <a:r>
              <a:rPr lang="en-US" sz="1400" b="1" dirty="0">
                <a:solidFill>
                  <a:schemeClr val="bg1"/>
                </a:solidFill>
              </a:rPr>
              <a:t>04</a:t>
            </a:r>
            <a:endParaRPr lang="en-US" sz="1400" dirty="0"/>
          </a:p>
        </p:txBody>
      </p:sp>
      <p:sp>
        <p:nvSpPr>
          <p:cNvPr id="21" name="Transform heading 4"/>
          <p:cNvSpPr txBox="1"/>
          <p:nvPr/>
        </p:nvSpPr>
        <p:spPr>
          <a:xfrm>
            <a:off x="9418320" y="3291840"/>
            <a:ext cx="2011680" cy="685800"/>
          </a:xfrm>
          <a:prstGeom prst="rect">
            <a:avLst/>
          </a:prstGeom>
          <a:noFill/>
          <a:ln/>
        </p:spPr>
        <p:txBody>
          <a:bodyPr wrap="square" lIns="0" tIns="0" rIns="0" bIns="0" rtlCol="0" anchor="t"/>
          <a:lstStyle/>
          <a:p>
            <a:pPr indent="0" marL="0">
              <a:buNone/>
            </a:pPr>
            <a:r>
              <a:rPr lang="en-US" sz="2000" b="1" dirty="0">
                <a:solidFill>
                  <a:schemeClr val="bg1"/>
                </a:solidFill>
              </a:rPr>
              <a:t>Clear next steps</a:t>
            </a:r>
            <a:endParaRPr lang="en-US" sz="2000" dirty="0"/>
          </a:p>
        </p:txBody>
      </p:sp>
      <p:sp>
        <p:nvSpPr>
          <p:cNvPr id="22" name="Transform text 4"/>
          <p:cNvSpPr txBox="1"/>
          <p:nvPr/>
        </p:nvSpPr>
        <p:spPr>
          <a:xfrm>
            <a:off x="9418320" y="4023360"/>
            <a:ext cx="2011680" cy="457200"/>
          </a:xfrm>
          <a:prstGeom prst="rect">
            <a:avLst/>
          </a:prstGeom>
          <a:noFill/>
          <a:ln/>
        </p:spPr>
        <p:txBody>
          <a:bodyPr wrap="square" lIns="0" tIns="0" rIns="0" bIns="0" rtlCol="0" anchor="t"/>
          <a:lstStyle/>
          <a:p>
            <a:pPr indent="0" marL="0">
              <a:buNone/>
            </a:pPr>
            <a:r>
              <a:rPr lang="en-US" sz="1400" dirty="0">
                <a:solidFill>
                  <a:schemeClr val="bg2"/>
                </a:solidFill>
              </a:rPr>
              <a:t>Priority and required action</a:t>
            </a:r>
            <a:endParaRPr lang="en-US" sz="1400" dirty="0"/>
          </a:p>
        </p:txBody>
      </p:sp>
      <p:sp>
        <p:nvSpPr>
          <p:cNvPr id="23" name="Intro focus"/>
          <p:cNvSpPr txBox="1"/>
          <p:nvPr/>
        </p:nvSpPr>
        <p:spPr>
          <a:xfrm>
            <a:off x="548640" y="5029200"/>
            <a:ext cx="11064240" cy="457200"/>
          </a:xfrm>
          <a:prstGeom prst="rect">
            <a:avLst/>
          </a:prstGeom>
          <a:noFill/>
          <a:ln/>
        </p:spPr>
        <p:txBody>
          <a:bodyPr wrap="square" lIns="0" tIns="0" rIns="0" bIns="0" rtlCol="0" anchor="t"/>
          <a:lstStyle/>
          <a:p>
            <a:pPr indent="0" marL="0">
              <a:buNone/>
            </a:pPr>
            <a:r>
              <a:rPr lang="en-US" sz="2600" b="1" dirty="0">
                <a:solidFill>
                  <a:schemeClr val="accent2"/>
                </a:solidFill>
              </a:rPr>
              <a:t>Focus: move from information to action.</a:t>
            </a:r>
            <a:endParaRPr lang="en-US" sz="2600" dirty="0"/>
          </a:p>
        </p:txBody>
      </p:sp>
      <p:sp>
        <p:nvSpPr>
          <p:cNvPr id="24" name="Intro scope"/>
          <p:cNvSpPr txBox="1"/>
          <p:nvPr/>
        </p:nvSpPr>
        <p:spPr>
          <a:xfrm>
            <a:off x="548640" y="5669280"/>
            <a:ext cx="11064240" cy="548640"/>
          </a:xfrm>
          <a:prstGeom prst="rect">
            <a:avLst/>
          </a:prstGeom>
          <a:noFill/>
          <a:ln/>
        </p:spPr>
        <p:txBody>
          <a:bodyPr wrap="square" lIns="0" tIns="0" rIns="0" bIns="0" rtlCol="0" anchor="t"/>
          <a:lstStyle/>
          <a:p>
            <a:pPr indent="0" marL="0">
              <a:buNone/>
            </a:pPr>
            <a:r>
              <a:rPr lang="en-US" sz="1400" dirty="0">
                <a:solidFill>
                  <a:schemeClr val="bg2"/>
                </a:solidFill>
              </a:rPr>
              <a:t>Current workflow: upload a PDF. WhatsApp, Telegram and portal integrations are future possibilities only.</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How It Works</a:t>
            </a:r>
            <a:endParaRPr lang="en-US" sz="3600" dirty="0"/>
          </a:p>
        </p:txBody>
      </p:sp>
      <p:sp>
        <p:nvSpPr>
          <p:cNvPr id="3" name="Step card 1"/>
          <p:cNvSpPr/>
          <p:nvPr/>
        </p:nvSpPr>
        <p:spPr>
          <a:xfrm>
            <a:off x="548640" y="1645920"/>
            <a:ext cx="2011680" cy="3566160"/>
          </a:xfrm>
          <a:prstGeom prst="roundRect">
            <a:avLst>
              <a:gd name="adj" fmla="val 6364"/>
            </a:avLst>
          </a:prstGeom>
          <a:solidFill>
            <a:schemeClr val="bg2"/>
          </a:solidFill>
          <a:ln/>
        </p:spPr>
      </p:sp>
      <p:sp>
        <p:nvSpPr>
          <p:cNvPr id="4" name="Step label 1"/>
          <p:cNvSpPr txBox="1"/>
          <p:nvPr/>
        </p:nvSpPr>
        <p:spPr>
          <a:xfrm>
            <a:off x="777240" y="1828800"/>
            <a:ext cx="14630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STEP 1</a:t>
            </a:r>
            <a:endParaRPr lang="en-US" sz="1200" dirty="0"/>
          </a:p>
        </p:txBody>
      </p:sp>
      <p:sp>
        <p:nvSpPr>
          <p:cNvPr id="5" name="Step 1 circle"/>
          <p:cNvSpPr/>
          <p:nvPr/>
        </p:nvSpPr>
        <p:spPr>
          <a:xfrm>
            <a:off x="777240" y="2240280"/>
            <a:ext cx="777240" cy="777240"/>
          </a:xfrm>
          <a:prstGeom prst="ellipse">
            <a:avLst/>
          </a:prstGeom>
          <a:solidFill>
            <a:schemeClr val="accent1"/>
          </a:solidFill>
          <a:ln/>
        </p:spPr>
      </p:sp>
      <p:pic>
        <p:nvPicPr>
          <p:cNvPr id="6" name="Step 1 icon" descr="Step 1">    </p:cNvPr>
          <p:cNvPicPr>
            <a:picLocks noChangeAspect="1"/>
          </p:cNvPicPr>
          <p:nvPr/>
        </p:nvPicPr>
        <p:blipFill>
          <a:blip r:embed="rId1"/>
          <a:stretch>
            <a:fillRect/>
          </a:stretch>
        </p:blipFill>
        <p:spPr>
          <a:xfrm>
            <a:off x="987095" y="2450135"/>
            <a:ext cx="357530" cy="357530"/>
          </a:xfrm>
          <a:prstGeom prst="rect">
            <a:avLst/>
          </a:prstGeom>
        </p:spPr>
      </p:pic>
      <p:sp>
        <p:nvSpPr>
          <p:cNvPr id="7" name="Step heading 1"/>
          <p:cNvSpPr txBox="1"/>
          <p:nvPr/>
        </p:nvSpPr>
        <p:spPr>
          <a:xfrm>
            <a:off x="777240" y="32004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Set profile</a:t>
            </a:r>
            <a:endParaRPr lang="en-US" sz="2000" dirty="0"/>
          </a:p>
        </p:txBody>
      </p:sp>
      <p:sp>
        <p:nvSpPr>
          <p:cNvPr id="8" name="Step text 1"/>
          <p:cNvSpPr txBox="1"/>
          <p:nvPr/>
        </p:nvSpPr>
        <p:spPr>
          <a:xfrm>
            <a:off x="777240" y="3749040"/>
            <a:ext cx="1600200" cy="1371600"/>
          </a:xfrm>
          <a:prstGeom prst="rect">
            <a:avLst/>
          </a:prstGeom>
          <a:noFill/>
          <a:ln/>
        </p:spPr>
        <p:txBody>
          <a:bodyPr wrap="square" lIns="0" tIns="0" rIns="0" bIns="0" rtlCol="0" anchor="t"/>
          <a:lstStyle/>
          <a:p>
            <a:pPr indent="0" marL="0">
              <a:buNone/>
            </a:pPr>
            <a:r>
              <a:rPr lang="en-US" sz="1400" dirty="0">
                <a:solidFill>
                  <a:schemeClr val="accent6"/>
                </a:solidFill>
              </a:rPr>
              <a:t>Review the student profile used for matching.</a:t>
            </a:r>
            <a:endParaRPr lang="en-US" sz="1400" dirty="0"/>
          </a:p>
        </p:txBody>
      </p:sp>
      <p:sp>
        <p:nvSpPr>
          <p:cNvPr id="9" name="Step chevron 1"/>
          <p:cNvSpPr/>
          <p:nvPr/>
        </p:nvSpPr>
        <p:spPr>
          <a:xfrm>
            <a:off x="2615184" y="3291840"/>
            <a:ext cx="155448" cy="274320"/>
          </a:xfrm>
          <a:prstGeom prst="chevron">
            <a:avLst/>
          </a:prstGeom>
          <a:solidFill>
            <a:schemeClr val="accent1"/>
          </a:solidFill>
          <a:ln/>
        </p:spPr>
      </p:sp>
      <p:sp>
        <p:nvSpPr>
          <p:cNvPr id="10" name="Step card 2"/>
          <p:cNvSpPr/>
          <p:nvPr/>
        </p:nvSpPr>
        <p:spPr>
          <a:xfrm>
            <a:off x="2811780" y="1645920"/>
            <a:ext cx="2011680" cy="3566160"/>
          </a:xfrm>
          <a:prstGeom prst="roundRect">
            <a:avLst>
              <a:gd name="adj" fmla="val 6364"/>
            </a:avLst>
          </a:prstGeom>
          <a:solidFill>
            <a:schemeClr val="bg2"/>
          </a:solidFill>
          <a:ln/>
        </p:spPr>
      </p:sp>
      <p:sp>
        <p:nvSpPr>
          <p:cNvPr id="11" name="Step label 2"/>
          <p:cNvSpPr txBox="1"/>
          <p:nvPr/>
        </p:nvSpPr>
        <p:spPr>
          <a:xfrm>
            <a:off x="3040380" y="1828800"/>
            <a:ext cx="14630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STEP 2</a:t>
            </a:r>
            <a:endParaRPr lang="en-US" sz="1200" dirty="0"/>
          </a:p>
        </p:txBody>
      </p:sp>
      <p:sp>
        <p:nvSpPr>
          <p:cNvPr id="12" name="Step 2 circle"/>
          <p:cNvSpPr/>
          <p:nvPr/>
        </p:nvSpPr>
        <p:spPr>
          <a:xfrm>
            <a:off x="3040380" y="2240280"/>
            <a:ext cx="777240" cy="777240"/>
          </a:xfrm>
          <a:prstGeom prst="ellipse">
            <a:avLst/>
          </a:prstGeom>
          <a:solidFill>
            <a:schemeClr val="accent1"/>
          </a:solidFill>
          <a:ln/>
        </p:spPr>
      </p:sp>
      <p:pic>
        <p:nvPicPr>
          <p:cNvPr id="13" name="Step 2 icon" descr="Step 2">    </p:cNvPr>
          <p:cNvPicPr>
            <a:picLocks noChangeAspect="1"/>
          </p:cNvPicPr>
          <p:nvPr/>
        </p:nvPicPr>
        <p:blipFill>
          <a:blip r:embed="rId2"/>
          <a:stretch>
            <a:fillRect/>
          </a:stretch>
        </p:blipFill>
        <p:spPr>
          <a:xfrm>
            <a:off x="3250235" y="2450135"/>
            <a:ext cx="357530" cy="357530"/>
          </a:xfrm>
          <a:prstGeom prst="rect">
            <a:avLst/>
          </a:prstGeom>
        </p:spPr>
      </p:pic>
      <p:sp>
        <p:nvSpPr>
          <p:cNvPr id="14" name="Step heading 2"/>
          <p:cNvSpPr txBox="1"/>
          <p:nvPr/>
        </p:nvSpPr>
        <p:spPr>
          <a:xfrm>
            <a:off x="3040380" y="32004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Upload PDF</a:t>
            </a:r>
            <a:endParaRPr lang="en-US" sz="2000" dirty="0"/>
          </a:p>
        </p:txBody>
      </p:sp>
      <p:sp>
        <p:nvSpPr>
          <p:cNvPr id="15" name="Step text 2"/>
          <p:cNvSpPr txBox="1"/>
          <p:nvPr/>
        </p:nvSpPr>
        <p:spPr>
          <a:xfrm>
            <a:off x="3040380" y="3749040"/>
            <a:ext cx="1600200" cy="1371600"/>
          </a:xfrm>
          <a:prstGeom prst="rect">
            <a:avLst/>
          </a:prstGeom>
          <a:noFill/>
          <a:ln/>
        </p:spPr>
        <p:txBody>
          <a:bodyPr wrap="square" lIns="0" tIns="0" rIns="0" bIns="0" rtlCol="0" anchor="t"/>
          <a:lstStyle/>
          <a:p>
            <a:pPr indent="0" marL="0">
              <a:buNone/>
            </a:pPr>
            <a:r>
              <a:rPr lang="en-US" sz="1400" dirty="0">
                <a:solidFill>
                  <a:schemeClr val="accent6"/>
                </a:solidFill>
              </a:rPr>
              <a:t>Add a PDF containing multiple college notices.</a:t>
            </a:r>
            <a:endParaRPr lang="en-US" sz="1400" dirty="0"/>
          </a:p>
        </p:txBody>
      </p:sp>
      <p:sp>
        <p:nvSpPr>
          <p:cNvPr id="16" name="Step chevron 2"/>
          <p:cNvSpPr/>
          <p:nvPr/>
        </p:nvSpPr>
        <p:spPr>
          <a:xfrm>
            <a:off x="4878324" y="3291840"/>
            <a:ext cx="155448" cy="274320"/>
          </a:xfrm>
          <a:prstGeom prst="chevron">
            <a:avLst/>
          </a:prstGeom>
          <a:solidFill>
            <a:schemeClr val="accent1"/>
          </a:solidFill>
          <a:ln/>
        </p:spPr>
      </p:sp>
      <p:sp>
        <p:nvSpPr>
          <p:cNvPr id="17" name="Step card 3"/>
          <p:cNvSpPr/>
          <p:nvPr/>
        </p:nvSpPr>
        <p:spPr>
          <a:xfrm>
            <a:off x="5074920" y="1645920"/>
            <a:ext cx="2011680" cy="3566160"/>
          </a:xfrm>
          <a:prstGeom prst="roundRect">
            <a:avLst>
              <a:gd name="adj" fmla="val 6364"/>
            </a:avLst>
          </a:prstGeom>
          <a:solidFill>
            <a:schemeClr val="bg2"/>
          </a:solidFill>
          <a:ln/>
        </p:spPr>
      </p:sp>
      <p:sp>
        <p:nvSpPr>
          <p:cNvPr id="18" name="Step label 3"/>
          <p:cNvSpPr txBox="1"/>
          <p:nvPr/>
        </p:nvSpPr>
        <p:spPr>
          <a:xfrm>
            <a:off x="5303520" y="1828800"/>
            <a:ext cx="14630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STEP 3</a:t>
            </a:r>
            <a:endParaRPr lang="en-US" sz="1200" dirty="0"/>
          </a:p>
        </p:txBody>
      </p:sp>
      <p:sp>
        <p:nvSpPr>
          <p:cNvPr id="19" name="Step 3 circle"/>
          <p:cNvSpPr/>
          <p:nvPr/>
        </p:nvSpPr>
        <p:spPr>
          <a:xfrm>
            <a:off x="5303520" y="2240280"/>
            <a:ext cx="777240" cy="777240"/>
          </a:xfrm>
          <a:prstGeom prst="ellipse">
            <a:avLst/>
          </a:prstGeom>
          <a:solidFill>
            <a:schemeClr val="accent1"/>
          </a:solidFill>
          <a:ln/>
        </p:spPr>
      </p:sp>
      <p:pic>
        <p:nvPicPr>
          <p:cNvPr id="20" name="Step 3 icon" descr="Step 3">    </p:cNvPr>
          <p:cNvPicPr>
            <a:picLocks noChangeAspect="1"/>
          </p:cNvPicPr>
          <p:nvPr/>
        </p:nvPicPr>
        <p:blipFill>
          <a:blip r:embed="rId3"/>
          <a:stretch>
            <a:fillRect/>
          </a:stretch>
        </p:blipFill>
        <p:spPr>
          <a:xfrm>
            <a:off x="5513375" y="2450135"/>
            <a:ext cx="357530" cy="357530"/>
          </a:xfrm>
          <a:prstGeom prst="rect">
            <a:avLst/>
          </a:prstGeom>
        </p:spPr>
      </p:pic>
      <p:sp>
        <p:nvSpPr>
          <p:cNvPr id="21" name="Step heading 3"/>
          <p:cNvSpPr txBox="1"/>
          <p:nvPr/>
        </p:nvSpPr>
        <p:spPr>
          <a:xfrm>
            <a:off x="5303520" y="32004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Analyze</a:t>
            </a:r>
            <a:endParaRPr lang="en-US" sz="2000" dirty="0"/>
          </a:p>
        </p:txBody>
      </p:sp>
      <p:sp>
        <p:nvSpPr>
          <p:cNvPr id="22" name="Step text 3"/>
          <p:cNvSpPr txBox="1"/>
          <p:nvPr/>
        </p:nvSpPr>
        <p:spPr>
          <a:xfrm>
            <a:off x="5303520" y="3749040"/>
            <a:ext cx="1600200" cy="1371600"/>
          </a:xfrm>
          <a:prstGeom prst="rect">
            <a:avLst/>
          </a:prstGeom>
          <a:noFill/>
          <a:ln/>
        </p:spPr>
        <p:txBody>
          <a:bodyPr wrap="square" lIns="0" tIns="0" rIns="0" bIns="0" rtlCol="0" anchor="t"/>
          <a:lstStyle/>
          <a:p>
            <a:pPr indent="0" marL="0">
              <a:buNone/>
            </a:pPr>
            <a:r>
              <a:rPr lang="en-US" sz="1400" dirty="0">
                <a:solidFill>
                  <a:schemeClr val="accent6"/>
                </a:solidFill>
              </a:rPr>
              <a:t>Text is extracted, split and analyzed.</a:t>
            </a:r>
            <a:endParaRPr lang="en-US" sz="1400" dirty="0"/>
          </a:p>
        </p:txBody>
      </p:sp>
      <p:sp>
        <p:nvSpPr>
          <p:cNvPr id="23" name="Step chevron 3"/>
          <p:cNvSpPr/>
          <p:nvPr/>
        </p:nvSpPr>
        <p:spPr>
          <a:xfrm>
            <a:off x="7141464" y="3291840"/>
            <a:ext cx="155448" cy="274320"/>
          </a:xfrm>
          <a:prstGeom prst="chevron">
            <a:avLst/>
          </a:prstGeom>
          <a:solidFill>
            <a:schemeClr val="accent1"/>
          </a:solidFill>
          <a:ln/>
        </p:spPr>
      </p:sp>
      <p:sp>
        <p:nvSpPr>
          <p:cNvPr id="24" name="Step card 4"/>
          <p:cNvSpPr/>
          <p:nvPr/>
        </p:nvSpPr>
        <p:spPr>
          <a:xfrm>
            <a:off x="7338060" y="1645920"/>
            <a:ext cx="2011680" cy="3566160"/>
          </a:xfrm>
          <a:prstGeom prst="roundRect">
            <a:avLst>
              <a:gd name="adj" fmla="val 6364"/>
            </a:avLst>
          </a:prstGeom>
          <a:solidFill>
            <a:schemeClr val="bg2"/>
          </a:solidFill>
          <a:ln/>
        </p:spPr>
      </p:sp>
      <p:sp>
        <p:nvSpPr>
          <p:cNvPr id="25" name="Step label 4"/>
          <p:cNvSpPr txBox="1"/>
          <p:nvPr/>
        </p:nvSpPr>
        <p:spPr>
          <a:xfrm>
            <a:off x="7566660" y="1828800"/>
            <a:ext cx="14630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STEP 4</a:t>
            </a:r>
            <a:endParaRPr lang="en-US" sz="1200" dirty="0"/>
          </a:p>
        </p:txBody>
      </p:sp>
      <p:sp>
        <p:nvSpPr>
          <p:cNvPr id="26" name="Step 4 circle"/>
          <p:cNvSpPr/>
          <p:nvPr/>
        </p:nvSpPr>
        <p:spPr>
          <a:xfrm>
            <a:off x="7566660" y="2240280"/>
            <a:ext cx="777240" cy="777240"/>
          </a:xfrm>
          <a:prstGeom prst="ellipse">
            <a:avLst/>
          </a:prstGeom>
          <a:solidFill>
            <a:schemeClr val="accent1"/>
          </a:solidFill>
          <a:ln/>
        </p:spPr>
      </p:sp>
      <p:pic>
        <p:nvPicPr>
          <p:cNvPr id="27" name="Step 4 icon" descr="Step 4">    </p:cNvPr>
          <p:cNvPicPr>
            <a:picLocks noChangeAspect="1"/>
          </p:cNvPicPr>
          <p:nvPr/>
        </p:nvPicPr>
        <p:blipFill>
          <a:blip r:embed="rId4"/>
          <a:stretch>
            <a:fillRect/>
          </a:stretch>
        </p:blipFill>
        <p:spPr>
          <a:xfrm>
            <a:off x="7776515" y="2450135"/>
            <a:ext cx="357530" cy="357530"/>
          </a:xfrm>
          <a:prstGeom prst="rect">
            <a:avLst/>
          </a:prstGeom>
        </p:spPr>
      </p:pic>
      <p:sp>
        <p:nvSpPr>
          <p:cNvPr id="28" name="Step heading 4"/>
          <p:cNvSpPr txBox="1"/>
          <p:nvPr/>
        </p:nvSpPr>
        <p:spPr>
          <a:xfrm>
            <a:off x="7566660" y="32004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Review cards</a:t>
            </a:r>
            <a:endParaRPr lang="en-US" sz="2000" dirty="0"/>
          </a:p>
        </p:txBody>
      </p:sp>
      <p:sp>
        <p:nvSpPr>
          <p:cNvPr id="29" name="Step text 4"/>
          <p:cNvSpPr txBox="1"/>
          <p:nvPr/>
        </p:nvSpPr>
        <p:spPr>
          <a:xfrm>
            <a:off x="7566660" y="3749040"/>
            <a:ext cx="1600200" cy="1371600"/>
          </a:xfrm>
          <a:prstGeom prst="rect">
            <a:avLst/>
          </a:prstGeom>
          <a:noFill/>
          <a:ln/>
        </p:spPr>
        <p:txBody>
          <a:bodyPr wrap="square" lIns="0" tIns="0" rIns="0" bIns="0" rtlCol="0" anchor="t"/>
          <a:lstStyle/>
          <a:p>
            <a:pPr indent="0" marL="0">
              <a:buNone/>
            </a:pPr>
            <a:r>
              <a:rPr lang="en-US" sz="1400" dirty="0">
                <a:solidFill>
                  <a:schemeClr val="accent6"/>
                </a:solidFill>
              </a:rPr>
              <a:t>Each notice appears as a structured card.</a:t>
            </a:r>
            <a:endParaRPr lang="en-US" sz="1400" dirty="0"/>
          </a:p>
        </p:txBody>
      </p:sp>
      <p:sp>
        <p:nvSpPr>
          <p:cNvPr id="30" name="Step chevron 4"/>
          <p:cNvSpPr/>
          <p:nvPr/>
        </p:nvSpPr>
        <p:spPr>
          <a:xfrm>
            <a:off x="9404604" y="3291840"/>
            <a:ext cx="155448" cy="274320"/>
          </a:xfrm>
          <a:prstGeom prst="chevron">
            <a:avLst/>
          </a:prstGeom>
          <a:solidFill>
            <a:schemeClr val="accent1"/>
          </a:solidFill>
          <a:ln/>
        </p:spPr>
      </p:sp>
      <p:sp>
        <p:nvSpPr>
          <p:cNvPr id="31" name="Step card 5"/>
          <p:cNvSpPr/>
          <p:nvPr/>
        </p:nvSpPr>
        <p:spPr>
          <a:xfrm>
            <a:off x="9601200" y="1645920"/>
            <a:ext cx="2011680" cy="3566160"/>
          </a:xfrm>
          <a:prstGeom prst="roundRect">
            <a:avLst>
              <a:gd name="adj" fmla="val 6364"/>
            </a:avLst>
          </a:prstGeom>
          <a:solidFill>
            <a:schemeClr val="bg2"/>
          </a:solidFill>
          <a:ln/>
        </p:spPr>
      </p:sp>
      <p:sp>
        <p:nvSpPr>
          <p:cNvPr id="32" name="Step label 5"/>
          <p:cNvSpPr txBox="1"/>
          <p:nvPr/>
        </p:nvSpPr>
        <p:spPr>
          <a:xfrm>
            <a:off x="9829800" y="1828800"/>
            <a:ext cx="14630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STEP 5</a:t>
            </a:r>
            <a:endParaRPr lang="en-US" sz="1200" dirty="0"/>
          </a:p>
        </p:txBody>
      </p:sp>
      <p:sp>
        <p:nvSpPr>
          <p:cNvPr id="33" name="Step 5 circle"/>
          <p:cNvSpPr/>
          <p:nvPr/>
        </p:nvSpPr>
        <p:spPr>
          <a:xfrm>
            <a:off x="9829800" y="2240280"/>
            <a:ext cx="777240" cy="777240"/>
          </a:xfrm>
          <a:prstGeom prst="ellipse">
            <a:avLst/>
          </a:prstGeom>
          <a:solidFill>
            <a:schemeClr val="accent1"/>
          </a:solidFill>
          <a:ln/>
        </p:spPr>
      </p:sp>
      <p:pic>
        <p:nvPicPr>
          <p:cNvPr id="34" name="Step 5 icon" descr="Step 5">    </p:cNvPr>
          <p:cNvPicPr>
            <a:picLocks noChangeAspect="1"/>
          </p:cNvPicPr>
          <p:nvPr/>
        </p:nvPicPr>
        <p:blipFill>
          <a:blip r:embed="rId5"/>
          <a:stretch>
            <a:fillRect/>
          </a:stretch>
        </p:blipFill>
        <p:spPr>
          <a:xfrm>
            <a:off x="10039655" y="2450135"/>
            <a:ext cx="357530" cy="357530"/>
          </a:xfrm>
          <a:prstGeom prst="rect">
            <a:avLst/>
          </a:prstGeom>
        </p:spPr>
      </p:pic>
      <p:sp>
        <p:nvSpPr>
          <p:cNvPr id="35" name="Step heading 5"/>
          <p:cNvSpPr txBox="1"/>
          <p:nvPr/>
        </p:nvSpPr>
        <p:spPr>
          <a:xfrm>
            <a:off x="9829800" y="32004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Take action</a:t>
            </a:r>
            <a:endParaRPr lang="en-US" sz="2000" dirty="0"/>
          </a:p>
        </p:txBody>
      </p:sp>
      <p:sp>
        <p:nvSpPr>
          <p:cNvPr id="36" name="Step text 5"/>
          <p:cNvSpPr txBox="1"/>
          <p:nvPr/>
        </p:nvSpPr>
        <p:spPr>
          <a:xfrm>
            <a:off x="9829800" y="3749040"/>
            <a:ext cx="1600200" cy="1371600"/>
          </a:xfrm>
          <a:prstGeom prst="rect">
            <a:avLst/>
          </a:prstGeom>
          <a:noFill/>
          <a:ln/>
        </p:spPr>
        <p:txBody>
          <a:bodyPr wrap="square" lIns="0" tIns="0" rIns="0" bIns="0" rtlCol="0" anchor="t"/>
          <a:lstStyle/>
          <a:p>
            <a:pPr indent="0" marL="0">
              <a:buNone/>
            </a:pPr>
            <a:r>
              <a:rPr lang="en-US" sz="1400" dirty="0">
                <a:solidFill>
                  <a:schemeClr val="accent6"/>
                </a:solidFill>
              </a:rPr>
              <a:t>Know what applies, what to do and when.</a:t>
            </a:r>
            <a:endParaRPr lang="en-US" sz="1400" dirty="0"/>
          </a:p>
        </p:txBody>
      </p:sp>
      <p:sp>
        <p:nvSpPr>
          <p:cNvPr id="37" name="Steps caption"/>
          <p:cNvSpPr txBox="1"/>
          <p:nvPr/>
        </p:nvSpPr>
        <p:spPr>
          <a:xfrm>
            <a:off x="548640" y="5577840"/>
            <a:ext cx="11064240" cy="365760"/>
          </a:xfrm>
          <a:prstGeom prst="rect">
            <a:avLst/>
          </a:prstGeom>
          <a:noFill/>
          <a:ln/>
        </p:spPr>
        <p:txBody>
          <a:bodyPr wrap="square" lIns="0" tIns="0" rIns="0" bIns="0" rtlCol="0" anchor="t"/>
          <a:lstStyle/>
          <a:p>
            <a:pPr indent="0" marL="0">
              <a:buNone/>
            </a:pPr>
            <a:r>
              <a:rPr lang="en-US" sz="1600" b="1" dirty="0">
                <a:solidFill>
                  <a:schemeClr val="accent1"/>
                </a:solidFill>
              </a:rPr>
              <a:t>Everything starts from one uploaded PDF.</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System Architecture</a:t>
            </a:r>
            <a:endParaRPr lang="en-US" sz="3600" dirty="0"/>
          </a:p>
        </p:txBody>
      </p:sp>
      <p:sp>
        <p:nvSpPr>
          <p:cNvPr id="3" name="Stage row 1"/>
          <p:cNvSpPr/>
          <p:nvPr/>
        </p:nvSpPr>
        <p:spPr>
          <a:xfrm>
            <a:off x="548640" y="1371600"/>
            <a:ext cx="11064240" cy="640080"/>
          </a:xfrm>
          <a:prstGeom prst="roundRect">
            <a:avLst>
              <a:gd name="adj" fmla="val 20000"/>
            </a:avLst>
          </a:prstGeom>
          <a:solidFill>
            <a:schemeClr val="bg2"/>
          </a:solidFill>
          <a:ln/>
        </p:spPr>
      </p:sp>
      <p:sp>
        <p:nvSpPr>
          <p:cNvPr id="4" name="Stage number 1"/>
          <p:cNvSpPr/>
          <p:nvPr/>
        </p:nvSpPr>
        <p:spPr>
          <a:xfrm>
            <a:off x="731520" y="1481328"/>
            <a:ext cx="420624" cy="420624"/>
          </a:xfrm>
          <a:prstGeom prst="ellipse">
            <a:avLst/>
          </a:prstGeom>
          <a:solidFill>
            <a:schemeClr val="tx1"/>
          </a:solidFill>
          <a:ln/>
        </p:spPr>
      </p:sp>
      <p:sp>
        <p:nvSpPr>
          <p:cNvPr id="5" name="Stage number text 1"/>
          <p:cNvSpPr txBox="1"/>
          <p:nvPr/>
        </p:nvSpPr>
        <p:spPr>
          <a:xfrm>
            <a:off x="731520" y="14813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tage name 1"/>
          <p:cNvSpPr txBox="1"/>
          <p:nvPr/>
        </p:nvSpPr>
        <p:spPr>
          <a:xfrm>
            <a:off x="1371600" y="1371600"/>
            <a:ext cx="2743200" cy="640080"/>
          </a:xfrm>
          <a:prstGeom prst="rect">
            <a:avLst/>
          </a:prstGeom>
          <a:noFill/>
          <a:ln/>
        </p:spPr>
        <p:txBody>
          <a:bodyPr wrap="square" lIns="0" tIns="0" rIns="0" bIns="0" rtlCol="0" anchor="ctr"/>
          <a:lstStyle/>
          <a:p>
            <a:pPr indent="0" marL="0">
              <a:buNone/>
            </a:pPr>
            <a:r>
              <a:rPr lang="en-US" sz="1600" b="1" dirty="0">
                <a:solidFill>
                  <a:schemeClr val="tx1"/>
                </a:solidFill>
              </a:rPr>
              <a:t>Input</a:t>
            </a:r>
            <a:endParaRPr lang="en-US" sz="1600" dirty="0"/>
          </a:p>
        </p:txBody>
      </p:sp>
      <p:sp>
        <p:nvSpPr>
          <p:cNvPr id="7" name="Stage text 1"/>
          <p:cNvSpPr txBox="1"/>
          <p:nvPr/>
        </p:nvSpPr>
        <p:spPr>
          <a:xfrm>
            <a:off x="4206240" y="1371600"/>
            <a:ext cx="4846320" cy="640080"/>
          </a:xfrm>
          <a:prstGeom prst="rect">
            <a:avLst/>
          </a:prstGeom>
          <a:noFill/>
          <a:ln/>
        </p:spPr>
        <p:txBody>
          <a:bodyPr wrap="square" lIns="0" tIns="0" rIns="0" bIns="0" rtlCol="0" anchor="ctr"/>
          <a:lstStyle/>
          <a:p>
            <a:pPr indent="0" marL="0">
              <a:buNone/>
            </a:pPr>
            <a:r>
              <a:rPr lang="en-US" sz="1400" dirty="0">
                <a:solidFill>
                  <a:schemeClr val="tx1"/>
                </a:solidFill>
              </a:rPr>
              <a:t>Student uploads a PDF containing college notices</a:t>
            </a:r>
            <a:endParaRPr lang="en-US" sz="1400" dirty="0"/>
          </a:p>
        </p:txBody>
      </p:sp>
      <p:sp>
        <p:nvSpPr>
          <p:cNvPr id="8" name="Stage tag 1"/>
          <p:cNvSpPr/>
          <p:nvPr/>
        </p:nvSpPr>
        <p:spPr>
          <a:xfrm>
            <a:off x="9326880" y="1536192"/>
            <a:ext cx="2103120" cy="310896"/>
          </a:xfrm>
          <a:prstGeom prst="roundRect">
            <a:avLst>
              <a:gd name="adj" fmla="val 50000"/>
            </a:avLst>
          </a:prstGeom>
          <a:solidFill>
            <a:schemeClr val="accent6"/>
          </a:solidFill>
          <a:ln/>
        </p:spPr>
      </p:sp>
      <p:sp>
        <p:nvSpPr>
          <p:cNvPr id="9" name="Stage tag 1 label"/>
          <p:cNvSpPr txBox="1"/>
          <p:nvPr/>
        </p:nvSpPr>
        <p:spPr>
          <a:xfrm>
            <a:off x="9326880" y="1536192"/>
            <a:ext cx="2103120" cy="310896"/>
          </a:xfrm>
          <a:prstGeom prst="rect">
            <a:avLst/>
          </a:prstGeom>
          <a:noFill/>
          <a:ln/>
        </p:spPr>
        <p:txBody>
          <a:bodyPr wrap="square" lIns="0" tIns="0" rIns="0" bIns="0" rtlCol="0" anchor="ctr"/>
          <a:lstStyle/>
          <a:p>
            <a:pPr algn="ctr" indent="0" marL="0">
              <a:buNone/>
            </a:pPr>
            <a:r>
              <a:rPr lang="en-US" sz="1200" b="1" dirty="0">
                <a:solidFill>
                  <a:schemeClr val="bg1"/>
                </a:solidFill>
              </a:rPr>
              <a:t>User action</a:t>
            </a:r>
            <a:endParaRPr lang="en-US" sz="1200" dirty="0"/>
          </a:p>
        </p:txBody>
      </p:sp>
      <p:sp>
        <p:nvSpPr>
          <p:cNvPr id="10" name="Stage arrow 1"/>
          <p:cNvSpPr/>
          <p:nvPr/>
        </p:nvSpPr>
        <p:spPr>
          <a:xfrm>
            <a:off x="822960" y="2011680"/>
            <a:ext cx="237744" cy="91440"/>
          </a:xfrm>
          <a:prstGeom prst="downArrow">
            <a:avLst/>
          </a:prstGeom>
          <a:solidFill>
            <a:schemeClr val="accent1"/>
          </a:solidFill>
          <a:ln/>
        </p:spPr>
      </p:sp>
      <p:sp>
        <p:nvSpPr>
          <p:cNvPr id="11" name="Stage row 2"/>
          <p:cNvSpPr/>
          <p:nvPr/>
        </p:nvSpPr>
        <p:spPr>
          <a:xfrm>
            <a:off x="548640" y="2103120"/>
            <a:ext cx="11064240" cy="640080"/>
          </a:xfrm>
          <a:prstGeom prst="roundRect">
            <a:avLst>
              <a:gd name="adj" fmla="val 20000"/>
            </a:avLst>
          </a:prstGeom>
          <a:solidFill>
            <a:schemeClr val="bg2"/>
          </a:solidFill>
          <a:ln/>
        </p:spPr>
      </p:sp>
      <p:sp>
        <p:nvSpPr>
          <p:cNvPr id="12" name="Stage number 2"/>
          <p:cNvSpPr/>
          <p:nvPr/>
        </p:nvSpPr>
        <p:spPr>
          <a:xfrm>
            <a:off x="731520" y="2212848"/>
            <a:ext cx="420624" cy="420624"/>
          </a:xfrm>
          <a:prstGeom prst="ellipse">
            <a:avLst/>
          </a:prstGeom>
          <a:solidFill>
            <a:schemeClr val="tx1"/>
          </a:solidFill>
          <a:ln/>
        </p:spPr>
      </p:sp>
      <p:sp>
        <p:nvSpPr>
          <p:cNvPr id="13" name="Stage number text 2"/>
          <p:cNvSpPr txBox="1"/>
          <p:nvPr/>
        </p:nvSpPr>
        <p:spPr>
          <a:xfrm>
            <a:off x="731520" y="22128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Stage name 2"/>
          <p:cNvSpPr txBox="1"/>
          <p:nvPr/>
        </p:nvSpPr>
        <p:spPr>
          <a:xfrm>
            <a:off x="1371600" y="2103120"/>
            <a:ext cx="2743200" cy="640080"/>
          </a:xfrm>
          <a:prstGeom prst="rect">
            <a:avLst/>
          </a:prstGeom>
          <a:noFill/>
          <a:ln/>
        </p:spPr>
        <p:txBody>
          <a:bodyPr wrap="square" lIns="0" tIns="0" rIns="0" bIns="0" rtlCol="0" anchor="ctr"/>
          <a:lstStyle/>
          <a:p>
            <a:pPr indent="0" marL="0">
              <a:buNone/>
            </a:pPr>
            <a:r>
              <a:rPr lang="en-US" sz="1600" b="1" dirty="0">
                <a:solidFill>
                  <a:schemeClr val="tx1"/>
                </a:solidFill>
              </a:rPr>
              <a:t>PDF text extraction</a:t>
            </a:r>
            <a:endParaRPr lang="en-US" sz="1600" dirty="0"/>
          </a:p>
        </p:txBody>
      </p:sp>
      <p:sp>
        <p:nvSpPr>
          <p:cNvPr id="15" name="Stage text 2"/>
          <p:cNvSpPr txBox="1"/>
          <p:nvPr/>
        </p:nvSpPr>
        <p:spPr>
          <a:xfrm>
            <a:off x="4206240" y="2103120"/>
            <a:ext cx="4846320" cy="640080"/>
          </a:xfrm>
          <a:prstGeom prst="rect">
            <a:avLst/>
          </a:prstGeom>
          <a:noFill/>
          <a:ln/>
        </p:spPr>
        <p:txBody>
          <a:bodyPr wrap="square" lIns="0" tIns="0" rIns="0" bIns="0" rtlCol="0" anchor="ctr"/>
          <a:lstStyle/>
          <a:p>
            <a:pPr indent="0" marL="0">
              <a:buNone/>
            </a:pPr>
            <a:r>
              <a:rPr lang="en-US" sz="1400" dirty="0">
                <a:solidFill>
                  <a:schemeClr val="tx1"/>
                </a:solidFill>
              </a:rPr>
              <a:t>PyMuPDF extracts readable text from the PDF</a:t>
            </a:r>
            <a:endParaRPr lang="en-US" sz="1400" dirty="0"/>
          </a:p>
        </p:txBody>
      </p:sp>
      <p:sp>
        <p:nvSpPr>
          <p:cNvPr id="16" name="Stage tag 2"/>
          <p:cNvSpPr/>
          <p:nvPr/>
        </p:nvSpPr>
        <p:spPr>
          <a:xfrm>
            <a:off x="9326880" y="2267712"/>
            <a:ext cx="2103120" cy="310896"/>
          </a:xfrm>
          <a:prstGeom prst="roundRect">
            <a:avLst>
              <a:gd name="adj" fmla="val 50000"/>
            </a:avLst>
          </a:prstGeom>
          <a:solidFill>
            <a:schemeClr val="accent1"/>
          </a:solidFill>
          <a:ln/>
        </p:spPr>
      </p:sp>
      <p:sp>
        <p:nvSpPr>
          <p:cNvPr id="17" name="Stage tag 2 label"/>
          <p:cNvSpPr txBox="1"/>
          <p:nvPr/>
        </p:nvSpPr>
        <p:spPr>
          <a:xfrm>
            <a:off x="9326880" y="2267712"/>
            <a:ext cx="2103120" cy="310896"/>
          </a:xfrm>
          <a:prstGeom prst="rect">
            <a:avLst/>
          </a:prstGeom>
          <a:noFill/>
          <a:ln/>
        </p:spPr>
        <p:txBody>
          <a:bodyPr wrap="square" lIns="0" tIns="0" rIns="0" bIns="0" rtlCol="0" anchor="ctr"/>
          <a:lstStyle/>
          <a:p>
            <a:pPr algn="ctr" indent="0" marL="0">
              <a:buNone/>
            </a:pPr>
            <a:r>
              <a:rPr lang="en-US" sz="1200" b="1" dirty="0">
                <a:solidFill>
                  <a:schemeClr val="bg1"/>
                </a:solidFill>
              </a:rPr>
              <a:t>PyMuPDF</a:t>
            </a:r>
            <a:endParaRPr lang="en-US" sz="1200" dirty="0"/>
          </a:p>
        </p:txBody>
      </p:sp>
      <p:sp>
        <p:nvSpPr>
          <p:cNvPr id="18" name="Stage arrow 2"/>
          <p:cNvSpPr/>
          <p:nvPr/>
        </p:nvSpPr>
        <p:spPr>
          <a:xfrm>
            <a:off x="822960" y="2743200"/>
            <a:ext cx="237744" cy="91440"/>
          </a:xfrm>
          <a:prstGeom prst="downArrow">
            <a:avLst/>
          </a:prstGeom>
          <a:solidFill>
            <a:schemeClr val="accent1"/>
          </a:solidFill>
          <a:ln/>
        </p:spPr>
      </p:sp>
      <p:sp>
        <p:nvSpPr>
          <p:cNvPr id="19" name="Stage row 3"/>
          <p:cNvSpPr/>
          <p:nvPr/>
        </p:nvSpPr>
        <p:spPr>
          <a:xfrm>
            <a:off x="548640" y="2834640"/>
            <a:ext cx="11064240" cy="640080"/>
          </a:xfrm>
          <a:prstGeom prst="roundRect">
            <a:avLst>
              <a:gd name="adj" fmla="val 20000"/>
            </a:avLst>
          </a:prstGeom>
          <a:solidFill>
            <a:schemeClr val="bg2"/>
          </a:solidFill>
          <a:ln/>
        </p:spPr>
      </p:sp>
      <p:sp>
        <p:nvSpPr>
          <p:cNvPr id="20" name="Stage number 3"/>
          <p:cNvSpPr/>
          <p:nvPr/>
        </p:nvSpPr>
        <p:spPr>
          <a:xfrm>
            <a:off x="731520" y="2944368"/>
            <a:ext cx="420624" cy="420624"/>
          </a:xfrm>
          <a:prstGeom prst="ellipse">
            <a:avLst/>
          </a:prstGeom>
          <a:solidFill>
            <a:schemeClr val="tx1"/>
          </a:solidFill>
          <a:ln/>
        </p:spPr>
      </p:sp>
      <p:sp>
        <p:nvSpPr>
          <p:cNvPr id="21" name="Stage number text 3"/>
          <p:cNvSpPr txBox="1"/>
          <p:nvPr/>
        </p:nvSpPr>
        <p:spPr>
          <a:xfrm>
            <a:off x="731520" y="29443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Stage name 3"/>
          <p:cNvSpPr txBox="1"/>
          <p:nvPr/>
        </p:nvSpPr>
        <p:spPr>
          <a:xfrm>
            <a:off x="1371600" y="2834640"/>
            <a:ext cx="2743200" cy="640080"/>
          </a:xfrm>
          <a:prstGeom prst="rect">
            <a:avLst/>
          </a:prstGeom>
          <a:noFill/>
          <a:ln/>
        </p:spPr>
        <p:txBody>
          <a:bodyPr wrap="square" lIns="0" tIns="0" rIns="0" bIns="0" rtlCol="0" anchor="ctr"/>
          <a:lstStyle/>
          <a:p>
            <a:pPr indent="0" marL="0">
              <a:buNone/>
            </a:pPr>
            <a:r>
              <a:rPr lang="en-US" sz="1600" b="1" dirty="0">
                <a:solidFill>
                  <a:schemeClr val="tx1"/>
                </a:solidFill>
              </a:rPr>
              <a:t>Notice segmentation</a:t>
            </a:r>
            <a:endParaRPr lang="en-US" sz="1600" dirty="0"/>
          </a:p>
        </p:txBody>
      </p:sp>
      <p:sp>
        <p:nvSpPr>
          <p:cNvPr id="23" name="Stage text 3"/>
          <p:cNvSpPr txBox="1"/>
          <p:nvPr/>
        </p:nvSpPr>
        <p:spPr>
          <a:xfrm>
            <a:off x="4206240" y="2834640"/>
            <a:ext cx="4846320" cy="640080"/>
          </a:xfrm>
          <a:prstGeom prst="rect">
            <a:avLst/>
          </a:prstGeom>
          <a:noFill/>
          <a:ln/>
        </p:spPr>
        <p:txBody>
          <a:bodyPr wrap="square" lIns="0" tIns="0" rIns="0" bIns="0" rtlCol="0" anchor="ctr"/>
          <a:lstStyle/>
          <a:p>
            <a:pPr indent="0" marL="0">
              <a:buNone/>
            </a:pPr>
            <a:r>
              <a:rPr lang="en-US" sz="1400" dirty="0">
                <a:solidFill>
                  <a:schemeClr val="tx1"/>
                </a:solidFill>
              </a:rPr>
              <a:t>Python separates the text into individual notices</a:t>
            </a:r>
            <a:endParaRPr lang="en-US" sz="1400" dirty="0"/>
          </a:p>
        </p:txBody>
      </p:sp>
      <p:sp>
        <p:nvSpPr>
          <p:cNvPr id="24" name="Stage tag 3"/>
          <p:cNvSpPr/>
          <p:nvPr/>
        </p:nvSpPr>
        <p:spPr>
          <a:xfrm>
            <a:off x="9326880" y="2999232"/>
            <a:ext cx="2103120" cy="310896"/>
          </a:xfrm>
          <a:prstGeom prst="roundRect">
            <a:avLst>
              <a:gd name="adj" fmla="val 50000"/>
            </a:avLst>
          </a:prstGeom>
          <a:solidFill>
            <a:schemeClr val="accent1"/>
          </a:solidFill>
          <a:ln/>
        </p:spPr>
      </p:sp>
      <p:sp>
        <p:nvSpPr>
          <p:cNvPr id="25" name="Stage tag 3 label"/>
          <p:cNvSpPr txBox="1"/>
          <p:nvPr/>
        </p:nvSpPr>
        <p:spPr>
          <a:xfrm>
            <a:off x="9326880" y="2999232"/>
            <a:ext cx="2103120" cy="310896"/>
          </a:xfrm>
          <a:prstGeom prst="rect">
            <a:avLst/>
          </a:prstGeom>
          <a:noFill/>
          <a:ln/>
        </p:spPr>
        <p:txBody>
          <a:bodyPr wrap="square" lIns="0" tIns="0" rIns="0" bIns="0" rtlCol="0" anchor="ctr"/>
          <a:lstStyle/>
          <a:p>
            <a:pPr algn="ctr" indent="0" marL="0">
              <a:buNone/>
            </a:pPr>
            <a:r>
              <a:rPr lang="en-US" sz="1200" b="1" dirty="0">
                <a:solidFill>
                  <a:schemeClr val="bg1"/>
                </a:solidFill>
              </a:rPr>
              <a:t>Python</a:t>
            </a:r>
            <a:endParaRPr lang="en-US" sz="1200" dirty="0"/>
          </a:p>
        </p:txBody>
      </p:sp>
      <p:sp>
        <p:nvSpPr>
          <p:cNvPr id="26" name="Stage arrow 3"/>
          <p:cNvSpPr/>
          <p:nvPr/>
        </p:nvSpPr>
        <p:spPr>
          <a:xfrm>
            <a:off x="822960" y="3474720"/>
            <a:ext cx="237744" cy="91440"/>
          </a:xfrm>
          <a:prstGeom prst="downArrow">
            <a:avLst/>
          </a:prstGeom>
          <a:solidFill>
            <a:schemeClr val="accent1"/>
          </a:solidFill>
          <a:ln/>
        </p:spPr>
      </p:sp>
      <p:sp>
        <p:nvSpPr>
          <p:cNvPr id="27" name="Stage row 4"/>
          <p:cNvSpPr/>
          <p:nvPr/>
        </p:nvSpPr>
        <p:spPr>
          <a:xfrm>
            <a:off x="548640" y="3566160"/>
            <a:ext cx="11064240" cy="640080"/>
          </a:xfrm>
          <a:prstGeom prst="roundRect">
            <a:avLst>
              <a:gd name="adj" fmla="val 20000"/>
            </a:avLst>
          </a:prstGeom>
          <a:solidFill>
            <a:schemeClr val="accent2">
              <a:alpha val="15000"/>
            </a:schemeClr>
          </a:solidFill>
          <a:ln w="19050">
            <a:solidFill>
              <a:schemeClr val="accent2"/>
            </a:solidFill>
            <a:prstDash val="solid"/>
          </a:ln>
        </p:spPr>
      </p:sp>
      <p:sp>
        <p:nvSpPr>
          <p:cNvPr id="28" name="Stage number 4"/>
          <p:cNvSpPr/>
          <p:nvPr/>
        </p:nvSpPr>
        <p:spPr>
          <a:xfrm>
            <a:off x="731520" y="3675888"/>
            <a:ext cx="420624" cy="420624"/>
          </a:xfrm>
          <a:prstGeom prst="ellipse">
            <a:avLst/>
          </a:prstGeom>
          <a:solidFill>
            <a:schemeClr val="tx1"/>
          </a:solidFill>
          <a:ln/>
        </p:spPr>
      </p:sp>
      <p:sp>
        <p:nvSpPr>
          <p:cNvPr id="29" name="Stage number text 4"/>
          <p:cNvSpPr txBox="1"/>
          <p:nvPr/>
        </p:nvSpPr>
        <p:spPr>
          <a:xfrm>
            <a:off x="731520" y="36758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Stage name 4"/>
          <p:cNvSpPr txBox="1"/>
          <p:nvPr/>
        </p:nvSpPr>
        <p:spPr>
          <a:xfrm>
            <a:off x="1371600" y="3566160"/>
            <a:ext cx="2743200" cy="640080"/>
          </a:xfrm>
          <a:prstGeom prst="rect">
            <a:avLst/>
          </a:prstGeom>
          <a:noFill/>
          <a:ln/>
        </p:spPr>
        <p:txBody>
          <a:bodyPr wrap="square" lIns="0" tIns="0" rIns="0" bIns="0" rtlCol="0" anchor="ctr"/>
          <a:lstStyle/>
          <a:p>
            <a:pPr indent="0" marL="0">
              <a:buNone/>
            </a:pPr>
            <a:r>
              <a:rPr lang="en-US" sz="1600" b="1" dirty="0">
                <a:solidFill>
                  <a:schemeClr val="tx1"/>
                </a:solidFill>
              </a:rPr>
              <a:t>Extraction &amp; AI analysis</a:t>
            </a:r>
            <a:endParaRPr lang="en-US" sz="1600" dirty="0"/>
          </a:p>
        </p:txBody>
      </p:sp>
      <p:sp>
        <p:nvSpPr>
          <p:cNvPr id="31" name="Stage text 4"/>
          <p:cNvSpPr txBox="1"/>
          <p:nvPr/>
        </p:nvSpPr>
        <p:spPr>
          <a:xfrm>
            <a:off x="4206240" y="3566160"/>
            <a:ext cx="4846320" cy="640080"/>
          </a:xfrm>
          <a:prstGeom prst="rect">
            <a:avLst/>
          </a:prstGeom>
          <a:noFill/>
          <a:ln/>
        </p:spPr>
        <p:txBody>
          <a:bodyPr wrap="square" lIns="0" tIns="0" rIns="0" bIns="0" rtlCol="0" anchor="ctr"/>
          <a:lstStyle/>
          <a:p>
            <a:pPr indent="0" marL="0">
              <a:buNone/>
            </a:pPr>
            <a:r>
              <a:rPr lang="en-US" sz="1400" dirty="0">
                <a:solidFill>
                  <a:schemeClr val="tx1"/>
                </a:solidFill>
              </a:rPr>
              <a:t>A Groq-hosted language model helps analyze notice content into structured details</a:t>
            </a:r>
            <a:endParaRPr lang="en-US" sz="1400" dirty="0"/>
          </a:p>
        </p:txBody>
      </p:sp>
      <p:sp>
        <p:nvSpPr>
          <p:cNvPr id="32" name="Stage tag 4"/>
          <p:cNvSpPr/>
          <p:nvPr/>
        </p:nvSpPr>
        <p:spPr>
          <a:xfrm>
            <a:off x="9326880" y="3730752"/>
            <a:ext cx="2103120" cy="310896"/>
          </a:xfrm>
          <a:prstGeom prst="roundRect">
            <a:avLst>
              <a:gd name="adj" fmla="val 50000"/>
            </a:avLst>
          </a:prstGeom>
          <a:solidFill>
            <a:schemeClr val="accent2"/>
          </a:solidFill>
          <a:ln/>
        </p:spPr>
      </p:sp>
      <p:sp>
        <p:nvSpPr>
          <p:cNvPr id="33" name="Stage tag 4 label"/>
          <p:cNvSpPr txBox="1"/>
          <p:nvPr/>
        </p:nvSpPr>
        <p:spPr>
          <a:xfrm>
            <a:off x="9326880" y="3730752"/>
            <a:ext cx="2103120" cy="310896"/>
          </a:xfrm>
          <a:prstGeom prst="rect">
            <a:avLst/>
          </a:prstGeom>
          <a:noFill/>
          <a:ln/>
        </p:spPr>
        <p:txBody>
          <a:bodyPr wrap="square" lIns="0" tIns="0" rIns="0" bIns="0" rtlCol="0" anchor="ctr"/>
          <a:lstStyle/>
          <a:p>
            <a:pPr algn="ctr" indent="0" marL="0">
              <a:buNone/>
            </a:pPr>
            <a:r>
              <a:rPr lang="en-US" sz="1200" b="1" dirty="0">
                <a:solidFill>
                  <a:schemeClr val="tx1"/>
                </a:solidFill>
              </a:rPr>
              <a:t>Groq LLM + Python</a:t>
            </a:r>
            <a:endParaRPr lang="en-US" sz="1200" dirty="0"/>
          </a:p>
        </p:txBody>
      </p:sp>
      <p:sp>
        <p:nvSpPr>
          <p:cNvPr id="34" name="Stage arrow 4"/>
          <p:cNvSpPr/>
          <p:nvPr/>
        </p:nvSpPr>
        <p:spPr>
          <a:xfrm>
            <a:off x="822960" y="4206240"/>
            <a:ext cx="237744" cy="91440"/>
          </a:xfrm>
          <a:prstGeom prst="downArrow">
            <a:avLst/>
          </a:prstGeom>
          <a:solidFill>
            <a:schemeClr val="accent1"/>
          </a:solidFill>
          <a:ln/>
        </p:spPr>
      </p:sp>
      <p:sp>
        <p:nvSpPr>
          <p:cNvPr id="35" name="Stage row 5"/>
          <p:cNvSpPr/>
          <p:nvPr/>
        </p:nvSpPr>
        <p:spPr>
          <a:xfrm>
            <a:off x="548640" y="4297680"/>
            <a:ext cx="11064240" cy="640080"/>
          </a:xfrm>
          <a:prstGeom prst="roundRect">
            <a:avLst>
              <a:gd name="adj" fmla="val 20000"/>
            </a:avLst>
          </a:prstGeom>
          <a:solidFill>
            <a:schemeClr val="bg2"/>
          </a:solidFill>
          <a:ln/>
        </p:spPr>
      </p:sp>
      <p:sp>
        <p:nvSpPr>
          <p:cNvPr id="36" name="Stage number 5"/>
          <p:cNvSpPr/>
          <p:nvPr/>
        </p:nvSpPr>
        <p:spPr>
          <a:xfrm>
            <a:off x="731520" y="4407408"/>
            <a:ext cx="420624" cy="420624"/>
          </a:xfrm>
          <a:prstGeom prst="ellipse">
            <a:avLst/>
          </a:prstGeom>
          <a:solidFill>
            <a:schemeClr val="tx1"/>
          </a:solidFill>
          <a:ln/>
        </p:spPr>
      </p:sp>
      <p:sp>
        <p:nvSpPr>
          <p:cNvPr id="37" name="Stage number text 5"/>
          <p:cNvSpPr txBox="1"/>
          <p:nvPr/>
        </p:nvSpPr>
        <p:spPr>
          <a:xfrm>
            <a:off x="731520" y="44074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8" name="Stage name 5"/>
          <p:cNvSpPr txBox="1"/>
          <p:nvPr/>
        </p:nvSpPr>
        <p:spPr>
          <a:xfrm>
            <a:off x="1371600" y="4297680"/>
            <a:ext cx="2743200" cy="640080"/>
          </a:xfrm>
          <a:prstGeom prst="rect">
            <a:avLst/>
          </a:prstGeom>
          <a:noFill/>
          <a:ln/>
        </p:spPr>
        <p:txBody>
          <a:bodyPr wrap="square" lIns="0" tIns="0" rIns="0" bIns="0" rtlCol="0" anchor="ctr"/>
          <a:lstStyle/>
          <a:p>
            <a:pPr indent="0" marL="0">
              <a:buNone/>
            </a:pPr>
            <a:r>
              <a:rPr lang="en-US" sz="1600" b="1" dirty="0">
                <a:solidFill>
                  <a:schemeClr val="tx1"/>
                </a:solidFill>
              </a:rPr>
              <a:t>Validation &amp; relevance</a:t>
            </a:r>
            <a:endParaRPr lang="en-US" sz="1600" dirty="0"/>
          </a:p>
        </p:txBody>
      </p:sp>
      <p:sp>
        <p:nvSpPr>
          <p:cNvPr id="39" name="Stage text 5"/>
          <p:cNvSpPr txBox="1"/>
          <p:nvPr/>
        </p:nvSpPr>
        <p:spPr>
          <a:xfrm>
            <a:off x="4206240" y="4297680"/>
            <a:ext cx="4846320" cy="640080"/>
          </a:xfrm>
          <a:prstGeom prst="rect">
            <a:avLst/>
          </a:prstGeom>
          <a:noFill/>
          <a:ln/>
        </p:spPr>
        <p:txBody>
          <a:bodyPr wrap="square" lIns="0" tIns="0" rIns="0" bIns="0" rtlCol="0" anchor="ctr"/>
          <a:lstStyle/>
          <a:p>
            <a:pPr indent="0" marL="0">
              <a:buNone/>
            </a:pPr>
            <a:r>
              <a:rPr lang="en-US" sz="1400" dirty="0">
                <a:solidFill>
                  <a:schemeClr val="tx1"/>
                </a:solidFill>
              </a:rPr>
              <a:t>Python logic checks details, matches the student profile and assigns priority</a:t>
            </a:r>
            <a:endParaRPr lang="en-US" sz="1400" dirty="0"/>
          </a:p>
        </p:txBody>
      </p:sp>
      <p:sp>
        <p:nvSpPr>
          <p:cNvPr id="40" name="Stage tag 5"/>
          <p:cNvSpPr/>
          <p:nvPr/>
        </p:nvSpPr>
        <p:spPr>
          <a:xfrm>
            <a:off x="9326880" y="4462272"/>
            <a:ext cx="2103120" cy="310896"/>
          </a:xfrm>
          <a:prstGeom prst="roundRect">
            <a:avLst>
              <a:gd name="adj" fmla="val 50000"/>
            </a:avLst>
          </a:prstGeom>
          <a:solidFill>
            <a:schemeClr val="accent1"/>
          </a:solidFill>
          <a:ln/>
        </p:spPr>
      </p:sp>
      <p:sp>
        <p:nvSpPr>
          <p:cNvPr id="41" name="Stage tag 5 label"/>
          <p:cNvSpPr txBox="1"/>
          <p:nvPr/>
        </p:nvSpPr>
        <p:spPr>
          <a:xfrm>
            <a:off x="9326880" y="4462272"/>
            <a:ext cx="2103120" cy="310896"/>
          </a:xfrm>
          <a:prstGeom prst="rect">
            <a:avLst/>
          </a:prstGeom>
          <a:noFill/>
          <a:ln/>
        </p:spPr>
        <p:txBody>
          <a:bodyPr wrap="square" lIns="0" tIns="0" rIns="0" bIns="0" rtlCol="0" anchor="ctr"/>
          <a:lstStyle/>
          <a:p>
            <a:pPr algn="ctr" indent="0" marL="0">
              <a:buNone/>
            </a:pPr>
            <a:r>
              <a:rPr lang="en-US" sz="1200" b="1" dirty="0">
                <a:solidFill>
                  <a:schemeClr val="bg1"/>
                </a:solidFill>
              </a:rPr>
              <a:t>Python rules</a:t>
            </a:r>
            <a:endParaRPr lang="en-US" sz="1200" dirty="0"/>
          </a:p>
        </p:txBody>
      </p:sp>
      <p:sp>
        <p:nvSpPr>
          <p:cNvPr id="42" name="Stage arrow 5"/>
          <p:cNvSpPr/>
          <p:nvPr/>
        </p:nvSpPr>
        <p:spPr>
          <a:xfrm>
            <a:off x="822960" y="4937760"/>
            <a:ext cx="237744" cy="91440"/>
          </a:xfrm>
          <a:prstGeom prst="downArrow">
            <a:avLst/>
          </a:prstGeom>
          <a:solidFill>
            <a:schemeClr val="accent1"/>
          </a:solidFill>
          <a:ln/>
        </p:spPr>
      </p:sp>
      <p:sp>
        <p:nvSpPr>
          <p:cNvPr id="43" name="Stage row 6"/>
          <p:cNvSpPr/>
          <p:nvPr/>
        </p:nvSpPr>
        <p:spPr>
          <a:xfrm>
            <a:off x="548640" y="5029200"/>
            <a:ext cx="11064240" cy="640080"/>
          </a:xfrm>
          <a:prstGeom prst="roundRect">
            <a:avLst>
              <a:gd name="adj" fmla="val 20000"/>
            </a:avLst>
          </a:prstGeom>
          <a:solidFill>
            <a:schemeClr val="bg2"/>
          </a:solidFill>
          <a:ln/>
        </p:spPr>
      </p:sp>
      <p:sp>
        <p:nvSpPr>
          <p:cNvPr id="44" name="Stage number 6"/>
          <p:cNvSpPr/>
          <p:nvPr/>
        </p:nvSpPr>
        <p:spPr>
          <a:xfrm>
            <a:off x="731520" y="5138928"/>
            <a:ext cx="420624" cy="420624"/>
          </a:xfrm>
          <a:prstGeom prst="ellipse">
            <a:avLst/>
          </a:prstGeom>
          <a:solidFill>
            <a:schemeClr val="tx1"/>
          </a:solidFill>
          <a:ln/>
        </p:spPr>
      </p:sp>
      <p:sp>
        <p:nvSpPr>
          <p:cNvPr id="45" name="Stage number text 6"/>
          <p:cNvSpPr txBox="1"/>
          <p:nvPr/>
        </p:nvSpPr>
        <p:spPr>
          <a:xfrm>
            <a:off x="731520" y="5138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6" name="Stage name 6"/>
          <p:cNvSpPr txBox="1"/>
          <p:nvPr/>
        </p:nvSpPr>
        <p:spPr>
          <a:xfrm>
            <a:off x="1371600" y="5029200"/>
            <a:ext cx="2743200" cy="640080"/>
          </a:xfrm>
          <a:prstGeom prst="rect">
            <a:avLst/>
          </a:prstGeom>
          <a:noFill/>
          <a:ln/>
        </p:spPr>
        <p:txBody>
          <a:bodyPr wrap="square" lIns="0" tIns="0" rIns="0" bIns="0" rtlCol="0" anchor="ctr"/>
          <a:lstStyle/>
          <a:p>
            <a:pPr indent="0" marL="0">
              <a:buNone/>
            </a:pPr>
            <a:r>
              <a:rPr lang="en-US" sz="1600" b="1" dirty="0">
                <a:solidFill>
                  <a:schemeClr val="tx1"/>
                </a:solidFill>
              </a:rPr>
              <a:t>Student dashboard</a:t>
            </a:r>
            <a:endParaRPr lang="en-US" sz="1600" dirty="0"/>
          </a:p>
        </p:txBody>
      </p:sp>
      <p:sp>
        <p:nvSpPr>
          <p:cNvPr id="47" name="Stage text 6"/>
          <p:cNvSpPr txBox="1"/>
          <p:nvPr/>
        </p:nvSpPr>
        <p:spPr>
          <a:xfrm>
            <a:off x="4206240" y="5029200"/>
            <a:ext cx="4846320" cy="640080"/>
          </a:xfrm>
          <a:prstGeom prst="rect">
            <a:avLst/>
          </a:prstGeom>
          <a:noFill/>
          <a:ln/>
        </p:spPr>
        <p:txBody>
          <a:bodyPr wrap="square" lIns="0" tIns="0" rIns="0" bIns="0" rtlCol="0" anchor="ctr"/>
          <a:lstStyle/>
          <a:p>
            <a:pPr indent="0" marL="0">
              <a:buNone/>
            </a:pPr>
            <a:r>
              <a:rPr lang="en-US" sz="1400" dirty="0">
                <a:solidFill>
                  <a:schemeClr val="tx1"/>
                </a:solidFill>
              </a:rPr>
              <a:t>Streamlit shows structured notice cards with required actions</a:t>
            </a:r>
            <a:endParaRPr lang="en-US" sz="1400" dirty="0"/>
          </a:p>
        </p:txBody>
      </p:sp>
      <p:sp>
        <p:nvSpPr>
          <p:cNvPr id="48" name="Stage tag 6"/>
          <p:cNvSpPr/>
          <p:nvPr/>
        </p:nvSpPr>
        <p:spPr>
          <a:xfrm>
            <a:off x="9326880" y="5193792"/>
            <a:ext cx="2103120" cy="310896"/>
          </a:xfrm>
          <a:prstGeom prst="roundRect">
            <a:avLst>
              <a:gd name="adj" fmla="val 50000"/>
            </a:avLst>
          </a:prstGeom>
          <a:solidFill>
            <a:schemeClr val="tx1"/>
          </a:solidFill>
          <a:ln/>
        </p:spPr>
      </p:sp>
      <p:sp>
        <p:nvSpPr>
          <p:cNvPr id="49" name="Stage tag 6 label"/>
          <p:cNvSpPr txBox="1"/>
          <p:nvPr/>
        </p:nvSpPr>
        <p:spPr>
          <a:xfrm>
            <a:off x="9326880" y="5193792"/>
            <a:ext cx="2103120" cy="310896"/>
          </a:xfrm>
          <a:prstGeom prst="rect">
            <a:avLst/>
          </a:prstGeom>
          <a:noFill/>
          <a:ln/>
        </p:spPr>
        <p:txBody>
          <a:bodyPr wrap="square" lIns="0" tIns="0" rIns="0" bIns="0" rtlCol="0" anchor="ctr"/>
          <a:lstStyle/>
          <a:p>
            <a:pPr algn="ctr" indent="0" marL="0">
              <a:buNone/>
            </a:pPr>
            <a:r>
              <a:rPr lang="en-US" sz="1200" b="1" dirty="0">
                <a:solidFill>
                  <a:schemeClr val="bg1"/>
                </a:solidFill>
              </a:rPr>
              <a:t>Streamlit</a:t>
            </a:r>
            <a:endParaRPr lang="en-US" sz="1200" dirty="0"/>
          </a:p>
        </p:txBody>
      </p:sp>
      <p:sp>
        <p:nvSpPr>
          <p:cNvPr id="50" name="Legend AI dot"/>
          <p:cNvSpPr/>
          <p:nvPr/>
        </p:nvSpPr>
        <p:spPr>
          <a:xfrm>
            <a:off x="548640" y="5943600"/>
            <a:ext cx="182880" cy="182880"/>
          </a:xfrm>
          <a:prstGeom prst="ellipse">
            <a:avLst/>
          </a:prstGeom>
          <a:solidFill>
            <a:schemeClr val="accent2"/>
          </a:solidFill>
          <a:ln/>
        </p:spPr>
      </p:sp>
      <p:sp>
        <p:nvSpPr>
          <p:cNvPr id="51" name="Legend AI"/>
          <p:cNvSpPr txBox="1"/>
          <p:nvPr/>
        </p:nvSpPr>
        <p:spPr>
          <a:xfrm>
            <a:off x="822960" y="5897880"/>
            <a:ext cx="3108960" cy="274320"/>
          </a:xfrm>
          <a:prstGeom prst="rect">
            <a:avLst/>
          </a:prstGeom>
          <a:noFill/>
          <a:ln/>
        </p:spPr>
        <p:txBody>
          <a:bodyPr wrap="square" lIns="0" tIns="0" rIns="0" bIns="0" rtlCol="0" anchor="ctr"/>
          <a:lstStyle/>
          <a:p>
            <a:pPr indent="0" marL="0">
              <a:buNone/>
            </a:pPr>
            <a:r>
              <a:rPr lang="en-US" sz="1400" dirty="0">
                <a:solidFill>
                  <a:schemeClr val="tx1"/>
                </a:solidFill>
              </a:rPr>
              <a:t>AI-assisted language understanding</a:t>
            </a:r>
            <a:endParaRPr lang="en-US" sz="1400" dirty="0"/>
          </a:p>
        </p:txBody>
      </p:sp>
      <p:sp>
        <p:nvSpPr>
          <p:cNvPr id="52" name="Legend Python dot"/>
          <p:cNvSpPr/>
          <p:nvPr/>
        </p:nvSpPr>
        <p:spPr>
          <a:xfrm>
            <a:off x="4114800" y="5943600"/>
            <a:ext cx="182880" cy="182880"/>
          </a:xfrm>
          <a:prstGeom prst="ellipse">
            <a:avLst/>
          </a:prstGeom>
          <a:solidFill>
            <a:schemeClr val="accent1"/>
          </a:solidFill>
          <a:ln/>
        </p:spPr>
      </p:sp>
      <p:sp>
        <p:nvSpPr>
          <p:cNvPr id="53" name="Legend Python"/>
          <p:cNvSpPr txBox="1"/>
          <p:nvPr/>
        </p:nvSpPr>
        <p:spPr>
          <a:xfrm>
            <a:off x="4389120" y="5897880"/>
            <a:ext cx="3840480" cy="274320"/>
          </a:xfrm>
          <a:prstGeom prst="rect">
            <a:avLst/>
          </a:prstGeom>
          <a:noFill/>
          <a:ln/>
        </p:spPr>
        <p:txBody>
          <a:bodyPr wrap="square" lIns="0" tIns="0" rIns="0" bIns="0" rtlCol="0" anchor="ctr"/>
          <a:lstStyle/>
          <a:p>
            <a:pPr indent="0" marL="0">
              <a:buNone/>
            </a:pPr>
            <a:r>
              <a:rPr lang="en-US" sz="1400" dirty="0">
                <a:solidFill>
                  <a:schemeClr val="tx1"/>
                </a:solidFill>
              </a:rPr>
              <a:t>Conventional Python processing and rules</a:t>
            </a:r>
            <a:endParaRPr lang="en-US" sz="1400" dirty="0"/>
          </a:p>
        </p:txBody>
      </p:sp>
      <p:sp>
        <p:nvSpPr>
          <p:cNvPr id="54" name="Legend hybrid"/>
          <p:cNvSpPr txBox="1"/>
          <p:nvPr/>
        </p:nvSpPr>
        <p:spPr>
          <a:xfrm>
            <a:off x="8686800" y="5897880"/>
            <a:ext cx="2926080" cy="274320"/>
          </a:xfrm>
          <a:prstGeom prst="rect">
            <a:avLst/>
          </a:prstGeom>
          <a:noFill/>
          <a:ln/>
        </p:spPr>
        <p:txBody>
          <a:bodyPr wrap="square" lIns="0" tIns="0" rIns="0" bIns="0" rtlCol="0" anchor="ctr"/>
          <a:lstStyle/>
          <a:p>
            <a:pPr algn="r" indent="0" marL="0">
              <a:buNone/>
            </a:pPr>
            <a:r>
              <a:rPr lang="en-US" sz="1400" b="1" dirty="0">
                <a:solidFill>
                  <a:schemeClr val="accent1"/>
                </a:solidFill>
              </a:rPr>
              <a:t>A hybrid approach</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Personalization and Prioritization</a:t>
            </a:r>
            <a:endParaRPr lang="en-US" sz="3600" dirty="0"/>
          </a:p>
        </p:txBody>
      </p:sp>
      <p:sp>
        <p:nvSpPr>
          <p:cNvPr id="3" name="Profile card"/>
          <p:cNvSpPr/>
          <p:nvPr/>
        </p:nvSpPr>
        <p:spPr>
          <a:xfrm>
            <a:off x="548640" y="1463040"/>
            <a:ext cx="5120640" cy="4206240"/>
          </a:xfrm>
          <a:prstGeom prst="roundRect">
            <a:avLst>
              <a:gd name="adj" fmla="val 3043"/>
            </a:avLst>
          </a:prstGeom>
          <a:solidFill>
            <a:schemeClr val="bg2"/>
          </a:solidFill>
          <a:ln/>
        </p:spPr>
      </p:sp>
      <p:sp>
        <p:nvSpPr>
          <p:cNvPr id="4" name="Profile heading"/>
          <p:cNvSpPr txBox="1"/>
          <p:nvPr/>
        </p:nvSpPr>
        <p:spPr>
          <a:xfrm>
            <a:off x="822960" y="1645920"/>
            <a:ext cx="4572000" cy="411480"/>
          </a:xfrm>
          <a:prstGeom prst="rect">
            <a:avLst/>
          </a:prstGeom>
          <a:noFill/>
          <a:ln/>
        </p:spPr>
        <p:txBody>
          <a:bodyPr wrap="square" lIns="0" tIns="0" rIns="0" bIns="0" rtlCol="0" anchor="t"/>
          <a:lstStyle/>
          <a:p>
            <a:pPr indent="0" marL="0">
              <a:buNone/>
            </a:pPr>
            <a:r>
              <a:rPr lang="en-US" sz="2200" b="1" dirty="0">
                <a:solidFill>
                  <a:schemeClr val="tx1"/>
                </a:solidFill>
              </a:rPr>
              <a:t>Profile-based relevance</a:t>
            </a:r>
            <a:endParaRPr lang="en-US" sz="2200" dirty="0"/>
          </a:p>
        </p:txBody>
      </p:sp>
      <p:sp>
        <p:nvSpPr>
          <p:cNvPr id="5" name="Profile flow 1"/>
          <p:cNvSpPr/>
          <p:nvPr/>
        </p:nvSpPr>
        <p:spPr>
          <a:xfrm>
            <a:off x="822960" y="2240280"/>
            <a:ext cx="4572000" cy="640080"/>
          </a:xfrm>
          <a:prstGeom prst="roundRect">
            <a:avLst>
              <a:gd name="adj" fmla="val 20000"/>
            </a:avLst>
          </a:prstGeom>
          <a:solidFill>
            <a:schemeClr val="bg1"/>
          </a:solidFill>
          <a:ln/>
          <a:effectLst>
            <a:outerShdw sx="100000" sy="100000" kx="0" ky="0" algn="bl" rotWithShape="0" blurRad="101600" dist="25400" dir="5400000">
              <a:srgbClr val="000000">
                <a:alpha val="14000"/>
              </a:srgbClr>
            </a:outerShdw>
          </a:effectLst>
        </p:spPr>
      </p:sp>
      <p:sp>
        <p:nvSpPr>
          <p:cNvPr id="6" name="Profile flow text 1"/>
          <p:cNvSpPr txBox="1"/>
          <p:nvPr/>
        </p:nvSpPr>
        <p:spPr>
          <a:xfrm>
            <a:off x="822960" y="2240280"/>
            <a:ext cx="4572000" cy="640080"/>
          </a:xfrm>
          <a:prstGeom prst="rect">
            <a:avLst/>
          </a:prstGeom>
          <a:noFill/>
          <a:ln/>
        </p:spPr>
        <p:txBody>
          <a:bodyPr wrap="square" lIns="0" tIns="0" rIns="0" bIns="0" rtlCol="0" anchor="ctr"/>
          <a:lstStyle/>
          <a:p>
            <a:pPr algn="ctr" indent="0" marL="0">
              <a:buNone/>
            </a:pPr>
            <a:r>
              <a:rPr lang="en-US" sz="1800" b="1" dirty="0">
                <a:solidFill>
                  <a:schemeClr val="tx1"/>
                </a:solidFill>
              </a:rPr>
              <a:t>Student profile</a:t>
            </a:r>
            <a:endParaRPr lang="en-US" sz="1800" dirty="0"/>
          </a:p>
        </p:txBody>
      </p:sp>
      <p:sp>
        <p:nvSpPr>
          <p:cNvPr id="7" name="Profile flow arrow 1"/>
          <p:cNvSpPr/>
          <p:nvPr/>
        </p:nvSpPr>
        <p:spPr>
          <a:xfrm>
            <a:off x="2971800" y="2916936"/>
            <a:ext cx="274320" cy="292608"/>
          </a:xfrm>
          <a:prstGeom prst="downArrow">
            <a:avLst/>
          </a:prstGeom>
          <a:solidFill>
            <a:schemeClr val="accent1"/>
          </a:solidFill>
          <a:ln/>
        </p:spPr>
      </p:sp>
      <p:sp>
        <p:nvSpPr>
          <p:cNvPr id="8" name="Profile flow 2"/>
          <p:cNvSpPr/>
          <p:nvPr/>
        </p:nvSpPr>
        <p:spPr>
          <a:xfrm>
            <a:off x="822960" y="3246120"/>
            <a:ext cx="4572000" cy="640080"/>
          </a:xfrm>
          <a:prstGeom prst="roundRect">
            <a:avLst>
              <a:gd name="adj" fmla="val 20000"/>
            </a:avLst>
          </a:prstGeom>
          <a:solidFill>
            <a:schemeClr val="bg1"/>
          </a:solidFill>
          <a:ln/>
          <a:effectLst>
            <a:outerShdw sx="100000" sy="100000" kx="0" ky="0" algn="bl" rotWithShape="0" blurRad="101600" dist="25400" dir="5400000">
              <a:srgbClr val="000000">
                <a:alpha val="14000"/>
              </a:srgbClr>
            </a:outerShdw>
          </a:effectLst>
        </p:spPr>
      </p:sp>
      <p:sp>
        <p:nvSpPr>
          <p:cNvPr id="9" name="Profile flow text 2"/>
          <p:cNvSpPr txBox="1"/>
          <p:nvPr/>
        </p:nvSpPr>
        <p:spPr>
          <a:xfrm>
            <a:off x="822960" y="3246120"/>
            <a:ext cx="4572000" cy="640080"/>
          </a:xfrm>
          <a:prstGeom prst="rect">
            <a:avLst/>
          </a:prstGeom>
          <a:noFill/>
          <a:ln/>
        </p:spPr>
        <p:txBody>
          <a:bodyPr wrap="square" lIns="0" tIns="0" rIns="0" bIns="0" rtlCol="0" anchor="ctr"/>
          <a:lstStyle/>
          <a:p>
            <a:pPr algn="ctr" indent="0" marL="0">
              <a:buNone/>
            </a:pPr>
            <a:r>
              <a:rPr lang="en-US" sz="1800" b="1" dirty="0">
                <a:solidFill>
                  <a:schemeClr val="tx1"/>
                </a:solidFill>
              </a:rPr>
              <a:t>Each notice compared</a:t>
            </a:r>
            <a:endParaRPr lang="en-US" sz="1800" dirty="0"/>
          </a:p>
        </p:txBody>
      </p:sp>
      <p:sp>
        <p:nvSpPr>
          <p:cNvPr id="10" name="Profile flow arrow 2"/>
          <p:cNvSpPr/>
          <p:nvPr/>
        </p:nvSpPr>
        <p:spPr>
          <a:xfrm>
            <a:off x="2971800" y="3922776"/>
            <a:ext cx="274320" cy="292608"/>
          </a:xfrm>
          <a:prstGeom prst="downArrow">
            <a:avLst/>
          </a:prstGeom>
          <a:solidFill>
            <a:schemeClr val="accent1"/>
          </a:solidFill>
          <a:ln/>
        </p:spPr>
      </p:sp>
      <p:sp>
        <p:nvSpPr>
          <p:cNvPr id="11" name="Profile flow 3"/>
          <p:cNvSpPr/>
          <p:nvPr/>
        </p:nvSpPr>
        <p:spPr>
          <a:xfrm>
            <a:off x="822960" y="4251960"/>
            <a:ext cx="4572000" cy="640080"/>
          </a:xfrm>
          <a:prstGeom prst="roundRect">
            <a:avLst>
              <a:gd name="adj" fmla="val 20000"/>
            </a:avLst>
          </a:prstGeom>
          <a:solidFill>
            <a:schemeClr val="accent1"/>
          </a:solidFill>
          <a:ln/>
        </p:spPr>
      </p:sp>
      <p:sp>
        <p:nvSpPr>
          <p:cNvPr id="12" name="Profile flow text 3"/>
          <p:cNvSpPr txBox="1"/>
          <p:nvPr/>
        </p:nvSpPr>
        <p:spPr>
          <a:xfrm>
            <a:off x="822960" y="4251960"/>
            <a:ext cx="4572000" cy="640080"/>
          </a:xfrm>
          <a:prstGeom prst="rect">
            <a:avLst/>
          </a:prstGeom>
          <a:noFill/>
          <a:ln/>
        </p:spPr>
        <p:txBody>
          <a:bodyPr wrap="square" lIns="0" tIns="0" rIns="0" bIns="0" rtlCol="0" anchor="ctr"/>
          <a:lstStyle/>
          <a:p>
            <a:pPr algn="ctr" indent="0" marL="0">
              <a:buNone/>
            </a:pPr>
            <a:r>
              <a:rPr lang="en-US" sz="1800" b="1" dirty="0">
                <a:solidFill>
                  <a:schemeClr val="bg1"/>
                </a:solidFill>
              </a:rPr>
              <a:t>Relevant notices surface</a:t>
            </a:r>
            <a:endParaRPr lang="en-US" sz="1800" dirty="0"/>
          </a:p>
        </p:txBody>
      </p:sp>
      <p:sp>
        <p:nvSpPr>
          <p:cNvPr id="13" name="Profile note"/>
          <p:cNvSpPr txBox="1"/>
          <p:nvPr/>
        </p:nvSpPr>
        <p:spPr>
          <a:xfrm>
            <a:off x="822960" y="5074920"/>
            <a:ext cx="4572000" cy="502920"/>
          </a:xfrm>
          <a:prstGeom prst="rect">
            <a:avLst/>
          </a:prstGeom>
          <a:noFill/>
          <a:ln/>
        </p:spPr>
        <p:txBody>
          <a:bodyPr wrap="square" lIns="0" tIns="0" rIns="0" bIns="0" rtlCol="0" anchor="t"/>
          <a:lstStyle/>
          <a:p>
            <a:pPr indent="0" marL="0">
              <a:buNone/>
            </a:pPr>
            <a:r>
              <a:rPr lang="en-US" sz="1400" dirty="0">
                <a:solidFill>
                  <a:schemeClr val="accent6"/>
                </a:solidFill>
              </a:rPr>
              <a:t>Python logic matches notice details against the student's profile.</a:t>
            </a:r>
            <a:endParaRPr lang="en-US" sz="1400" dirty="0"/>
          </a:p>
        </p:txBody>
      </p:sp>
      <p:sp>
        <p:nvSpPr>
          <p:cNvPr id="14" name="Priority heading"/>
          <p:cNvSpPr txBox="1"/>
          <p:nvPr/>
        </p:nvSpPr>
        <p:spPr>
          <a:xfrm>
            <a:off x="6126480" y="1554480"/>
            <a:ext cx="5486400" cy="411480"/>
          </a:xfrm>
          <a:prstGeom prst="rect">
            <a:avLst/>
          </a:prstGeom>
          <a:noFill/>
          <a:ln/>
        </p:spPr>
        <p:txBody>
          <a:bodyPr wrap="square" lIns="0" tIns="0" rIns="0" bIns="0" rtlCol="0" anchor="t"/>
          <a:lstStyle/>
          <a:p>
            <a:pPr indent="0" marL="0">
              <a:buNone/>
            </a:pPr>
            <a:r>
              <a:rPr lang="en-US" sz="2200" b="1" dirty="0">
                <a:solidFill>
                  <a:schemeClr val="tx1"/>
                </a:solidFill>
              </a:rPr>
              <a:t>Priority indicators</a:t>
            </a:r>
            <a:endParaRPr lang="en-US" sz="2200" dirty="0"/>
          </a:p>
        </p:txBody>
      </p:sp>
      <p:sp>
        <p:nvSpPr>
          <p:cNvPr id="15" name="Priority row 1"/>
          <p:cNvSpPr/>
          <p:nvPr/>
        </p:nvSpPr>
        <p:spPr>
          <a:xfrm>
            <a:off x="6126480" y="2103120"/>
            <a:ext cx="5486400" cy="1051560"/>
          </a:xfrm>
          <a:prstGeom prst="roundRect">
            <a:avLst>
              <a:gd name="adj" fmla="val 12174"/>
            </a:avLst>
          </a:prstGeom>
          <a:solidFill>
            <a:schemeClr val="bg2"/>
          </a:solidFill>
          <a:ln/>
        </p:spPr>
      </p:sp>
      <p:sp>
        <p:nvSpPr>
          <p:cNvPr id="16" name="Priority chip 1"/>
          <p:cNvSpPr/>
          <p:nvPr/>
        </p:nvSpPr>
        <p:spPr>
          <a:xfrm>
            <a:off x="6355080" y="2468880"/>
            <a:ext cx="1143000" cy="329184"/>
          </a:xfrm>
          <a:prstGeom prst="roundRect">
            <a:avLst>
              <a:gd name="adj" fmla="val 50000"/>
            </a:avLst>
          </a:prstGeom>
          <a:solidFill>
            <a:schemeClr val="accent4"/>
          </a:solidFill>
          <a:ln/>
        </p:spPr>
      </p:sp>
      <p:sp>
        <p:nvSpPr>
          <p:cNvPr id="17" name="Priority chip 1 label"/>
          <p:cNvSpPr txBox="1"/>
          <p:nvPr/>
        </p:nvSpPr>
        <p:spPr>
          <a:xfrm>
            <a:off x="6355080" y="2468880"/>
            <a:ext cx="1143000" cy="329184"/>
          </a:xfrm>
          <a:prstGeom prst="rect">
            <a:avLst/>
          </a:prstGeom>
          <a:no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18" name="Priority title 1"/>
          <p:cNvSpPr txBox="1"/>
          <p:nvPr/>
        </p:nvSpPr>
        <p:spPr>
          <a:xfrm>
            <a:off x="7726680" y="2194560"/>
            <a:ext cx="3749040" cy="502920"/>
          </a:xfrm>
          <a:prstGeom prst="rect">
            <a:avLst/>
          </a:prstGeom>
          <a:noFill/>
          <a:ln/>
        </p:spPr>
        <p:txBody>
          <a:bodyPr wrap="square" lIns="0" tIns="0" rIns="0" bIns="0" rtlCol="0" anchor="ctr"/>
          <a:lstStyle/>
          <a:p>
            <a:pPr indent="0" marL="0">
              <a:buNone/>
            </a:pPr>
            <a:r>
              <a:rPr lang="en-US" sz="1600" b="1" dirty="0">
                <a:solidFill>
                  <a:schemeClr val="tx1"/>
                </a:solidFill>
              </a:rPr>
              <a:t>Health &amp; immunization clearance</a:t>
            </a:r>
            <a:endParaRPr lang="en-US" sz="1600" dirty="0"/>
          </a:p>
        </p:txBody>
      </p:sp>
      <p:sp>
        <p:nvSpPr>
          <p:cNvPr id="19" name="Priority text 1"/>
          <p:cNvSpPr txBox="1"/>
          <p:nvPr/>
        </p:nvSpPr>
        <p:spPr>
          <a:xfrm>
            <a:off x="7726680" y="2798064"/>
            <a:ext cx="3749040" cy="320040"/>
          </a:xfrm>
          <a:prstGeom prst="rect">
            <a:avLst/>
          </a:prstGeom>
          <a:noFill/>
          <a:ln/>
        </p:spPr>
        <p:txBody>
          <a:bodyPr wrap="square" lIns="0" tIns="0" rIns="0" bIns="0" rtlCol="0" anchor="t"/>
          <a:lstStyle/>
          <a:p>
            <a:pPr indent="0" marL="0">
              <a:buNone/>
            </a:pPr>
            <a:r>
              <a:rPr lang="en-US" sz="1400" dirty="0">
                <a:solidFill>
                  <a:schemeClr val="accent6"/>
                </a:solidFill>
              </a:rPr>
              <a:t>Documents are due before a deadline</a:t>
            </a:r>
            <a:endParaRPr lang="en-US" sz="1400" dirty="0"/>
          </a:p>
        </p:txBody>
      </p:sp>
      <p:sp>
        <p:nvSpPr>
          <p:cNvPr id="20" name="Priority row 2"/>
          <p:cNvSpPr/>
          <p:nvPr/>
        </p:nvSpPr>
        <p:spPr>
          <a:xfrm>
            <a:off x="6126480" y="3291840"/>
            <a:ext cx="5486400" cy="1051560"/>
          </a:xfrm>
          <a:prstGeom prst="roundRect">
            <a:avLst>
              <a:gd name="adj" fmla="val 12174"/>
            </a:avLst>
          </a:prstGeom>
          <a:solidFill>
            <a:schemeClr val="bg2"/>
          </a:solidFill>
          <a:ln/>
        </p:spPr>
      </p:sp>
      <p:sp>
        <p:nvSpPr>
          <p:cNvPr id="21" name="Priority chip 2"/>
          <p:cNvSpPr/>
          <p:nvPr/>
        </p:nvSpPr>
        <p:spPr>
          <a:xfrm>
            <a:off x="6355080" y="3657600"/>
            <a:ext cx="1143000" cy="329184"/>
          </a:xfrm>
          <a:prstGeom prst="roundRect">
            <a:avLst>
              <a:gd name="adj" fmla="val 50000"/>
            </a:avLst>
          </a:prstGeom>
          <a:solidFill>
            <a:schemeClr val="accent3"/>
          </a:solidFill>
          <a:ln/>
        </p:spPr>
      </p:sp>
      <p:sp>
        <p:nvSpPr>
          <p:cNvPr id="22" name="Priority chip 2 label"/>
          <p:cNvSpPr txBox="1"/>
          <p:nvPr/>
        </p:nvSpPr>
        <p:spPr>
          <a:xfrm>
            <a:off x="6355080" y="3657600"/>
            <a:ext cx="1143000" cy="329184"/>
          </a:xfrm>
          <a:prstGeom prst="rect">
            <a:avLst/>
          </a:prstGeom>
          <a:noFill/>
          <a:ln/>
        </p:spPr>
        <p:txBody>
          <a:bodyPr wrap="square" lIns="0" tIns="0" rIns="0" bIns="0" rtlCol="0" anchor="ctr"/>
          <a:lstStyle/>
          <a:p>
            <a:pPr algn="ctr" indent="0" marL="0">
              <a:buNone/>
            </a:pPr>
            <a:r>
              <a:rPr lang="en-US" sz="1200" b="1" dirty="0">
                <a:solidFill>
                  <a:schemeClr val="tx1"/>
                </a:solidFill>
              </a:rPr>
              <a:t>MEDIUM</a:t>
            </a:r>
            <a:endParaRPr lang="en-US" sz="1200" dirty="0"/>
          </a:p>
        </p:txBody>
      </p:sp>
      <p:sp>
        <p:nvSpPr>
          <p:cNvPr id="23" name="Priority title 2"/>
          <p:cNvSpPr txBox="1"/>
          <p:nvPr/>
        </p:nvSpPr>
        <p:spPr>
          <a:xfrm>
            <a:off x="7726680" y="3383280"/>
            <a:ext cx="3749040" cy="502920"/>
          </a:xfrm>
          <a:prstGeom prst="rect">
            <a:avLst/>
          </a:prstGeom>
          <a:noFill/>
          <a:ln/>
        </p:spPr>
        <p:txBody>
          <a:bodyPr wrap="square" lIns="0" tIns="0" rIns="0" bIns="0" rtlCol="0" anchor="ctr"/>
          <a:lstStyle/>
          <a:p>
            <a:pPr indent="0" marL="0">
              <a:buNone/>
            </a:pPr>
            <a:r>
              <a:rPr lang="en-US" sz="1600" b="1" dirty="0">
                <a:solidFill>
                  <a:schemeClr val="tx1"/>
                </a:solidFill>
              </a:rPr>
              <a:t>Career &amp; internship fair; literary magazine submissions</a:t>
            </a:r>
            <a:endParaRPr lang="en-US" sz="1600" dirty="0"/>
          </a:p>
        </p:txBody>
      </p:sp>
      <p:sp>
        <p:nvSpPr>
          <p:cNvPr id="24" name="Priority text 2"/>
          <p:cNvSpPr txBox="1"/>
          <p:nvPr/>
        </p:nvSpPr>
        <p:spPr>
          <a:xfrm>
            <a:off x="7726680" y="3986784"/>
            <a:ext cx="3749040" cy="320040"/>
          </a:xfrm>
          <a:prstGeom prst="rect">
            <a:avLst/>
          </a:prstGeom>
          <a:noFill/>
          <a:ln/>
        </p:spPr>
        <p:txBody>
          <a:bodyPr wrap="square" lIns="0" tIns="0" rIns="0" bIns="0" rtlCol="0" anchor="t"/>
          <a:lstStyle/>
          <a:p>
            <a:pPr indent="0" marL="0">
              <a:buNone/>
            </a:pPr>
            <a:r>
              <a:rPr lang="en-US" sz="1400" dirty="0">
                <a:solidFill>
                  <a:schemeClr val="accent6"/>
                </a:solidFill>
              </a:rPr>
              <a:t>Preparation or submission needed</a:t>
            </a:r>
            <a:endParaRPr lang="en-US" sz="1400" dirty="0"/>
          </a:p>
        </p:txBody>
      </p:sp>
      <p:sp>
        <p:nvSpPr>
          <p:cNvPr id="25" name="Priority row 3"/>
          <p:cNvSpPr/>
          <p:nvPr/>
        </p:nvSpPr>
        <p:spPr>
          <a:xfrm>
            <a:off x="6126480" y="4480560"/>
            <a:ext cx="5486400" cy="1051560"/>
          </a:xfrm>
          <a:prstGeom prst="roundRect">
            <a:avLst>
              <a:gd name="adj" fmla="val 12174"/>
            </a:avLst>
          </a:prstGeom>
          <a:solidFill>
            <a:schemeClr val="bg2"/>
          </a:solidFill>
          <a:ln/>
        </p:spPr>
      </p:sp>
      <p:sp>
        <p:nvSpPr>
          <p:cNvPr id="26" name="Priority chip 3"/>
          <p:cNvSpPr/>
          <p:nvPr/>
        </p:nvSpPr>
        <p:spPr>
          <a:xfrm>
            <a:off x="6355080" y="4846320"/>
            <a:ext cx="1143000" cy="329184"/>
          </a:xfrm>
          <a:prstGeom prst="roundRect">
            <a:avLst>
              <a:gd name="adj" fmla="val 50000"/>
            </a:avLst>
          </a:prstGeom>
          <a:solidFill>
            <a:schemeClr val="accent5"/>
          </a:solidFill>
          <a:ln/>
        </p:spPr>
      </p:sp>
      <p:sp>
        <p:nvSpPr>
          <p:cNvPr id="27" name="Priority chip 3 label"/>
          <p:cNvSpPr txBox="1"/>
          <p:nvPr/>
        </p:nvSpPr>
        <p:spPr>
          <a:xfrm>
            <a:off x="6355080" y="4846320"/>
            <a:ext cx="1143000" cy="329184"/>
          </a:xfrm>
          <a:prstGeom prst="rect">
            <a:avLst/>
          </a:prstGeom>
          <a:noFill/>
          <a:ln/>
        </p:spPr>
        <p:txBody>
          <a:bodyPr wrap="square" lIns="0" tIns="0" rIns="0" bIns="0" rtlCol="0" anchor="ctr"/>
          <a:lstStyle/>
          <a:p>
            <a:pPr algn="ctr" indent="0" marL="0">
              <a:buNone/>
            </a:pPr>
            <a:r>
              <a:rPr lang="en-US" sz="1200" b="1" dirty="0">
                <a:solidFill>
                  <a:schemeClr val="tx1"/>
                </a:solidFill>
              </a:rPr>
              <a:t>LOW</a:t>
            </a:r>
            <a:endParaRPr lang="en-US" sz="1200" dirty="0"/>
          </a:p>
        </p:txBody>
      </p:sp>
      <p:sp>
        <p:nvSpPr>
          <p:cNvPr id="28" name="Priority title 3"/>
          <p:cNvSpPr txBox="1"/>
          <p:nvPr/>
        </p:nvSpPr>
        <p:spPr>
          <a:xfrm>
            <a:off x="7726680" y="4572000"/>
            <a:ext cx="3749040" cy="502920"/>
          </a:xfrm>
          <a:prstGeom prst="rect">
            <a:avLst/>
          </a:prstGeom>
          <a:noFill/>
          <a:ln/>
        </p:spPr>
        <p:txBody>
          <a:bodyPr wrap="square" lIns="0" tIns="0" rIns="0" bIns="0" rtlCol="0" anchor="ctr"/>
          <a:lstStyle/>
          <a:p>
            <a:pPr indent="0" marL="0">
              <a:buNone/>
            </a:pPr>
            <a:r>
              <a:rPr lang="en-US" sz="1600" b="1" dirty="0">
                <a:solidFill>
                  <a:schemeClr val="tx1"/>
                </a:solidFill>
              </a:rPr>
              <a:t>Campus parking notice</a:t>
            </a:r>
            <a:endParaRPr lang="en-US" sz="1600" dirty="0"/>
          </a:p>
        </p:txBody>
      </p:sp>
      <p:sp>
        <p:nvSpPr>
          <p:cNvPr id="29" name="Priority text 3"/>
          <p:cNvSpPr txBox="1"/>
          <p:nvPr/>
        </p:nvSpPr>
        <p:spPr>
          <a:xfrm>
            <a:off x="7726680" y="5175504"/>
            <a:ext cx="3749040" cy="320040"/>
          </a:xfrm>
          <a:prstGeom prst="rect">
            <a:avLst/>
          </a:prstGeom>
          <a:noFill/>
          <a:ln/>
        </p:spPr>
        <p:txBody>
          <a:bodyPr wrap="square" lIns="0" tIns="0" rIns="0" bIns="0" rtlCol="0" anchor="t"/>
          <a:lstStyle/>
          <a:p>
            <a:pPr indent="0" marL="0">
              <a:buNone/>
            </a:pPr>
            <a:r>
              <a:rPr lang="en-US" sz="1400" dirty="0">
                <a:solidFill>
                  <a:schemeClr val="accent6"/>
                </a:solidFill>
              </a:rPr>
              <a:t>Awareness; use the alternative area</a:t>
            </a:r>
            <a:endParaRPr lang="en-US" sz="1400" dirty="0"/>
          </a:p>
        </p:txBody>
      </p:sp>
      <p:sp>
        <p:nvSpPr>
          <p:cNvPr id="30" name="Priority footnote"/>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200" i="1" dirty="0">
                <a:solidFill>
                  <a:schemeClr val="accent6"/>
                </a:solidFill>
              </a:rPr>
              <a:t>Priority levels are shown as displayed in the prototype. The app does not learn student behavior or use advanced personalization models.</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The User Interface</a:t>
            </a:r>
            <a:endParaRPr lang="en-US" sz="3600" dirty="0"/>
          </a:p>
        </p:txBody>
      </p:sp>
      <p:sp>
        <p:nvSpPr>
          <p:cNvPr id="3" name="Browser frame 1"/>
          <p:cNvSpPr/>
          <p:nvPr/>
        </p:nvSpPr>
        <p:spPr>
          <a:xfrm>
            <a:off x="548640" y="1417320"/>
            <a:ext cx="5394960" cy="3611880"/>
          </a:xfrm>
          <a:prstGeom prst="roundRect">
            <a:avLst>
              <a:gd name="adj" fmla="val 3038"/>
            </a:avLst>
          </a:prstGeom>
          <a:solidFill>
            <a:schemeClr val="bg2"/>
          </a:solidFill>
          <a:ln w="12700">
            <a:solidFill>
              <a:schemeClr val="accent6">
                <a:alpha val="40000"/>
              </a:schemeClr>
            </a:solidFill>
            <a:prstDash val="solid"/>
          </a:ln>
        </p:spPr>
      </p:sp>
      <p:sp>
        <p:nvSpPr>
          <p:cNvPr id="4" name="Browser dot 1-1"/>
          <p:cNvSpPr/>
          <p:nvPr/>
        </p:nvSpPr>
        <p:spPr>
          <a:xfrm>
            <a:off x="731520" y="1572768"/>
            <a:ext cx="118872" cy="118872"/>
          </a:xfrm>
          <a:prstGeom prst="ellipse">
            <a:avLst/>
          </a:prstGeom>
          <a:solidFill>
            <a:schemeClr val="accent6">
              <a:alpha val="60000"/>
            </a:schemeClr>
          </a:solidFill>
          <a:ln/>
        </p:spPr>
      </p:sp>
      <p:sp>
        <p:nvSpPr>
          <p:cNvPr id="5" name="Browser dot 1-2"/>
          <p:cNvSpPr/>
          <p:nvPr/>
        </p:nvSpPr>
        <p:spPr>
          <a:xfrm>
            <a:off x="932688" y="1572768"/>
            <a:ext cx="118872" cy="118872"/>
          </a:xfrm>
          <a:prstGeom prst="ellipse">
            <a:avLst/>
          </a:prstGeom>
          <a:solidFill>
            <a:schemeClr val="accent6">
              <a:alpha val="60000"/>
            </a:schemeClr>
          </a:solidFill>
          <a:ln/>
        </p:spPr>
      </p:sp>
      <p:sp>
        <p:nvSpPr>
          <p:cNvPr id="6" name="Browser dot 1-3"/>
          <p:cNvSpPr/>
          <p:nvPr/>
        </p:nvSpPr>
        <p:spPr>
          <a:xfrm>
            <a:off x="1133856" y="1572768"/>
            <a:ext cx="118872" cy="118872"/>
          </a:xfrm>
          <a:prstGeom prst="ellipse">
            <a:avLst/>
          </a:prstGeom>
          <a:solidFill>
            <a:schemeClr val="accent6">
              <a:alpha val="60000"/>
            </a:schemeClr>
          </a:solidFill>
          <a:ln/>
        </p:spPr>
      </p:sp>
      <p:sp>
        <p:nvSpPr>
          <p:cNvPr id="7" name="Browser bar 1"/>
          <p:cNvSpPr/>
          <p:nvPr/>
        </p:nvSpPr>
        <p:spPr>
          <a:xfrm>
            <a:off x="1463040" y="1517904"/>
            <a:ext cx="4297680" cy="228600"/>
          </a:xfrm>
          <a:prstGeom prst="roundRect">
            <a:avLst>
              <a:gd name="adj" fmla="val 48000"/>
            </a:avLst>
          </a:prstGeom>
          <a:solidFill>
            <a:schemeClr val="bg1"/>
          </a:solidFill>
          <a:ln/>
        </p:spPr>
      </p:sp>
      <p:sp>
        <p:nvSpPr>
          <p:cNvPr id="8" name="Screenshot placeholder 1"/>
          <p:cNvSpPr/>
          <p:nvPr/>
        </p:nvSpPr>
        <p:spPr>
          <a:xfrm>
            <a:off x="731520" y="1920240"/>
            <a:ext cx="5029200" cy="2926080"/>
          </a:xfrm>
          <a:prstGeom prst="roundRect">
            <a:avLst>
              <a:gd name="adj" fmla="val 3125"/>
            </a:avLst>
          </a:prstGeom>
          <a:solidFill>
            <a:schemeClr val="bg1"/>
          </a:solidFill>
          <a:ln w="15875">
            <a:solidFill>
              <a:schemeClr val="accent6"/>
            </a:solidFill>
            <a:prstDash val="dash"/>
          </a:ln>
        </p:spPr>
      </p:sp>
      <p:pic>
        <p:nvPicPr>
          <p:cNvPr id="9" name="Placeholder icon 1" descr="Image placeholder">    </p:cNvPr>
          <p:cNvPicPr>
            <a:picLocks noChangeAspect="1"/>
          </p:cNvPicPr>
          <p:nvPr/>
        </p:nvPicPr>
        <p:blipFill>
          <a:blip r:embed="rId1"/>
          <a:stretch>
            <a:fillRect/>
          </a:stretch>
        </p:blipFill>
        <p:spPr>
          <a:xfrm>
            <a:off x="3017520" y="2651760"/>
            <a:ext cx="457200" cy="457200"/>
          </a:xfrm>
          <a:prstGeom prst="rect">
            <a:avLst/>
          </a:prstGeom>
        </p:spPr>
      </p:pic>
      <p:sp>
        <p:nvSpPr>
          <p:cNvPr id="10" name="Placeholder text 1"/>
          <p:cNvSpPr txBox="1"/>
          <p:nvPr/>
        </p:nvSpPr>
        <p:spPr>
          <a:xfrm>
            <a:off x="731520" y="3246120"/>
            <a:ext cx="5029200" cy="274320"/>
          </a:xfrm>
          <a:prstGeom prst="rect">
            <a:avLst/>
          </a:prstGeom>
          <a:noFill/>
          <a:ln/>
        </p:spPr>
        <p:txBody>
          <a:bodyPr wrap="square" lIns="0" tIns="0" rIns="0" bIns="0" rtlCol="0" anchor="t"/>
          <a:lstStyle/>
          <a:p>
            <a:pPr algn="ctr" indent="0" marL="0">
              <a:buNone/>
            </a:pPr>
            <a:r>
              <a:rPr lang="en-US" sz="1400" b="1" dirty="0">
                <a:solidFill>
                  <a:schemeClr val="accent6"/>
                </a:solidFill>
              </a:rPr>
              <a:t>SCREENSHOT PLACEHOLDER</a:t>
            </a:r>
            <a:endParaRPr lang="en-US" sz="1400" dirty="0"/>
          </a:p>
        </p:txBody>
      </p:sp>
      <p:sp>
        <p:nvSpPr>
          <p:cNvPr id="11" name="Placeholder sub 1"/>
          <p:cNvSpPr txBox="1"/>
          <p:nvPr/>
        </p:nvSpPr>
        <p:spPr>
          <a:xfrm>
            <a:off x="731520" y="3566160"/>
            <a:ext cx="5029200" cy="274320"/>
          </a:xfrm>
          <a:prstGeom prst="rect">
            <a:avLst/>
          </a:prstGeom>
          <a:noFill/>
          <a:ln/>
        </p:spPr>
        <p:txBody>
          <a:bodyPr wrap="square" lIns="0" tIns="0" rIns="0" bIns="0" rtlCol="0" anchor="t"/>
          <a:lstStyle/>
          <a:p>
            <a:pPr algn="ctr" indent="0" marL="0">
              <a:buNone/>
            </a:pPr>
            <a:r>
              <a:rPr lang="en-US" sz="1200" dirty="0">
                <a:solidFill>
                  <a:schemeClr val="accent6"/>
                </a:solidFill>
              </a:rPr>
              <a:t>Replace with a real capture from the live app</a:t>
            </a:r>
            <a:endParaRPr lang="en-US" sz="1200" dirty="0"/>
          </a:p>
        </p:txBody>
      </p:sp>
      <p:sp>
        <p:nvSpPr>
          <p:cNvPr id="12" name="Frame caption 1"/>
          <p:cNvSpPr txBox="1"/>
          <p:nvPr/>
        </p:nvSpPr>
        <p:spPr>
          <a:xfrm>
            <a:off x="548640" y="5138928"/>
            <a:ext cx="5394960" cy="320040"/>
          </a:xfrm>
          <a:prstGeom prst="rect">
            <a:avLst/>
          </a:prstGeom>
          <a:noFill/>
          <a:ln/>
        </p:spPr>
        <p:txBody>
          <a:bodyPr wrap="square" lIns="0" tIns="0" rIns="0" bIns="0" rtlCol="0" anchor="t"/>
          <a:lstStyle/>
          <a:p>
            <a:pPr indent="0" marL="0">
              <a:buNone/>
            </a:pPr>
            <a:r>
              <a:rPr lang="en-US" sz="1600" b="1" dirty="0">
                <a:solidFill>
                  <a:schemeClr val="tx1"/>
                </a:solidFill>
              </a:rPr>
              <a:t>Screenshot 1: Profile controls and PDF upload</a:t>
            </a:r>
            <a:endParaRPr lang="en-US" sz="1600" dirty="0"/>
          </a:p>
        </p:txBody>
      </p:sp>
      <p:sp>
        <p:nvSpPr>
          <p:cNvPr id="13" name="Browser frame 2"/>
          <p:cNvSpPr/>
          <p:nvPr/>
        </p:nvSpPr>
        <p:spPr>
          <a:xfrm>
            <a:off x="6245352" y="1417320"/>
            <a:ext cx="5394960" cy="3611880"/>
          </a:xfrm>
          <a:prstGeom prst="roundRect">
            <a:avLst>
              <a:gd name="adj" fmla="val 3038"/>
            </a:avLst>
          </a:prstGeom>
          <a:solidFill>
            <a:schemeClr val="bg2"/>
          </a:solidFill>
          <a:ln w="12700">
            <a:solidFill>
              <a:schemeClr val="accent6">
                <a:alpha val="40000"/>
              </a:schemeClr>
            </a:solidFill>
            <a:prstDash val="solid"/>
          </a:ln>
        </p:spPr>
      </p:sp>
      <p:sp>
        <p:nvSpPr>
          <p:cNvPr id="14" name="Browser dot 2-1"/>
          <p:cNvSpPr/>
          <p:nvPr/>
        </p:nvSpPr>
        <p:spPr>
          <a:xfrm>
            <a:off x="6428232" y="1572768"/>
            <a:ext cx="118872" cy="118872"/>
          </a:xfrm>
          <a:prstGeom prst="ellipse">
            <a:avLst/>
          </a:prstGeom>
          <a:solidFill>
            <a:schemeClr val="accent6">
              <a:alpha val="60000"/>
            </a:schemeClr>
          </a:solidFill>
          <a:ln/>
        </p:spPr>
      </p:sp>
      <p:sp>
        <p:nvSpPr>
          <p:cNvPr id="15" name="Browser dot 2-2"/>
          <p:cNvSpPr/>
          <p:nvPr/>
        </p:nvSpPr>
        <p:spPr>
          <a:xfrm>
            <a:off x="6629400" y="1572768"/>
            <a:ext cx="118872" cy="118872"/>
          </a:xfrm>
          <a:prstGeom prst="ellipse">
            <a:avLst/>
          </a:prstGeom>
          <a:solidFill>
            <a:schemeClr val="accent6">
              <a:alpha val="60000"/>
            </a:schemeClr>
          </a:solidFill>
          <a:ln/>
        </p:spPr>
      </p:sp>
      <p:sp>
        <p:nvSpPr>
          <p:cNvPr id="16" name="Browser dot 2-3"/>
          <p:cNvSpPr/>
          <p:nvPr/>
        </p:nvSpPr>
        <p:spPr>
          <a:xfrm>
            <a:off x="6830568" y="1572768"/>
            <a:ext cx="118872" cy="118872"/>
          </a:xfrm>
          <a:prstGeom prst="ellipse">
            <a:avLst/>
          </a:prstGeom>
          <a:solidFill>
            <a:schemeClr val="accent6">
              <a:alpha val="60000"/>
            </a:schemeClr>
          </a:solidFill>
          <a:ln/>
        </p:spPr>
      </p:sp>
      <p:sp>
        <p:nvSpPr>
          <p:cNvPr id="17" name="Browser bar 2"/>
          <p:cNvSpPr/>
          <p:nvPr/>
        </p:nvSpPr>
        <p:spPr>
          <a:xfrm>
            <a:off x="7159752" y="1517904"/>
            <a:ext cx="4297680" cy="228600"/>
          </a:xfrm>
          <a:prstGeom prst="roundRect">
            <a:avLst>
              <a:gd name="adj" fmla="val 48000"/>
            </a:avLst>
          </a:prstGeom>
          <a:solidFill>
            <a:schemeClr val="bg1"/>
          </a:solidFill>
          <a:ln/>
        </p:spPr>
      </p:sp>
      <p:sp>
        <p:nvSpPr>
          <p:cNvPr id="18" name="Screenshot placeholder 2"/>
          <p:cNvSpPr/>
          <p:nvPr/>
        </p:nvSpPr>
        <p:spPr>
          <a:xfrm>
            <a:off x="6428232" y="1920240"/>
            <a:ext cx="5029200" cy="2926080"/>
          </a:xfrm>
          <a:prstGeom prst="roundRect">
            <a:avLst>
              <a:gd name="adj" fmla="val 3125"/>
            </a:avLst>
          </a:prstGeom>
          <a:solidFill>
            <a:schemeClr val="bg1"/>
          </a:solidFill>
          <a:ln w="15875">
            <a:solidFill>
              <a:schemeClr val="accent6"/>
            </a:solidFill>
            <a:prstDash val="dash"/>
          </a:ln>
        </p:spPr>
      </p:sp>
      <p:pic>
        <p:nvPicPr>
          <p:cNvPr id="19" name="Placeholder icon 2" descr="Image placeholder">    </p:cNvPr>
          <p:cNvPicPr>
            <a:picLocks noChangeAspect="1"/>
          </p:cNvPicPr>
          <p:nvPr/>
        </p:nvPicPr>
        <p:blipFill>
          <a:blip r:embed="rId2"/>
          <a:stretch>
            <a:fillRect/>
          </a:stretch>
        </p:blipFill>
        <p:spPr>
          <a:xfrm>
            <a:off x="8714232" y="2651760"/>
            <a:ext cx="457200" cy="457200"/>
          </a:xfrm>
          <a:prstGeom prst="rect">
            <a:avLst/>
          </a:prstGeom>
        </p:spPr>
      </p:pic>
      <p:sp>
        <p:nvSpPr>
          <p:cNvPr id="20" name="Placeholder text 2"/>
          <p:cNvSpPr txBox="1"/>
          <p:nvPr/>
        </p:nvSpPr>
        <p:spPr>
          <a:xfrm>
            <a:off x="6428232" y="3246120"/>
            <a:ext cx="5029200" cy="274320"/>
          </a:xfrm>
          <a:prstGeom prst="rect">
            <a:avLst/>
          </a:prstGeom>
          <a:noFill/>
          <a:ln/>
        </p:spPr>
        <p:txBody>
          <a:bodyPr wrap="square" lIns="0" tIns="0" rIns="0" bIns="0" rtlCol="0" anchor="t"/>
          <a:lstStyle/>
          <a:p>
            <a:pPr algn="ctr" indent="0" marL="0">
              <a:buNone/>
            </a:pPr>
            <a:r>
              <a:rPr lang="en-US" sz="1400" b="1" dirty="0">
                <a:solidFill>
                  <a:schemeClr val="accent6"/>
                </a:solidFill>
              </a:rPr>
              <a:t>SCREENSHOT PLACEHOLDER</a:t>
            </a:r>
            <a:endParaRPr lang="en-US" sz="1400" dirty="0"/>
          </a:p>
        </p:txBody>
      </p:sp>
      <p:sp>
        <p:nvSpPr>
          <p:cNvPr id="21" name="Placeholder sub 2"/>
          <p:cNvSpPr txBox="1"/>
          <p:nvPr/>
        </p:nvSpPr>
        <p:spPr>
          <a:xfrm>
            <a:off x="6428232" y="3566160"/>
            <a:ext cx="5029200" cy="274320"/>
          </a:xfrm>
          <a:prstGeom prst="rect">
            <a:avLst/>
          </a:prstGeom>
          <a:noFill/>
          <a:ln/>
        </p:spPr>
        <p:txBody>
          <a:bodyPr wrap="square" lIns="0" tIns="0" rIns="0" bIns="0" rtlCol="0" anchor="t"/>
          <a:lstStyle/>
          <a:p>
            <a:pPr algn="ctr" indent="0" marL="0">
              <a:buNone/>
            </a:pPr>
            <a:r>
              <a:rPr lang="en-US" sz="1200" dirty="0">
                <a:solidFill>
                  <a:schemeClr val="accent6"/>
                </a:solidFill>
              </a:rPr>
              <a:t>Replace with a real capture from the live app</a:t>
            </a:r>
            <a:endParaRPr lang="en-US" sz="1200" dirty="0"/>
          </a:p>
        </p:txBody>
      </p:sp>
      <p:sp>
        <p:nvSpPr>
          <p:cNvPr id="22" name="Frame caption 2"/>
          <p:cNvSpPr txBox="1"/>
          <p:nvPr/>
        </p:nvSpPr>
        <p:spPr>
          <a:xfrm>
            <a:off x="6245352" y="5138928"/>
            <a:ext cx="5394960" cy="320040"/>
          </a:xfrm>
          <a:prstGeom prst="rect">
            <a:avLst/>
          </a:prstGeom>
          <a:noFill/>
          <a:ln/>
        </p:spPr>
        <p:txBody>
          <a:bodyPr wrap="square" lIns="0" tIns="0" rIns="0" bIns="0" rtlCol="0" anchor="t"/>
          <a:lstStyle/>
          <a:p>
            <a:pPr indent="0" marL="0">
              <a:buNone/>
            </a:pPr>
            <a:r>
              <a:rPr lang="en-US" sz="1600" b="1" dirty="0">
                <a:solidFill>
                  <a:schemeClr val="tx1"/>
                </a:solidFill>
              </a:rPr>
              <a:t>Screenshot 2: Notice cards with priority and actions</a:t>
            </a:r>
            <a:endParaRPr lang="en-US" sz="1600" dirty="0"/>
          </a:p>
        </p:txBody>
      </p:sp>
      <p:sp>
        <p:nvSpPr>
          <p:cNvPr id="23" name="Legend badge 1"/>
          <p:cNvSpPr/>
          <p:nvPr/>
        </p:nvSpPr>
        <p:spPr>
          <a:xfrm>
            <a:off x="548640" y="5779008"/>
            <a:ext cx="329184" cy="329184"/>
          </a:xfrm>
          <a:prstGeom prst="ellipse">
            <a:avLst/>
          </a:prstGeom>
          <a:solidFill>
            <a:schemeClr val="accent1"/>
          </a:solidFill>
          <a:ln/>
        </p:spPr>
      </p:sp>
      <p:sp>
        <p:nvSpPr>
          <p:cNvPr id="24" name="Legend badge text 1"/>
          <p:cNvSpPr txBox="1"/>
          <p:nvPr/>
        </p:nvSpPr>
        <p:spPr>
          <a:xfrm>
            <a:off x="548640" y="577900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Legend label 1"/>
          <p:cNvSpPr txBox="1"/>
          <p:nvPr/>
        </p:nvSpPr>
        <p:spPr>
          <a:xfrm>
            <a:off x="987552" y="5779008"/>
            <a:ext cx="2743200" cy="329184"/>
          </a:xfrm>
          <a:prstGeom prst="rect">
            <a:avLst/>
          </a:prstGeom>
          <a:noFill/>
          <a:ln/>
        </p:spPr>
        <p:txBody>
          <a:bodyPr wrap="square" lIns="0" tIns="0" rIns="0" bIns="0" rtlCol="0" anchor="ctr"/>
          <a:lstStyle/>
          <a:p>
            <a:pPr indent="0" marL="0">
              <a:buNone/>
            </a:pPr>
            <a:r>
              <a:rPr lang="en-US" sz="1400" dirty="0">
                <a:solidFill>
                  <a:schemeClr val="tx1"/>
                </a:solidFill>
              </a:rPr>
              <a:t>Profile controls</a:t>
            </a:r>
            <a:endParaRPr lang="en-US" sz="1400" dirty="0"/>
          </a:p>
        </p:txBody>
      </p:sp>
      <p:sp>
        <p:nvSpPr>
          <p:cNvPr id="26" name="Legend badge 2"/>
          <p:cNvSpPr/>
          <p:nvPr/>
        </p:nvSpPr>
        <p:spPr>
          <a:xfrm>
            <a:off x="3108960" y="5779008"/>
            <a:ext cx="329184" cy="329184"/>
          </a:xfrm>
          <a:prstGeom prst="ellipse">
            <a:avLst/>
          </a:prstGeom>
          <a:solidFill>
            <a:schemeClr val="accent1"/>
          </a:solidFill>
          <a:ln/>
        </p:spPr>
      </p:sp>
      <p:sp>
        <p:nvSpPr>
          <p:cNvPr id="27" name="Legend badge text 2"/>
          <p:cNvSpPr txBox="1"/>
          <p:nvPr/>
        </p:nvSpPr>
        <p:spPr>
          <a:xfrm>
            <a:off x="3108960" y="577900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Legend label 2"/>
          <p:cNvSpPr txBox="1"/>
          <p:nvPr/>
        </p:nvSpPr>
        <p:spPr>
          <a:xfrm>
            <a:off x="3547872" y="5779008"/>
            <a:ext cx="2743200" cy="329184"/>
          </a:xfrm>
          <a:prstGeom prst="rect">
            <a:avLst/>
          </a:prstGeom>
          <a:noFill/>
          <a:ln/>
        </p:spPr>
        <p:txBody>
          <a:bodyPr wrap="square" lIns="0" tIns="0" rIns="0" bIns="0" rtlCol="0" anchor="ctr"/>
          <a:lstStyle/>
          <a:p>
            <a:pPr indent="0" marL="0">
              <a:buNone/>
            </a:pPr>
            <a:r>
              <a:rPr lang="en-US" sz="1400" dirty="0">
                <a:solidFill>
                  <a:schemeClr val="tx1"/>
                </a:solidFill>
              </a:rPr>
              <a:t>Upload area</a:t>
            </a:r>
            <a:endParaRPr lang="en-US" sz="1400" dirty="0"/>
          </a:p>
        </p:txBody>
      </p:sp>
      <p:sp>
        <p:nvSpPr>
          <p:cNvPr id="29" name="Legend badge 3"/>
          <p:cNvSpPr/>
          <p:nvPr/>
        </p:nvSpPr>
        <p:spPr>
          <a:xfrm>
            <a:off x="5440680" y="5779008"/>
            <a:ext cx="329184" cy="329184"/>
          </a:xfrm>
          <a:prstGeom prst="ellipse">
            <a:avLst/>
          </a:prstGeom>
          <a:solidFill>
            <a:schemeClr val="accent1"/>
          </a:solidFill>
          <a:ln/>
        </p:spPr>
      </p:sp>
      <p:sp>
        <p:nvSpPr>
          <p:cNvPr id="30" name="Legend badge text 3"/>
          <p:cNvSpPr txBox="1"/>
          <p:nvPr/>
        </p:nvSpPr>
        <p:spPr>
          <a:xfrm>
            <a:off x="5440680" y="577900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1" name="Legend label 3"/>
          <p:cNvSpPr txBox="1"/>
          <p:nvPr/>
        </p:nvSpPr>
        <p:spPr>
          <a:xfrm>
            <a:off x="5879592" y="5779008"/>
            <a:ext cx="2743200" cy="329184"/>
          </a:xfrm>
          <a:prstGeom prst="rect">
            <a:avLst/>
          </a:prstGeom>
          <a:noFill/>
          <a:ln/>
        </p:spPr>
        <p:txBody>
          <a:bodyPr wrap="square" lIns="0" tIns="0" rIns="0" bIns="0" rtlCol="0" anchor="ctr"/>
          <a:lstStyle/>
          <a:p>
            <a:pPr indent="0" marL="0">
              <a:buNone/>
            </a:pPr>
            <a:r>
              <a:rPr lang="en-US" sz="1400" dirty="0">
                <a:solidFill>
                  <a:schemeClr val="tx1"/>
                </a:solidFill>
              </a:rPr>
              <a:t>Notice cards</a:t>
            </a:r>
            <a:endParaRPr lang="en-US" sz="1400" dirty="0"/>
          </a:p>
        </p:txBody>
      </p:sp>
      <p:sp>
        <p:nvSpPr>
          <p:cNvPr id="32" name="Legend badge 4"/>
          <p:cNvSpPr/>
          <p:nvPr/>
        </p:nvSpPr>
        <p:spPr>
          <a:xfrm>
            <a:off x="7863840" y="5779008"/>
            <a:ext cx="329184" cy="329184"/>
          </a:xfrm>
          <a:prstGeom prst="ellipse">
            <a:avLst/>
          </a:prstGeom>
          <a:solidFill>
            <a:schemeClr val="accent1"/>
          </a:solidFill>
          <a:ln/>
        </p:spPr>
      </p:sp>
      <p:sp>
        <p:nvSpPr>
          <p:cNvPr id="33" name="Legend badge text 4"/>
          <p:cNvSpPr txBox="1"/>
          <p:nvPr/>
        </p:nvSpPr>
        <p:spPr>
          <a:xfrm>
            <a:off x="7863840" y="577900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4" name="Legend label 4"/>
          <p:cNvSpPr txBox="1"/>
          <p:nvPr/>
        </p:nvSpPr>
        <p:spPr>
          <a:xfrm>
            <a:off x="8302752" y="5779008"/>
            <a:ext cx="2743200" cy="329184"/>
          </a:xfrm>
          <a:prstGeom prst="rect">
            <a:avLst/>
          </a:prstGeom>
          <a:noFill/>
          <a:ln/>
        </p:spPr>
        <p:txBody>
          <a:bodyPr wrap="square" lIns="0" tIns="0" rIns="0" bIns="0" rtlCol="0" anchor="ctr"/>
          <a:lstStyle/>
          <a:p>
            <a:pPr indent="0" marL="0">
              <a:buNone/>
            </a:pPr>
            <a:r>
              <a:rPr lang="en-US" sz="1400" dirty="0">
                <a:solidFill>
                  <a:schemeClr val="tx1"/>
                </a:solidFill>
              </a:rPr>
              <a:t>Priority &amp; required action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From Raw Notice to Clear Action</a:t>
            </a:r>
            <a:endParaRPr lang="en-US" sz="3600" dirty="0"/>
          </a:p>
        </p:txBody>
      </p:sp>
      <p:sp>
        <p:nvSpPr>
          <p:cNvPr id="3" name="Raw panel 1"/>
          <p:cNvSpPr/>
          <p:nvPr/>
        </p:nvSpPr>
        <p:spPr>
          <a:xfrm>
            <a:off x="548640" y="1417320"/>
            <a:ext cx="3474720" cy="1234440"/>
          </a:xfrm>
          <a:prstGeom prst="roundRect">
            <a:avLst>
              <a:gd name="adj" fmla="val 10370"/>
            </a:avLst>
          </a:prstGeom>
          <a:solidFill>
            <a:schemeClr val="bg2"/>
          </a:solidFill>
          <a:ln/>
        </p:spPr>
      </p:sp>
      <p:sp>
        <p:nvSpPr>
          <p:cNvPr id="4" name="Raw line 1-1"/>
          <p:cNvSpPr/>
          <p:nvPr/>
        </p:nvSpPr>
        <p:spPr>
          <a:xfrm>
            <a:off x="777240" y="1600200"/>
            <a:ext cx="2743200" cy="91440"/>
          </a:xfrm>
          <a:prstGeom prst="roundRect">
            <a:avLst>
              <a:gd name="adj" fmla="val 50000"/>
            </a:avLst>
          </a:prstGeom>
          <a:solidFill>
            <a:schemeClr val="accent6">
              <a:alpha val="35000"/>
            </a:schemeClr>
          </a:solidFill>
          <a:ln/>
        </p:spPr>
      </p:sp>
      <p:sp>
        <p:nvSpPr>
          <p:cNvPr id="5" name="Raw line 1-2"/>
          <p:cNvSpPr/>
          <p:nvPr/>
        </p:nvSpPr>
        <p:spPr>
          <a:xfrm>
            <a:off x="777240" y="1783080"/>
            <a:ext cx="2286000" cy="91440"/>
          </a:xfrm>
          <a:prstGeom prst="roundRect">
            <a:avLst>
              <a:gd name="adj" fmla="val 50000"/>
            </a:avLst>
          </a:prstGeom>
          <a:solidFill>
            <a:schemeClr val="accent6">
              <a:alpha val="35000"/>
            </a:schemeClr>
          </a:solidFill>
          <a:ln/>
        </p:spPr>
      </p:sp>
      <p:sp>
        <p:nvSpPr>
          <p:cNvPr id="6" name="Raw line 1-3"/>
          <p:cNvSpPr/>
          <p:nvPr/>
        </p:nvSpPr>
        <p:spPr>
          <a:xfrm>
            <a:off x="777240" y="1965960"/>
            <a:ext cx="2926080" cy="91440"/>
          </a:xfrm>
          <a:prstGeom prst="roundRect">
            <a:avLst>
              <a:gd name="adj" fmla="val 50000"/>
            </a:avLst>
          </a:prstGeom>
          <a:solidFill>
            <a:schemeClr val="accent6">
              <a:alpha val="35000"/>
            </a:schemeClr>
          </a:solidFill>
          <a:ln/>
        </p:spPr>
      </p:sp>
      <p:sp>
        <p:nvSpPr>
          <p:cNvPr id="7" name="Raw line 1-4"/>
          <p:cNvSpPr/>
          <p:nvPr/>
        </p:nvSpPr>
        <p:spPr>
          <a:xfrm>
            <a:off x="777240" y="2148840"/>
            <a:ext cx="1645920" cy="91440"/>
          </a:xfrm>
          <a:prstGeom prst="roundRect">
            <a:avLst>
              <a:gd name="adj" fmla="val 50000"/>
            </a:avLst>
          </a:prstGeom>
          <a:solidFill>
            <a:schemeClr val="accent6">
              <a:alpha val="35000"/>
            </a:schemeClr>
          </a:solidFill>
          <a:ln/>
        </p:spPr>
      </p:sp>
      <p:sp>
        <p:nvSpPr>
          <p:cNvPr id="8" name="Raw caption 1"/>
          <p:cNvSpPr txBox="1"/>
          <p:nvPr/>
        </p:nvSpPr>
        <p:spPr>
          <a:xfrm>
            <a:off x="777240" y="2331720"/>
            <a:ext cx="3017520" cy="228600"/>
          </a:xfrm>
          <a:prstGeom prst="rect">
            <a:avLst/>
          </a:prstGeom>
          <a:noFill/>
          <a:ln/>
        </p:spPr>
        <p:txBody>
          <a:bodyPr wrap="square" lIns="0" tIns="0" rIns="0" bIns="0" rtlCol="0" anchor="t"/>
          <a:lstStyle/>
          <a:p>
            <a:pPr indent="0" marL="0">
              <a:buNone/>
            </a:pPr>
            <a:r>
              <a:rPr lang="en-US" sz="1000" b="1" spc="200" kern="0" dirty="0">
                <a:solidFill>
                  <a:schemeClr val="accent6"/>
                </a:solidFill>
              </a:rPr>
              <a:t>RAW NOTICE TEXT</a:t>
            </a:r>
            <a:endParaRPr lang="en-US" sz="1000" dirty="0"/>
          </a:p>
        </p:txBody>
      </p:sp>
      <p:sp>
        <p:nvSpPr>
          <p:cNvPr id="9" name="Example arrow 1"/>
          <p:cNvSpPr/>
          <p:nvPr/>
        </p:nvSpPr>
        <p:spPr>
          <a:xfrm>
            <a:off x="2167128" y="2743200"/>
            <a:ext cx="237744" cy="274320"/>
          </a:xfrm>
          <a:prstGeom prst="downArrow">
            <a:avLst/>
          </a:prstGeom>
          <a:solidFill>
            <a:schemeClr val="accent1"/>
          </a:solidFill>
          <a:ln/>
        </p:spPr>
      </p:sp>
      <p:sp>
        <p:nvSpPr>
          <p:cNvPr id="10" name="Example card 1"/>
          <p:cNvSpPr/>
          <p:nvPr/>
        </p:nvSpPr>
        <p:spPr>
          <a:xfrm>
            <a:off x="548640" y="3108960"/>
            <a:ext cx="3474720" cy="2697480"/>
          </a:xfrm>
          <a:prstGeom prst="roundRect">
            <a:avLst>
              <a:gd name="adj" fmla="val 4746"/>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1" name="Example priority 1"/>
          <p:cNvSpPr/>
          <p:nvPr/>
        </p:nvSpPr>
        <p:spPr>
          <a:xfrm>
            <a:off x="777240" y="3291840"/>
            <a:ext cx="1051560" cy="310896"/>
          </a:xfrm>
          <a:prstGeom prst="roundRect">
            <a:avLst>
              <a:gd name="adj" fmla="val 50000"/>
            </a:avLst>
          </a:prstGeom>
          <a:solidFill>
            <a:schemeClr val="accent4"/>
          </a:solidFill>
          <a:ln/>
        </p:spPr>
      </p:sp>
      <p:sp>
        <p:nvSpPr>
          <p:cNvPr id="12" name="Example priority 1 label"/>
          <p:cNvSpPr txBox="1"/>
          <p:nvPr/>
        </p:nvSpPr>
        <p:spPr>
          <a:xfrm>
            <a:off x="777240" y="3291840"/>
            <a:ext cx="1051560" cy="310896"/>
          </a:xfrm>
          <a:prstGeom prst="rect">
            <a:avLst/>
          </a:prstGeom>
          <a:noFill/>
          <a:ln/>
        </p:spPr>
        <p:txBody>
          <a:bodyPr wrap="square" lIns="0" tIns="0" rIns="0" bIns="0" rtlCol="0" anchor="ctr"/>
          <a:lstStyle/>
          <a:p>
            <a:pPr algn="ctr" indent="0" marL="0">
              <a:buNone/>
            </a:pPr>
            <a:r>
              <a:rPr lang="en-US" sz="1200" b="1" dirty="0">
                <a:solidFill>
                  <a:schemeClr val="bg1"/>
                </a:solidFill>
              </a:rPr>
              <a:t>HIGH</a:t>
            </a:r>
            <a:endParaRPr lang="en-US" sz="1200" dirty="0"/>
          </a:p>
        </p:txBody>
      </p:sp>
      <p:sp>
        <p:nvSpPr>
          <p:cNvPr id="13" name="Example title 1"/>
          <p:cNvSpPr txBox="1"/>
          <p:nvPr/>
        </p:nvSpPr>
        <p:spPr>
          <a:xfrm>
            <a:off x="777240" y="3749040"/>
            <a:ext cx="3017520" cy="594360"/>
          </a:xfrm>
          <a:prstGeom prst="rect">
            <a:avLst/>
          </a:prstGeom>
          <a:noFill/>
          <a:ln/>
        </p:spPr>
        <p:txBody>
          <a:bodyPr wrap="square" lIns="0" tIns="0" rIns="0" bIns="0" rtlCol="0" anchor="t"/>
          <a:lstStyle/>
          <a:p>
            <a:pPr indent="0" marL="0">
              <a:buNone/>
            </a:pPr>
            <a:r>
              <a:rPr lang="en-US" sz="1800" b="1" dirty="0">
                <a:solidFill>
                  <a:schemeClr val="tx1"/>
                </a:solidFill>
              </a:rPr>
              <a:t>Health &amp; Immunization Clearance</a:t>
            </a:r>
            <a:endParaRPr lang="en-US" sz="1800" dirty="0"/>
          </a:p>
        </p:txBody>
      </p:sp>
      <p:sp>
        <p:nvSpPr>
          <p:cNvPr id="14" name="Example action label 1"/>
          <p:cNvSpPr txBox="1"/>
          <p:nvPr/>
        </p:nvSpPr>
        <p:spPr>
          <a:xfrm>
            <a:off x="777240" y="4434840"/>
            <a:ext cx="301752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REQUIRED ACTION</a:t>
            </a:r>
            <a:endParaRPr lang="en-US" sz="1000" dirty="0"/>
          </a:p>
        </p:txBody>
      </p:sp>
      <p:sp>
        <p:nvSpPr>
          <p:cNvPr id="15" name="Example action 1"/>
          <p:cNvSpPr txBox="1"/>
          <p:nvPr/>
        </p:nvSpPr>
        <p:spPr>
          <a:xfrm>
            <a:off x="777240" y="4681728"/>
            <a:ext cx="3017520" cy="548640"/>
          </a:xfrm>
          <a:prstGeom prst="rect">
            <a:avLst/>
          </a:prstGeom>
          <a:noFill/>
          <a:ln/>
        </p:spPr>
        <p:txBody>
          <a:bodyPr wrap="square" lIns="0" tIns="0" rIns="0" bIns="0" rtlCol="0" anchor="t"/>
          <a:lstStyle/>
          <a:p>
            <a:pPr indent="0" marL="0">
              <a:buNone/>
            </a:pPr>
            <a:r>
              <a:rPr lang="en-US" sz="1400" dirty="0">
                <a:solidFill>
                  <a:schemeClr val="tx1"/>
                </a:solidFill>
              </a:rPr>
              <a:t>Submit the required documentation before the deadline.</a:t>
            </a:r>
            <a:endParaRPr lang="en-US" sz="1400" dirty="0"/>
          </a:p>
        </p:txBody>
      </p:sp>
      <p:sp>
        <p:nvSpPr>
          <p:cNvPr id="16" name="Example extra 1"/>
          <p:cNvSpPr txBox="1"/>
          <p:nvPr/>
        </p:nvSpPr>
        <p:spPr>
          <a:xfrm>
            <a:off x="777240" y="5303520"/>
            <a:ext cx="3017520" cy="411480"/>
          </a:xfrm>
          <a:prstGeom prst="rect">
            <a:avLst/>
          </a:prstGeom>
          <a:noFill/>
          <a:ln/>
        </p:spPr>
        <p:txBody>
          <a:bodyPr wrap="square" lIns="0" tIns="0" rIns="0" bIns="0" rtlCol="0" anchor="t"/>
          <a:lstStyle/>
          <a:p>
            <a:pPr indent="0" marL="0">
              <a:buNone/>
            </a:pPr>
            <a:r>
              <a:rPr lang="en-US" sz="1200" dirty="0">
                <a:solidFill>
                  <a:schemeClr val="accent6"/>
                </a:solidFill>
              </a:rPr>
              <a:t>Deadline: as stated in the notice</a:t>
            </a:r>
            <a:endParaRPr lang="en-US" sz="1200" dirty="0"/>
          </a:p>
        </p:txBody>
      </p:sp>
      <p:sp>
        <p:nvSpPr>
          <p:cNvPr id="17" name="Raw panel 2"/>
          <p:cNvSpPr/>
          <p:nvPr/>
        </p:nvSpPr>
        <p:spPr>
          <a:xfrm>
            <a:off x="4343400" y="1417320"/>
            <a:ext cx="3474720" cy="1234440"/>
          </a:xfrm>
          <a:prstGeom prst="roundRect">
            <a:avLst>
              <a:gd name="adj" fmla="val 10370"/>
            </a:avLst>
          </a:prstGeom>
          <a:solidFill>
            <a:schemeClr val="bg2"/>
          </a:solidFill>
          <a:ln/>
        </p:spPr>
      </p:sp>
      <p:sp>
        <p:nvSpPr>
          <p:cNvPr id="18" name="Raw line 2-1"/>
          <p:cNvSpPr/>
          <p:nvPr/>
        </p:nvSpPr>
        <p:spPr>
          <a:xfrm>
            <a:off x="4572000" y="1600200"/>
            <a:ext cx="2743200" cy="91440"/>
          </a:xfrm>
          <a:prstGeom prst="roundRect">
            <a:avLst>
              <a:gd name="adj" fmla="val 50000"/>
            </a:avLst>
          </a:prstGeom>
          <a:solidFill>
            <a:schemeClr val="accent6">
              <a:alpha val="35000"/>
            </a:schemeClr>
          </a:solidFill>
          <a:ln/>
        </p:spPr>
      </p:sp>
      <p:sp>
        <p:nvSpPr>
          <p:cNvPr id="19" name="Raw line 2-2"/>
          <p:cNvSpPr/>
          <p:nvPr/>
        </p:nvSpPr>
        <p:spPr>
          <a:xfrm>
            <a:off x="4572000" y="1783080"/>
            <a:ext cx="2286000" cy="91440"/>
          </a:xfrm>
          <a:prstGeom prst="roundRect">
            <a:avLst>
              <a:gd name="adj" fmla="val 50000"/>
            </a:avLst>
          </a:prstGeom>
          <a:solidFill>
            <a:schemeClr val="accent6">
              <a:alpha val="35000"/>
            </a:schemeClr>
          </a:solidFill>
          <a:ln/>
        </p:spPr>
      </p:sp>
      <p:sp>
        <p:nvSpPr>
          <p:cNvPr id="20" name="Raw line 2-3"/>
          <p:cNvSpPr/>
          <p:nvPr/>
        </p:nvSpPr>
        <p:spPr>
          <a:xfrm>
            <a:off x="4572000" y="1965960"/>
            <a:ext cx="2926080" cy="91440"/>
          </a:xfrm>
          <a:prstGeom prst="roundRect">
            <a:avLst>
              <a:gd name="adj" fmla="val 50000"/>
            </a:avLst>
          </a:prstGeom>
          <a:solidFill>
            <a:schemeClr val="accent6">
              <a:alpha val="35000"/>
            </a:schemeClr>
          </a:solidFill>
          <a:ln/>
        </p:spPr>
      </p:sp>
      <p:sp>
        <p:nvSpPr>
          <p:cNvPr id="21" name="Raw line 2-4"/>
          <p:cNvSpPr/>
          <p:nvPr/>
        </p:nvSpPr>
        <p:spPr>
          <a:xfrm>
            <a:off x="4572000" y="2148840"/>
            <a:ext cx="1645920" cy="91440"/>
          </a:xfrm>
          <a:prstGeom prst="roundRect">
            <a:avLst>
              <a:gd name="adj" fmla="val 50000"/>
            </a:avLst>
          </a:prstGeom>
          <a:solidFill>
            <a:schemeClr val="accent6">
              <a:alpha val="35000"/>
            </a:schemeClr>
          </a:solidFill>
          <a:ln/>
        </p:spPr>
      </p:sp>
      <p:sp>
        <p:nvSpPr>
          <p:cNvPr id="22" name="Raw caption 2"/>
          <p:cNvSpPr txBox="1"/>
          <p:nvPr/>
        </p:nvSpPr>
        <p:spPr>
          <a:xfrm>
            <a:off x="4572000" y="2331720"/>
            <a:ext cx="3017520" cy="228600"/>
          </a:xfrm>
          <a:prstGeom prst="rect">
            <a:avLst/>
          </a:prstGeom>
          <a:noFill/>
          <a:ln/>
        </p:spPr>
        <p:txBody>
          <a:bodyPr wrap="square" lIns="0" tIns="0" rIns="0" bIns="0" rtlCol="0" anchor="t"/>
          <a:lstStyle/>
          <a:p>
            <a:pPr indent="0" marL="0">
              <a:buNone/>
            </a:pPr>
            <a:r>
              <a:rPr lang="en-US" sz="1000" b="1" spc="200" kern="0" dirty="0">
                <a:solidFill>
                  <a:schemeClr val="accent6"/>
                </a:solidFill>
              </a:rPr>
              <a:t>RAW NOTICE TEXT</a:t>
            </a:r>
            <a:endParaRPr lang="en-US" sz="1000" dirty="0"/>
          </a:p>
        </p:txBody>
      </p:sp>
      <p:sp>
        <p:nvSpPr>
          <p:cNvPr id="23" name="Example arrow 2"/>
          <p:cNvSpPr/>
          <p:nvPr/>
        </p:nvSpPr>
        <p:spPr>
          <a:xfrm>
            <a:off x="5961888" y="2743200"/>
            <a:ext cx="237744" cy="274320"/>
          </a:xfrm>
          <a:prstGeom prst="downArrow">
            <a:avLst/>
          </a:prstGeom>
          <a:solidFill>
            <a:schemeClr val="accent1"/>
          </a:solidFill>
          <a:ln/>
        </p:spPr>
      </p:sp>
      <p:sp>
        <p:nvSpPr>
          <p:cNvPr id="24" name="Example card 2"/>
          <p:cNvSpPr/>
          <p:nvPr/>
        </p:nvSpPr>
        <p:spPr>
          <a:xfrm>
            <a:off x="4343400" y="3108960"/>
            <a:ext cx="3474720" cy="2697480"/>
          </a:xfrm>
          <a:prstGeom prst="roundRect">
            <a:avLst>
              <a:gd name="adj" fmla="val 4746"/>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25" name="Example priority 2"/>
          <p:cNvSpPr/>
          <p:nvPr/>
        </p:nvSpPr>
        <p:spPr>
          <a:xfrm>
            <a:off x="4572000" y="3291840"/>
            <a:ext cx="1051560" cy="310896"/>
          </a:xfrm>
          <a:prstGeom prst="roundRect">
            <a:avLst>
              <a:gd name="adj" fmla="val 50000"/>
            </a:avLst>
          </a:prstGeom>
          <a:solidFill>
            <a:schemeClr val="accent3"/>
          </a:solidFill>
          <a:ln/>
        </p:spPr>
      </p:sp>
      <p:sp>
        <p:nvSpPr>
          <p:cNvPr id="26" name="Example priority 2 label"/>
          <p:cNvSpPr txBox="1"/>
          <p:nvPr/>
        </p:nvSpPr>
        <p:spPr>
          <a:xfrm>
            <a:off x="4572000" y="3291840"/>
            <a:ext cx="1051560" cy="310896"/>
          </a:xfrm>
          <a:prstGeom prst="rect">
            <a:avLst/>
          </a:prstGeom>
          <a:noFill/>
          <a:ln/>
        </p:spPr>
        <p:txBody>
          <a:bodyPr wrap="square" lIns="0" tIns="0" rIns="0" bIns="0" rtlCol="0" anchor="ctr"/>
          <a:lstStyle/>
          <a:p>
            <a:pPr algn="ctr" indent="0" marL="0">
              <a:buNone/>
            </a:pPr>
            <a:r>
              <a:rPr lang="en-US" sz="1200" b="1" dirty="0">
                <a:solidFill>
                  <a:schemeClr val="tx1"/>
                </a:solidFill>
              </a:rPr>
              <a:t>MEDIUM</a:t>
            </a:r>
            <a:endParaRPr lang="en-US" sz="1200" dirty="0"/>
          </a:p>
        </p:txBody>
      </p:sp>
      <p:sp>
        <p:nvSpPr>
          <p:cNvPr id="27" name="Example title 2"/>
          <p:cNvSpPr txBox="1"/>
          <p:nvPr/>
        </p:nvSpPr>
        <p:spPr>
          <a:xfrm>
            <a:off x="4572000" y="3749040"/>
            <a:ext cx="3017520" cy="594360"/>
          </a:xfrm>
          <a:prstGeom prst="rect">
            <a:avLst/>
          </a:prstGeom>
          <a:noFill/>
          <a:ln/>
        </p:spPr>
        <p:txBody>
          <a:bodyPr wrap="square" lIns="0" tIns="0" rIns="0" bIns="0" rtlCol="0" anchor="t"/>
          <a:lstStyle/>
          <a:p>
            <a:pPr indent="0" marL="0">
              <a:buNone/>
            </a:pPr>
            <a:r>
              <a:rPr lang="en-US" sz="1800" b="1" dirty="0">
                <a:solidFill>
                  <a:schemeClr val="tx1"/>
                </a:solidFill>
              </a:rPr>
              <a:t>Career &amp; Internship Fair</a:t>
            </a:r>
            <a:endParaRPr lang="en-US" sz="1800" dirty="0"/>
          </a:p>
        </p:txBody>
      </p:sp>
      <p:sp>
        <p:nvSpPr>
          <p:cNvPr id="28" name="Example action label 2"/>
          <p:cNvSpPr txBox="1"/>
          <p:nvPr/>
        </p:nvSpPr>
        <p:spPr>
          <a:xfrm>
            <a:off x="4572000" y="4434840"/>
            <a:ext cx="301752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REQUIRED ACTION</a:t>
            </a:r>
            <a:endParaRPr lang="en-US" sz="1000" dirty="0"/>
          </a:p>
        </p:txBody>
      </p:sp>
      <p:sp>
        <p:nvSpPr>
          <p:cNvPr id="29" name="Example action 2"/>
          <p:cNvSpPr txBox="1"/>
          <p:nvPr/>
        </p:nvSpPr>
        <p:spPr>
          <a:xfrm>
            <a:off x="4572000" y="4681728"/>
            <a:ext cx="3017520" cy="548640"/>
          </a:xfrm>
          <a:prstGeom prst="rect">
            <a:avLst/>
          </a:prstGeom>
          <a:noFill/>
          <a:ln/>
        </p:spPr>
        <p:txBody>
          <a:bodyPr wrap="square" lIns="0" tIns="0" rIns="0" bIns="0" rtlCol="0" anchor="t"/>
          <a:lstStyle/>
          <a:p>
            <a:pPr indent="0" marL="0">
              <a:buNone/>
            </a:pPr>
            <a:r>
              <a:rPr lang="en-US" sz="1400" dirty="0">
                <a:solidFill>
                  <a:schemeClr val="tx1"/>
                </a:solidFill>
              </a:rPr>
              <a:t>Pre-register, prepare resumes, and attend appropriately.</a:t>
            </a:r>
            <a:endParaRPr lang="en-US" sz="1400" dirty="0"/>
          </a:p>
        </p:txBody>
      </p:sp>
      <p:sp>
        <p:nvSpPr>
          <p:cNvPr id="30" name="Example extra 2"/>
          <p:cNvSpPr txBox="1"/>
          <p:nvPr/>
        </p:nvSpPr>
        <p:spPr>
          <a:xfrm>
            <a:off x="4572000" y="5303520"/>
            <a:ext cx="3017520" cy="411480"/>
          </a:xfrm>
          <a:prstGeom prst="rect">
            <a:avLst/>
          </a:prstGeom>
          <a:noFill/>
          <a:ln/>
        </p:spPr>
        <p:txBody>
          <a:bodyPr wrap="square" lIns="0" tIns="0" rIns="0" bIns="0" rtlCol="0" anchor="t"/>
          <a:lstStyle/>
          <a:p>
            <a:pPr indent="0" marL="0">
              <a:buNone/>
            </a:pPr>
            <a:r>
              <a:rPr lang="en-US" sz="1200" dirty="0">
                <a:solidFill>
                  <a:schemeClr val="accent6"/>
                </a:solidFill>
              </a:rPr>
              <a:t>Event details and preparation shown together</a:t>
            </a:r>
            <a:endParaRPr lang="en-US" sz="1200" dirty="0"/>
          </a:p>
        </p:txBody>
      </p:sp>
      <p:sp>
        <p:nvSpPr>
          <p:cNvPr id="31" name="Raw panel 3"/>
          <p:cNvSpPr/>
          <p:nvPr/>
        </p:nvSpPr>
        <p:spPr>
          <a:xfrm>
            <a:off x="8138160" y="1417320"/>
            <a:ext cx="3474720" cy="1234440"/>
          </a:xfrm>
          <a:prstGeom prst="roundRect">
            <a:avLst>
              <a:gd name="adj" fmla="val 10370"/>
            </a:avLst>
          </a:prstGeom>
          <a:solidFill>
            <a:schemeClr val="bg2"/>
          </a:solidFill>
          <a:ln/>
        </p:spPr>
      </p:sp>
      <p:sp>
        <p:nvSpPr>
          <p:cNvPr id="32" name="Raw line 3-1"/>
          <p:cNvSpPr/>
          <p:nvPr/>
        </p:nvSpPr>
        <p:spPr>
          <a:xfrm>
            <a:off x="8366760" y="1600200"/>
            <a:ext cx="2743200" cy="91440"/>
          </a:xfrm>
          <a:prstGeom prst="roundRect">
            <a:avLst>
              <a:gd name="adj" fmla="val 50000"/>
            </a:avLst>
          </a:prstGeom>
          <a:solidFill>
            <a:schemeClr val="accent6">
              <a:alpha val="35000"/>
            </a:schemeClr>
          </a:solidFill>
          <a:ln/>
        </p:spPr>
      </p:sp>
      <p:sp>
        <p:nvSpPr>
          <p:cNvPr id="33" name="Raw line 3-2"/>
          <p:cNvSpPr/>
          <p:nvPr/>
        </p:nvSpPr>
        <p:spPr>
          <a:xfrm>
            <a:off x="8366760" y="1783080"/>
            <a:ext cx="2286000" cy="91440"/>
          </a:xfrm>
          <a:prstGeom prst="roundRect">
            <a:avLst>
              <a:gd name="adj" fmla="val 50000"/>
            </a:avLst>
          </a:prstGeom>
          <a:solidFill>
            <a:schemeClr val="accent6">
              <a:alpha val="35000"/>
            </a:schemeClr>
          </a:solidFill>
          <a:ln/>
        </p:spPr>
      </p:sp>
      <p:sp>
        <p:nvSpPr>
          <p:cNvPr id="34" name="Raw line 3-3"/>
          <p:cNvSpPr/>
          <p:nvPr/>
        </p:nvSpPr>
        <p:spPr>
          <a:xfrm>
            <a:off x="8366760" y="1965960"/>
            <a:ext cx="2926080" cy="91440"/>
          </a:xfrm>
          <a:prstGeom prst="roundRect">
            <a:avLst>
              <a:gd name="adj" fmla="val 50000"/>
            </a:avLst>
          </a:prstGeom>
          <a:solidFill>
            <a:schemeClr val="accent6">
              <a:alpha val="35000"/>
            </a:schemeClr>
          </a:solidFill>
          <a:ln/>
        </p:spPr>
      </p:sp>
      <p:sp>
        <p:nvSpPr>
          <p:cNvPr id="35" name="Raw line 3-4"/>
          <p:cNvSpPr/>
          <p:nvPr/>
        </p:nvSpPr>
        <p:spPr>
          <a:xfrm>
            <a:off x="8366760" y="2148840"/>
            <a:ext cx="1645920" cy="91440"/>
          </a:xfrm>
          <a:prstGeom prst="roundRect">
            <a:avLst>
              <a:gd name="adj" fmla="val 50000"/>
            </a:avLst>
          </a:prstGeom>
          <a:solidFill>
            <a:schemeClr val="accent6">
              <a:alpha val="35000"/>
            </a:schemeClr>
          </a:solidFill>
          <a:ln/>
        </p:spPr>
      </p:sp>
      <p:sp>
        <p:nvSpPr>
          <p:cNvPr id="36" name="Raw caption 3"/>
          <p:cNvSpPr txBox="1"/>
          <p:nvPr/>
        </p:nvSpPr>
        <p:spPr>
          <a:xfrm>
            <a:off x="8366760" y="2331720"/>
            <a:ext cx="3017520" cy="228600"/>
          </a:xfrm>
          <a:prstGeom prst="rect">
            <a:avLst/>
          </a:prstGeom>
          <a:noFill/>
          <a:ln/>
        </p:spPr>
        <p:txBody>
          <a:bodyPr wrap="square" lIns="0" tIns="0" rIns="0" bIns="0" rtlCol="0" anchor="t"/>
          <a:lstStyle/>
          <a:p>
            <a:pPr indent="0" marL="0">
              <a:buNone/>
            </a:pPr>
            <a:r>
              <a:rPr lang="en-US" sz="1000" b="1" spc="200" kern="0" dirty="0">
                <a:solidFill>
                  <a:schemeClr val="accent6"/>
                </a:solidFill>
              </a:rPr>
              <a:t>RAW NOTICE TEXT</a:t>
            </a:r>
            <a:endParaRPr lang="en-US" sz="1000" dirty="0"/>
          </a:p>
        </p:txBody>
      </p:sp>
      <p:sp>
        <p:nvSpPr>
          <p:cNvPr id="37" name="Example arrow 3"/>
          <p:cNvSpPr/>
          <p:nvPr/>
        </p:nvSpPr>
        <p:spPr>
          <a:xfrm>
            <a:off x="9756648" y="2743200"/>
            <a:ext cx="237744" cy="274320"/>
          </a:xfrm>
          <a:prstGeom prst="downArrow">
            <a:avLst/>
          </a:prstGeom>
          <a:solidFill>
            <a:schemeClr val="accent1"/>
          </a:solidFill>
          <a:ln/>
        </p:spPr>
      </p:sp>
      <p:sp>
        <p:nvSpPr>
          <p:cNvPr id="38" name="Example card 3"/>
          <p:cNvSpPr/>
          <p:nvPr/>
        </p:nvSpPr>
        <p:spPr>
          <a:xfrm>
            <a:off x="8138160" y="3108960"/>
            <a:ext cx="3474720" cy="2697480"/>
          </a:xfrm>
          <a:prstGeom prst="roundRect">
            <a:avLst>
              <a:gd name="adj" fmla="val 4746"/>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39" name="Example priority 3"/>
          <p:cNvSpPr/>
          <p:nvPr/>
        </p:nvSpPr>
        <p:spPr>
          <a:xfrm>
            <a:off x="8366760" y="3291840"/>
            <a:ext cx="1051560" cy="310896"/>
          </a:xfrm>
          <a:prstGeom prst="roundRect">
            <a:avLst>
              <a:gd name="adj" fmla="val 50000"/>
            </a:avLst>
          </a:prstGeom>
          <a:solidFill>
            <a:schemeClr val="accent5"/>
          </a:solidFill>
          <a:ln/>
        </p:spPr>
      </p:sp>
      <p:sp>
        <p:nvSpPr>
          <p:cNvPr id="40" name="Example priority 3 label"/>
          <p:cNvSpPr txBox="1"/>
          <p:nvPr/>
        </p:nvSpPr>
        <p:spPr>
          <a:xfrm>
            <a:off x="8366760" y="3291840"/>
            <a:ext cx="1051560" cy="310896"/>
          </a:xfrm>
          <a:prstGeom prst="rect">
            <a:avLst/>
          </a:prstGeom>
          <a:noFill/>
          <a:ln/>
        </p:spPr>
        <p:txBody>
          <a:bodyPr wrap="square" lIns="0" tIns="0" rIns="0" bIns="0" rtlCol="0" anchor="ctr"/>
          <a:lstStyle/>
          <a:p>
            <a:pPr algn="ctr" indent="0" marL="0">
              <a:buNone/>
            </a:pPr>
            <a:r>
              <a:rPr lang="en-US" sz="1200" b="1" dirty="0">
                <a:solidFill>
                  <a:schemeClr val="tx1"/>
                </a:solidFill>
              </a:rPr>
              <a:t>LOW</a:t>
            </a:r>
            <a:endParaRPr lang="en-US" sz="1200" dirty="0"/>
          </a:p>
        </p:txBody>
      </p:sp>
      <p:sp>
        <p:nvSpPr>
          <p:cNvPr id="41" name="Example title 3"/>
          <p:cNvSpPr txBox="1"/>
          <p:nvPr/>
        </p:nvSpPr>
        <p:spPr>
          <a:xfrm>
            <a:off x="8366760" y="3749040"/>
            <a:ext cx="3017520" cy="594360"/>
          </a:xfrm>
          <a:prstGeom prst="rect">
            <a:avLst/>
          </a:prstGeom>
          <a:noFill/>
          <a:ln/>
        </p:spPr>
        <p:txBody>
          <a:bodyPr wrap="square" lIns="0" tIns="0" rIns="0" bIns="0" rtlCol="0" anchor="t"/>
          <a:lstStyle/>
          <a:p>
            <a:pPr indent="0" marL="0">
              <a:buNone/>
            </a:pPr>
            <a:r>
              <a:rPr lang="en-US" sz="1800" b="1" dirty="0">
                <a:solidFill>
                  <a:schemeClr val="tx1"/>
                </a:solidFill>
              </a:rPr>
              <a:t>Campus Parking Notice</a:t>
            </a:r>
            <a:endParaRPr lang="en-US" sz="1800" dirty="0"/>
          </a:p>
        </p:txBody>
      </p:sp>
      <p:sp>
        <p:nvSpPr>
          <p:cNvPr id="42" name="Example action label 3"/>
          <p:cNvSpPr txBox="1"/>
          <p:nvPr/>
        </p:nvSpPr>
        <p:spPr>
          <a:xfrm>
            <a:off x="8366760" y="4434840"/>
            <a:ext cx="301752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REQUIRED ACTION</a:t>
            </a:r>
            <a:endParaRPr lang="en-US" sz="1000" dirty="0"/>
          </a:p>
        </p:txBody>
      </p:sp>
      <p:sp>
        <p:nvSpPr>
          <p:cNvPr id="43" name="Example action 3"/>
          <p:cNvSpPr txBox="1"/>
          <p:nvPr/>
        </p:nvSpPr>
        <p:spPr>
          <a:xfrm>
            <a:off x="8366760" y="4681728"/>
            <a:ext cx="3017520" cy="548640"/>
          </a:xfrm>
          <a:prstGeom prst="rect">
            <a:avLst/>
          </a:prstGeom>
          <a:noFill/>
          <a:ln/>
        </p:spPr>
        <p:txBody>
          <a:bodyPr wrap="square" lIns="0" tIns="0" rIns="0" bIns="0" rtlCol="0" anchor="t"/>
          <a:lstStyle/>
          <a:p>
            <a:pPr indent="0" marL="0">
              <a:buNone/>
            </a:pPr>
            <a:r>
              <a:rPr lang="en-US" sz="1400" dirty="0">
                <a:solidFill>
                  <a:schemeClr val="tx1"/>
                </a:solidFill>
              </a:rPr>
              <a:t>Avoid the specified lot after the stated time.</a:t>
            </a:r>
            <a:endParaRPr lang="en-US" sz="1400" dirty="0"/>
          </a:p>
        </p:txBody>
      </p:sp>
      <p:sp>
        <p:nvSpPr>
          <p:cNvPr id="44" name="Example extra 3"/>
          <p:cNvSpPr txBox="1"/>
          <p:nvPr/>
        </p:nvSpPr>
        <p:spPr>
          <a:xfrm>
            <a:off x="8366760" y="5303520"/>
            <a:ext cx="3017520" cy="411480"/>
          </a:xfrm>
          <a:prstGeom prst="rect">
            <a:avLst/>
          </a:prstGeom>
          <a:noFill/>
          <a:ln/>
        </p:spPr>
        <p:txBody>
          <a:bodyPr wrap="square" lIns="0" tIns="0" rIns="0" bIns="0" rtlCol="0" anchor="t"/>
          <a:lstStyle/>
          <a:p>
            <a:pPr indent="0" marL="0">
              <a:buNone/>
            </a:pPr>
            <a:r>
              <a:rPr lang="en-US" sz="1200" dirty="0">
                <a:solidFill>
                  <a:schemeClr val="accent6"/>
                </a:solidFill>
              </a:rPr>
              <a:t>Alternative: use an authorized parking area</a:t>
            </a:r>
            <a:endParaRPr lang="en-US" sz="1200" dirty="0"/>
          </a:p>
        </p:txBody>
      </p:sp>
      <p:sp>
        <p:nvSpPr>
          <p:cNvPr id="45" name="Examples footnote"/>
          <p:cNvSpPr txBox="1"/>
          <p:nvPr/>
        </p:nvSpPr>
        <p:spPr>
          <a:xfrm>
            <a:off x="548640" y="6035040"/>
            <a:ext cx="11064240" cy="365760"/>
          </a:xfrm>
          <a:prstGeom prst="rect">
            <a:avLst/>
          </a:prstGeom>
          <a:noFill/>
          <a:ln/>
        </p:spPr>
        <p:txBody>
          <a:bodyPr wrap="square" lIns="0" tIns="0" rIns="0" bIns="0" rtlCol="0" anchor="t"/>
          <a:lstStyle/>
          <a:p>
            <a:pPr indent="0" marL="0">
              <a:buNone/>
            </a:pPr>
            <a:r>
              <a:rPr lang="en-US" sz="1200" i="1" dirty="0">
                <a:solidFill>
                  <a:schemeClr val="accent6"/>
                </a:solidFill>
              </a:rPr>
              <a:t>Illustrative examples of the kind of information the prototype processes. Not independently verified college announcements, and not performance measurements.</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bg1"/>
                </a:solidFill>
              </a:rPr>
              <a:t>The Prototype Is Live</a:t>
            </a:r>
            <a:endParaRPr lang="en-US" sz="3600" dirty="0"/>
          </a:p>
        </p:txBody>
      </p:sp>
      <p:sp>
        <p:nvSpPr>
          <p:cNvPr id="3" name="Live label"/>
          <p:cNvSpPr txBox="1"/>
          <p:nvPr/>
        </p:nvSpPr>
        <p:spPr>
          <a:xfrm>
            <a:off x="548640" y="1508760"/>
            <a:ext cx="365760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LIVE WEB APP</a:t>
            </a:r>
            <a:endParaRPr lang="en-US" sz="1200" dirty="0"/>
          </a:p>
        </p:txBody>
      </p:sp>
      <p:sp>
        <p:nvSpPr>
          <p:cNvPr id="4" name="URL box"/>
          <p:cNvSpPr/>
          <p:nvPr/>
        </p:nvSpPr>
        <p:spPr>
          <a:xfrm>
            <a:off x="548640" y="1874520"/>
            <a:ext cx="7498080" cy="777240"/>
          </a:xfrm>
          <a:prstGeom prst="roundRect">
            <a:avLst>
              <a:gd name="adj" fmla="val 14118"/>
            </a:avLst>
          </a:prstGeom>
          <a:solidFill>
            <a:schemeClr val="bg1"/>
          </a:solidFill>
          <a:ln/>
        </p:spPr>
      </p:sp>
      <p:sp>
        <p:nvSpPr>
          <p:cNvPr id="5" name="Live URL"/>
          <p:cNvSpPr txBox="1"/>
          <p:nvPr/>
        </p:nvSpPr>
        <p:spPr>
          <a:xfrm>
            <a:off x="777240" y="1874520"/>
            <a:ext cx="7132320" cy="777240"/>
          </a:xfrm>
          <a:prstGeom prst="rect">
            <a:avLst/>
          </a:prstGeom>
          <a:noFill/>
          <a:ln/>
        </p:spPr>
        <p:txBody>
          <a:bodyPr wrap="square" lIns="0" tIns="0" rIns="0" bIns="0" rtlCol="0" anchor="ctr"/>
          <a:lstStyle/>
          <a:p>
            <a:pPr indent="0" marL="0">
              <a:buNone/>
            </a:pPr>
            <a:r>
              <a:rPr lang="en-US" sz="1600" b="1" u="sng" dirty="0">
                <a:solidFill>
                  <a:schemeClr val="tx1"/>
                </a:solidFill>
                <a:hlinkClick r:id="rId1" invalidUrl="" action="" tgtFrame="" tooltip="Open the Notice2Action prototype" history="1" highlightClick="0" endSnd="0">
                  <a:extLst>
                    <a:ext uri="{A12FA001-AC4F-418D-AE19-62706E023703}">
                      <ahyp:hlinkClr xmlns:ahyp="http://schemas.microsoft.com/office/drawing/2018/hyperlinkcolor" val="tx"/>
                    </a:ext>
                  </a:extLst>
                </a:hlinkClick>
              </a:rPr>
              <a:t>https://notice2action-ppdndd9hck3vpiskvwn3oy.streamlit.app/</a:t>
            </a:r>
            <a:endParaRPr lang="en-US" sz="1600" dirty="0"/>
          </a:p>
        </p:txBody>
      </p:sp>
      <p:sp>
        <p:nvSpPr>
          <p:cNvPr id="6" name="Live description"/>
          <p:cNvSpPr txBox="1"/>
          <p:nvPr/>
        </p:nvSpPr>
        <p:spPr>
          <a:xfrm>
            <a:off x="548640" y="2880360"/>
            <a:ext cx="7498080" cy="640080"/>
          </a:xfrm>
          <a:prstGeom prst="rect">
            <a:avLst/>
          </a:prstGeom>
          <a:noFill/>
          <a:ln/>
        </p:spPr>
        <p:txBody>
          <a:bodyPr wrap="square" lIns="0" tIns="0" rIns="0" bIns="0" rtlCol="0" anchor="t"/>
          <a:lstStyle/>
          <a:p>
            <a:pPr indent="0" marL="0">
              <a:buNone/>
            </a:pPr>
            <a:r>
              <a:rPr lang="en-US" sz="1600" dirty="0">
                <a:solidFill>
                  <a:schemeClr val="bg2"/>
                </a:solidFill>
              </a:rPr>
              <a:t>Hosted on Streamlit. Opens in any browser. Upload a PDF of college notices.</a:t>
            </a:r>
            <a:endParaRPr lang="en-US" sz="1600" dirty="0"/>
          </a:p>
        </p:txBody>
      </p:sp>
      <p:sp>
        <p:nvSpPr>
          <p:cNvPr id="7" name="Open button"/>
          <p:cNvSpPr/>
          <p:nvPr/>
        </p:nvSpPr>
        <p:spPr>
          <a:xfrm>
            <a:off x="548640" y="3703320"/>
            <a:ext cx="2651760" cy="548640"/>
          </a:xfrm>
          <a:prstGeom prst="roundRect">
            <a:avLst>
              <a:gd name="adj" fmla="val 50000"/>
            </a:avLst>
          </a:prstGeom>
          <a:solidFill>
            <a:schemeClr val="bg1"/>
          </a:solidFill>
          <a:ln/>
        </p:spPr>
      </p:sp>
      <p:sp>
        <p:nvSpPr>
          <p:cNvPr id="8" name="Open button text"/>
          <p:cNvSpPr txBox="1"/>
          <p:nvPr/>
        </p:nvSpPr>
        <p:spPr>
          <a:xfrm>
            <a:off x="548640" y="3703320"/>
            <a:ext cx="2651760" cy="548640"/>
          </a:xfrm>
          <a:prstGeom prst="rect">
            <a:avLst/>
          </a:prstGeom>
          <a:noFill/>
          <a:ln/>
        </p:spPr>
        <p:txBody>
          <a:bodyPr wrap="square" lIns="0" tIns="0" rIns="0" bIns="0" rtlCol="0" anchor="ctr"/>
          <a:lstStyle/>
          <a:p>
            <a:pPr algn="ctr" indent="0" marL="0">
              <a:buNone/>
            </a:pPr>
            <a:r>
              <a:rPr lang="en-US" sz="1600" b="1" u="sng" dirty="0">
                <a:solidFill>
                  <a:schemeClr val="tx1"/>
                </a:solidFill>
                <a:hlinkClick r:id="rId2" invalidUrl="" action="" tgtFrame="" tooltip="Open the Notice2Action prototype" history="1" highlightClick="0" endSnd="0">
                  <a:extLst>
                    <a:ext uri="{A12FA001-AC4F-418D-AE19-62706E023703}">
                      <ahyp:hlinkClr xmlns:ahyp="http://schemas.microsoft.com/office/drawing/2018/hyperlinkcolor" val="tx"/>
                    </a:ext>
                  </a:extLst>
                </a:hlinkClick>
              </a:rPr>
              <a:t>Open the prototype</a:t>
            </a:r>
            <a:endParaRPr lang="en-US" sz="1600" dirty="0"/>
          </a:p>
        </p:txBody>
      </p:sp>
      <p:sp>
        <p:nvSpPr>
          <p:cNvPr id="9" name="QR tile"/>
          <p:cNvSpPr/>
          <p:nvPr/>
        </p:nvSpPr>
        <p:spPr>
          <a:xfrm>
            <a:off x="8595360" y="1508760"/>
            <a:ext cx="3017520" cy="3017520"/>
          </a:xfrm>
          <a:prstGeom prst="roundRect">
            <a:avLst>
              <a:gd name="adj" fmla="val 4848"/>
            </a:avLst>
          </a:prstGeom>
          <a:solidFill>
            <a:schemeClr val="bg1"/>
          </a:solidFill>
          <a:ln/>
        </p:spPr>
      </p:sp>
      <p:pic>
        <p:nvPicPr>
          <p:cNvPr id="10" name="QR code" descr="QR code linking to the Notice2Action live prototype">
            <a:hlinkClick r:id="rId4" tooltip="Open the Notice2Action prototype"/>
          </p:cNvPr>
          <p:cNvPicPr>
            <a:picLocks noChangeAspect="1"/>
          </p:cNvPicPr>
          <p:nvPr/>
        </p:nvPicPr>
        <p:blipFill>
          <a:blip r:embed="rId3"/>
          <a:stretch>
            <a:fillRect/>
          </a:stretch>
        </p:blipFill>
        <p:spPr>
          <a:xfrm>
            <a:off x="8823960" y="1737360"/>
            <a:ext cx="2560320" cy="2560320"/>
          </a:xfrm>
          <a:prstGeom prst="rect">
            <a:avLst/>
          </a:prstGeom>
        </p:spPr>
      </p:pic>
      <p:sp>
        <p:nvSpPr>
          <p:cNvPr id="11" name="QR caption"/>
          <p:cNvSpPr txBox="1"/>
          <p:nvPr/>
        </p:nvSpPr>
        <p:spPr>
          <a:xfrm>
            <a:off x="8595360" y="4617720"/>
            <a:ext cx="3017520" cy="274320"/>
          </a:xfrm>
          <a:prstGeom prst="rect">
            <a:avLst/>
          </a:prstGeom>
          <a:noFill/>
          <a:ln/>
        </p:spPr>
        <p:txBody>
          <a:bodyPr wrap="square" lIns="0" tIns="0" rIns="0" bIns="0" rtlCol="0" anchor="t"/>
          <a:lstStyle/>
          <a:p>
            <a:pPr algn="ctr" indent="0" marL="0">
              <a:buNone/>
            </a:pPr>
            <a:r>
              <a:rPr lang="en-US" sz="1400" b="1" dirty="0">
                <a:solidFill>
                  <a:schemeClr val="bg1"/>
                </a:solidFill>
              </a:rPr>
              <a:t>Scan to open</a:t>
            </a:r>
            <a:endParaRPr lang="en-US" sz="1400" dirty="0"/>
          </a:p>
        </p:txBody>
      </p:sp>
      <p:sp>
        <p:nvSpPr>
          <p:cNvPr id="12" name="Demo step 1"/>
          <p:cNvSpPr/>
          <p:nvPr/>
        </p:nvSpPr>
        <p:spPr>
          <a:xfrm>
            <a:off x="548640" y="5029200"/>
            <a:ext cx="1737360" cy="1188720"/>
          </a:xfrm>
          <a:prstGeom prst="roundRect">
            <a:avLst>
              <a:gd name="adj" fmla="val 10769"/>
            </a:avLst>
          </a:prstGeom>
          <a:solidFill>
            <a:schemeClr val="tx2"/>
          </a:solidFill>
          <a:ln w="12700">
            <a:solidFill>
              <a:schemeClr val="accent1">
                <a:alpha val="45000"/>
              </a:schemeClr>
            </a:solidFill>
            <a:prstDash val="solid"/>
          </a:ln>
        </p:spPr>
      </p:sp>
      <p:sp>
        <p:nvSpPr>
          <p:cNvPr id="13" name="Demo number 1"/>
          <p:cNvSpPr txBox="1"/>
          <p:nvPr/>
        </p:nvSpPr>
        <p:spPr>
          <a:xfrm>
            <a:off x="731520" y="5120640"/>
            <a:ext cx="457200" cy="365760"/>
          </a:xfrm>
          <a:prstGeom prst="rect">
            <a:avLst/>
          </a:prstGeom>
          <a:noFill/>
          <a:ln/>
        </p:spPr>
        <p:txBody>
          <a:bodyPr wrap="square" lIns="0" tIns="0" rIns="0" bIns="0" rtlCol="0" anchor="t"/>
          <a:lstStyle/>
          <a:p>
            <a:pPr indent="0" marL="0">
              <a:buNone/>
            </a:pPr>
            <a:r>
              <a:rPr lang="en-US" sz="2000" b="1" dirty="0">
                <a:solidFill>
                  <a:schemeClr val="accent2"/>
                </a:solidFill>
              </a:rPr>
              <a:t>1</a:t>
            </a:r>
            <a:endParaRPr lang="en-US" sz="2000" dirty="0"/>
          </a:p>
        </p:txBody>
      </p:sp>
      <p:sp>
        <p:nvSpPr>
          <p:cNvPr id="14" name="Demo text 1"/>
          <p:cNvSpPr txBox="1"/>
          <p:nvPr/>
        </p:nvSpPr>
        <p:spPr>
          <a:xfrm>
            <a:off x="731520" y="5532120"/>
            <a:ext cx="1417320" cy="594360"/>
          </a:xfrm>
          <a:prstGeom prst="rect">
            <a:avLst/>
          </a:prstGeom>
          <a:noFill/>
          <a:ln/>
        </p:spPr>
        <p:txBody>
          <a:bodyPr wrap="square" lIns="0" tIns="0" rIns="0" bIns="0" rtlCol="0" anchor="t"/>
          <a:lstStyle/>
          <a:p>
            <a:pPr indent="0" marL="0">
              <a:buNone/>
            </a:pPr>
            <a:r>
              <a:rPr lang="en-US" sz="1400" dirty="0">
                <a:solidFill>
                  <a:schemeClr val="bg1"/>
                </a:solidFill>
              </a:rPr>
              <a:t>Open the site</a:t>
            </a:r>
            <a:endParaRPr lang="en-US" sz="1400" dirty="0"/>
          </a:p>
        </p:txBody>
      </p:sp>
      <p:sp>
        <p:nvSpPr>
          <p:cNvPr id="15" name="Demo step 2"/>
          <p:cNvSpPr/>
          <p:nvPr/>
        </p:nvSpPr>
        <p:spPr>
          <a:xfrm>
            <a:off x="2423160" y="5029200"/>
            <a:ext cx="1737360" cy="1188720"/>
          </a:xfrm>
          <a:prstGeom prst="roundRect">
            <a:avLst>
              <a:gd name="adj" fmla="val 10769"/>
            </a:avLst>
          </a:prstGeom>
          <a:solidFill>
            <a:schemeClr val="tx2"/>
          </a:solidFill>
          <a:ln w="12700">
            <a:solidFill>
              <a:schemeClr val="accent1">
                <a:alpha val="45000"/>
              </a:schemeClr>
            </a:solidFill>
            <a:prstDash val="solid"/>
          </a:ln>
        </p:spPr>
      </p:sp>
      <p:sp>
        <p:nvSpPr>
          <p:cNvPr id="16" name="Demo number 2"/>
          <p:cNvSpPr txBox="1"/>
          <p:nvPr/>
        </p:nvSpPr>
        <p:spPr>
          <a:xfrm>
            <a:off x="2606040" y="5120640"/>
            <a:ext cx="457200" cy="365760"/>
          </a:xfrm>
          <a:prstGeom prst="rect">
            <a:avLst/>
          </a:prstGeom>
          <a:noFill/>
          <a:ln/>
        </p:spPr>
        <p:txBody>
          <a:bodyPr wrap="square" lIns="0" tIns="0" rIns="0" bIns="0" rtlCol="0" anchor="t"/>
          <a:lstStyle/>
          <a:p>
            <a:pPr indent="0" marL="0">
              <a:buNone/>
            </a:pPr>
            <a:r>
              <a:rPr lang="en-US" sz="2000" b="1" dirty="0">
                <a:solidFill>
                  <a:schemeClr val="accent2"/>
                </a:solidFill>
              </a:rPr>
              <a:t>2</a:t>
            </a:r>
            <a:endParaRPr lang="en-US" sz="2000" dirty="0"/>
          </a:p>
        </p:txBody>
      </p:sp>
      <p:sp>
        <p:nvSpPr>
          <p:cNvPr id="17" name="Demo text 2"/>
          <p:cNvSpPr txBox="1"/>
          <p:nvPr/>
        </p:nvSpPr>
        <p:spPr>
          <a:xfrm>
            <a:off x="2606040" y="5532120"/>
            <a:ext cx="1417320" cy="594360"/>
          </a:xfrm>
          <a:prstGeom prst="rect">
            <a:avLst/>
          </a:prstGeom>
          <a:noFill/>
          <a:ln/>
        </p:spPr>
        <p:txBody>
          <a:bodyPr wrap="square" lIns="0" tIns="0" rIns="0" bIns="0" rtlCol="0" anchor="t"/>
          <a:lstStyle/>
          <a:p>
            <a:pPr indent="0" marL="0">
              <a:buNone/>
            </a:pPr>
            <a:r>
              <a:rPr lang="en-US" sz="1400" dirty="0">
                <a:solidFill>
                  <a:schemeClr val="bg1"/>
                </a:solidFill>
              </a:rPr>
              <a:t>Review the profile</a:t>
            </a:r>
            <a:endParaRPr lang="en-US" sz="1400" dirty="0"/>
          </a:p>
        </p:txBody>
      </p:sp>
      <p:sp>
        <p:nvSpPr>
          <p:cNvPr id="18" name="Demo step 3"/>
          <p:cNvSpPr/>
          <p:nvPr/>
        </p:nvSpPr>
        <p:spPr>
          <a:xfrm>
            <a:off x="4297680" y="5029200"/>
            <a:ext cx="1737360" cy="1188720"/>
          </a:xfrm>
          <a:prstGeom prst="roundRect">
            <a:avLst>
              <a:gd name="adj" fmla="val 10769"/>
            </a:avLst>
          </a:prstGeom>
          <a:solidFill>
            <a:schemeClr val="tx2"/>
          </a:solidFill>
          <a:ln w="12700">
            <a:solidFill>
              <a:schemeClr val="accent1">
                <a:alpha val="45000"/>
              </a:schemeClr>
            </a:solidFill>
            <a:prstDash val="solid"/>
          </a:ln>
        </p:spPr>
      </p:sp>
      <p:sp>
        <p:nvSpPr>
          <p:cNvPr id="19" name="Demo number 3"/>
          <p:cNvSpPr txBox="1"/>
          <p:nvPr/>
        </p:nvSpPr>
        <p:spPr>
          <a:xfrm>
            <a:off x="4480560" y="5120640"/>
            <a:ext cx="457200" cy="365760"/>
          </a:xfrm>
          <a:prstGeom prst="rect">
            <a:avLst/>
          </a:prstGeom>
          <a:noFill/>
          <a:ln/>
        </p:spPr>
        <p:txBody>
          <a:bodyPr wrap="square" lIns="0" tIns="0" rIns="0" bIns="0" rtlCol="0" anchor="t"/>
          <a:lstStyle/>
          <a:p>
            <a:pPr indent="0" marL="0">
              <a:buNone/>
            </a:pPr>
            <a:r>
              <a:rPr lang="en-US" sz="2000" b="1" dirty="0">
                <a:solidFill>
                  <a:schemeClr val="accent2"/>
                </a:solidFill>
              </a:rPr>
              <a:t>3</a:t>
            </a:r>
            <a:endParaRPr lang="en-US" sz="2000" dirty="0"/>
          </a:p>
        </p:txBody>
      </p:sp>
      <p:sp>
        <p:nvSpPr>
          <p:cNvPr id="20" name="Demo text 3"/>
          <p:cNvSpPr txBox="1"/>
          <p:nvPr/>
        </p:nvSpPr>
        <p:spPr>
          <a:xfrm>
            <a:off x="4480560" y="5532120"/>
            <a:ext cx="1417320" cy="594360"/>
          </a:xfrm>
          <a:prstGeom prst="rect">
            <a:avLst/>
          </a:prstGeom>
          <a:noFill/>
          <a:ln/>
        </p:spPr>
        <p:txBody>
          <a:bodyPr wrap="square" lIns="0" tIns="0" rIns="0" bIns="0" rtlCol="0" anchor="t"/>
          <a:lstStyle/>
          <a:p>
            <a:pPr indent="0" marL="0">
              <a:buNone/>
            </a:pPr>
            <a:r>
              <a:rPr lang="en-US" sz="1400" dirty="0">
                <a:solidFill>
                  <a:schemeClr val="bg1"/>
                </a:solidFill>
              </a:rPr>
              <a:t>Upload a sample PDF</a:t>
            </a:r>
            <a:endParaRPr lang="en-US" sz="1400" dirty="0"/>
          </a:p>
        </p:txBody>
      </p:sp>
      <p:sp>
        <p:nvSpPr>
          <p:cNvPr id="21" name="Demo step 4"/>
          <p:cNvSpPr/>
          <p:nvPr/>
        </p:nvSpPr>
        <p:spPr>
          <a:xfrm>
            <a:off x="6172200" y="5029200"/>
            <a:ext cx="1737360" cy="1188720"/>
          </a:xfrm>
          <a:prstGeom prst="roundRect">
            <a:avLst>
              <a:gd name="adj" fmla="val 10769"/>
            </a:avLst>
          </a:prstGeom>
          <a:solidFill>
            <a:schemeClr val="tx2"/>
          </a:solidFill>
          <a:ln w="12700">
            <a:solidFill>
              <a:schemeClr val="accent1">
                <a:alpha val="45000"/>
              </a:schemeClr>
            </a:solidFill>
            <a:prstDash val="solid"/>
          </a:ln>
        </p:spPr>
      </p:sp>
      <p:sp>
        <p:nvSpPr>
          <p:cNvPr id="22" name="Demo number 4"/>
          <p:cNvSpPr txBox="1"/>
          <p:nvPr/>
        </p:nvSpPr>
        <p:spPr>
          <a:xfrm>
            <a:off x="6355080" y="5120640"/>
            <a:ext cx="457200" cy="365760"/>
          </a:xfrm>
          <a:prstGeom prst="rect">
            <a:avLst/>
          </a:prstGeom>
          <a:noFill/>
          <a:ln/>
        </p:spPr>
        <p:txBody>
          <a:bodyPr wrap="square" lIns="0" tIns="0" rIns="0" bIns="0" rtlCol="0" anchor="t"/>
          <a:lstStyle/>
          <a:p>
            <a:pPr indent="0" marL="0">
              <a:buNone/>
            </a:pPr>
            <a:r>
              <a:rPr lang="en-US" sz="2000" b="1" dirty="0">
                <a:solidFill>
                  <a:schemeClr val="accent2"/>
                </a:solidFill>
              </a:rPr>
              <a:t>4</a:t>
            </a:r>
            <a:endParaRPr lang="en-US" sz="2000" dirty="0"/>
          </a:p>
        </p:txBody>
      </p:sp>
      <p:sp>
        <p:nvSpPr>
          <p:cNvPr id="23" name="Demo text 4"/>
          <p:cNvSpPr txBox="1"/>
          <p:nvPr/>
        </p:nvSpPr>
        <p:spPr>
          <a:xfrm>
            <a:off x="6355080" y="5532120"/>
            <a:ext cx="1417320" cy="594360"/>
          </a:xfrm>
          <a:prstGeom prst="rect">
            <a:avLst/>
          </a:prstGeom>
          <a:noFill/>
          <a:ln/>
        </p:spPr>
        <p:txBody>
          <a:bodyPr wrap="square" lIns="0" tIns="0" rIns="0" bIns="0" rtlCol="0" anchor="t"/>
          <a:lstStyle/>
          <a:p>
            <a:pPr indent="0" marL="0">
              <a:buNone/>
            </a:pPr>
            <a:r>
              <a:rPr lang="en-US" sz="1400" dirty="0">
                <a:solidFill>
                  <a:schemeClr val="bg1"/>
                </a:solidFill>
              </a:rPr>
              <a:t>Let it process</a:t>
            </a:r>
            <a:endParaRPr lang="en-US" sz="1400" dirty="0"/>
          </a:p>
        </p:txBody>
      </p:sp>
      <p:sp>
        <p:nvSpPr>
          <p:cNvPr id="24" name="Demo step 5"/>
          <p:cNvSpPr/>
          <p:nvPr/>
        </p:nvSpPr>
        <p:spPr>
          <a:xfrm>
            <a:off x="8046720" y="5029200"/>
            <a:ext cx="1737360" cy="1188720"/>
          </a:xfrm>
          <a:prstGeom prst="roundRect">
            <a:avLst>
              <a:gd name="adj" fmla="val 10769"/>
            </a:avLst>
          </a:prstGeom>
          <a:solidFill>
            <a:schemeClr val="tx2"/>
          </a:solidFill>
          <a:ln w="12700">
            <a:solidFill>
              <a:schemeClr val="accent1">
                <a:alpha val="45000"/>
              </a:schemeClr>
            </a:solidFill>
            <a:prstDash val="solid"/>
          </a:ln>
        </p:spPr>
      </p:sp>
      <p:sp>
        <p:nvSpPr>
          <p:cNvPr id="25" name="Demo number 5"/>
          <p:cNvSpPr txBox="1"/>
          <p:nvPr/>
        </p:nvSpPr>
        <p:spPr>
          <a:xfrm>
            <a:off x="8229600" y="5120640"/>
            <a:ext cx="457200" cy="365760"/>
          </a:xfrm>
          <a:prstGeom prst="rect">
            <a:avLst/>
          </a:prstGeom>
          <a:noFill/>
          <a:ln/>
        </p:spPr>
        <p:txBody>
          <a:bodyPr wrap="square" lIns="0" tIns="0" rIns="0" bIns="0" rtlCol="0" anchor="t"/>
          <a:lstStyle/>
          <a:p>
            <a:pPr indent="0" marL="0">
              <a:buNone/>
            </a:pPr>
            <a:r>
              <a:rPr lang="en-US" sz="2000" b="1" dirty="0">
                <a:solidFill>
                  <a:schemeClr val="accent2"/>
                </a:solidFill>
              </a:rPr>
              <a:t>5</a:t>
            </a:r>
            <a:endParaRPr lang="en-US" sz="2000" dirty="0"/>
          </a:p>
        </p:txBody>
      </p:sp>
      <p:sp>
        <p:nvSpPr>
          <p:cNvPr id="26" name="Demo text 5"/>
          <p:cNvSpPr txBox="1"/>
          <p:nvPr/>
        </p:nvSpPr>
        <p:spPr>
          <a:xfrm>
            <a:off x="8229600" y="5532120"/>
            <a:ext cx="1417320" cy="594360"/>
          </a:xfrm>
          <a:prstGeom prst="rect">
            <a:avLst/>
          </a:prstGeom>
          <a:noFill/>
          <a:ln/>
        </p:spPr>
        <p:txBody>
          <a:bodyPr wrap="square" lIns="0" tIns="0" rIns="0" bIns="0" rtlCol="0" anchor="t"/>
          <a:lstStyle/>
          <a:p>
            <a:pPr indent="0" marL="0">
              <a:buNone/>
            </a:pPr>
            <a:r>
              <a:rPr lang="en-US" sz="1400" dirty="0">
                <a:solidFill>
                  <a:schemeClr val="bg1"/>
                </a:solidFill>
              </a:rPr>
              <a:t>Review the cards</a:t>
            </a:r>
            <a:endParaRPr lang="en-US" sz="1400" dirty="0"/>
          </a:p>
        </p:txBody>
      </p:sp>
      <p:sp>
        <p:nvSpPr>
          <p:cNvPr id="27" name="Demo step 6"/>
          <p:cNvSpPr/>
          <p:nvPr/>
        </p:nvSpPr>
        <p:spPr>
          <a:xfrm>
            <a:off x="9921240" y="5029200"/>
            <a:ext cx="1737360" cy="1188720"/>
          </a:xfrm>
          <a:prstGeom prst="roundRect">
            <a:avLst>
              <a:gd name="adj" fmla="val 10769"/>
            </a:avLst>
          </a:prstGeom>
          <a:solidFill>
            <a:schemeClr val="tx2"/>
          </a:solidFill>
          <a:ln w="12700">
            <a:solidFill>
              <a:schemeClr val="accent1">
                <a:alpha val="45000"/>
              </a:schemeClr>
            </a:solidFill>
            <a:prstDash val="solid"/>
          </a:ln>
        </p:spPr>
      </p:sp>
      <p:sp>
        <p:nvSpPr>
          <p:cNvPr id="28" name="Demo number 6"/>
          <p:cNvSpPr txBox="1"/>
          <p:nvPr/>
        </p:nvSpPr>
        <p:spPr>
          <a:xfrm>
            <a:off x="10104120" y="5120640"/>
            <a:ext cx="457200" cy="365760"/>
          </a:xfrm>
          <a:prstGeom prst="rect">
            <a:avLst/>
          </a:prstGeom>
          <a:noFill/>
          <a:ln/>
        </p:spPr>
        <p:txBody>
          <a:bodyPr wrap="square" lIns="0" tIns="0" rIns="0" bIns="0" rtlCol="0" anchor="t"/>
          <a:lstStyle/>
          <a:p>
            <a:pPr indent="0" marL="0">
              <a:buNone/>
            </a:pPr>
            <a:r>
              <a:rPr lang="en-US" sz="2000" b="1" dirty="0">
                <a:solidFill>
                  <a:schemeClr val="accent2"/>
                </a:solidFill>
              </a:rPr>
              <a:t>6</a:t>
            </a:r>
            <a:endParaRPr lang="en-US" sz="2000" dirty="0"/>
          </a:p>
        </p:txBody>
      </p:sp>
      <p:sp>
        <p:nvSpPr>
          <p:cNvPr id="29" name="Demo text 6"/>
          <p:cNvSpPr txBox="1"/>
          <p:nvPr/>
        </p:nvSpPr>
        <p:spPr>
          <a:xfrm>
            <a:off x="10104120" y="5532120"/>
            <a:ext cx="1417320" cy="594360"/>
          </a:xfrm>
          <a:prstGeom prst="rect">
            <a:avLst/>
          </a:prstGeom>
          <a:noFill/>
          <a:ln/>
        </p:spPr>
        <p:txBody>
          <a:bodyPr wrap="square" lIns="0" tIns="0" rIns="0" bIns="0" rtlCol="0" anchor="t"/>
          <a:lstStyle/>
          <a:p>
            <a:pPr indent="0" marL="0">
              <a:buNone/>
            </a:pPr>
            <a:r>
              <a:rPr lang="en-US" sz="1400" dirty="0">
                <a:solidFill>
                  <a:schemeClr val="bg1"/>
                </a:solidFill>
              </a:rPr>
              <a:t>Read priority and actions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Technology Stack</a:t>
            </a:r>
            <a:endParaRPr lang="en-US" sz="3600" dirty="0"/>
          </a:p>
        </p:txBody>
      </p:sp>
      <p:sp>
        <p:nvSpPr>
          <p:cNvPr id="3" name="Tech card 1"/>
          <p:cNvSpPr/>
          <p:nvPr/>
        </p:nvSpPr>
        <p:spPr>
          <a:xfrm>
            <a:off x="548640" y="1508760"/>
            <a:ext cx="2011680" cy="3566160"/>
          </a:xfrm>
          <a:prstGeom prst="roundRect">
            <a:avLst>
              <a:gd name="adj" fmla="val 6364"/>
            </a:avLst>
          </a:prstGeom>
          <a:solidFill>
            <a:schemeClr val="bg2"/>
          </a:solidFill>
          <a:ln/>
        </p:spPr>
      </p:sp>
      <p:sp>
        <p:nvSpPr>
          <p:cNvPr id="4" name="Tech 1 circle"/>
          <p:cNvSpPr/>
          <p:nvPr/>
        </p:nvSpPr>
        <p:spPr>
          <a:xfrm>
            <a:off x="777240" y="1783080"/>
            <a:ext cx="777240" cy="777240"/>
          </a:xfrm>
          <a:prstGeom prst="ellipse">
            <a:avLst/>
          </a:prstGeom>
          <a:solidFill>
            <a:schemeClr val="accent1"/>
          </a:solidFill>
          <a:ln/>
        </p:spPr>
      </p:sp>
      <p:pic>
        <p:nvPicPr>
          <p:cNvPr id="5" name="Tech 1 icon" descr="Tech 1">    </p:cNvPr>
          <p:cNvPicPr>
            <a:picLocks noChangeAspect="1"/>
          </p:cNvPicPr>
          <p:nvPr/>
        </p:nvPicPr>
        <p:blipFill>
          <a:blip r:embed="rId1"/>
          <a:stretch>
            <a:fillRect/>
          </a:stretch>
        </p:blipFill>
        <p:spPr>
          <a:xfrm>
            <a:off x="987095" y="1992935"/>
            <a:ext cx="357530" cy="357530"/>
          </a:xfrm>
          <a:prstGeom prst="rect">
            <a:avLst/>
          </a:prstGeom>
        </p:spPr>
      </p:pic>
      <p:sp>
        <p:nvSpPr>
          <p:cNvPr id="6" name="Tech name 1"/>
          <p:cNvSpPr txBox="1"/>
          <p:nvPr/>
        </p:nvSpPr>
        <p:spPr>
          <a:xfrm>
            <a:off x="777240" y="27432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Python</a:t>
            </a:r>
            <a:endParaRPr lang="en-US" sz="2000" dirty="0"/>
          </a:p>
        </p:txBody>
      </p:sp>
      <p:sp>
        <p:nvSpPr>
          <p:cNvPr id="7" name="Tech role 1"/>
          <p:cNvSpPr txBox="1"/>
          <p:nvPr/>
        </p:nvSpPr>
        <p:spPr>
          <a:xfrm>
            <a:off x="777240" y="3291840"/>
            <a:ext cx="1600200" cy="1645920"/>
          </a:xfrm>
          <a:prstGeom prst="rect">
            <a:avLst/>
          </a:prstGeom>
          <a:noFill/>
          <a:ln/>
        </p:spPr>
        <p:txBody>
          <a:bodyPr wrap="square" lIns="0" tIns="0" rIns="0" bIns="0" rtlCol="0" anchor="t"/>
          <a:lstStyle/>
          <a:p>
            <a:pPr indent="0" marL="0">
              <a:buNone/>
            </a:pPr>
            <a:r>
              <a:rPr lang="en-US" sz="1400" dirty="0">
                <a:solidFill>
                  <a:schemeClr val="accent6"/>
                </a:solidFill>
              </a:rPr>
              <a:t>Core language for segmentation, matching and priority logic.</a:t>
            </a:r>
            <a:endParaRPr lang="en-US" sz="1400" dirty="0"/>
          </a:p>
        </p:txBody>
      </p:sp>
      <p:sp>
        <p:nvSpPr>
          <p:cNvPr id="8" name="Tech card 2"/>
          <p:cNvSpPr/>
          <p:nvPr/>
        </p:nvSpPr>
        <p:spPr>
          <a:xfrm>
            <a:off x="2811780" y="1508760"/>
            <a:ext cx="2011680" cy="3566160"/>
          </a:xfrm>
          <a:prstGeom prst="roundRect">
            <a:avLst>
              <a:gd name="adj" fmla="val 6364"/>
            </a:avLst>
          </a:prstGeom>
          <a:solidFill>
            <a:schemeClr val="bg2"/>
          </a:solidFill>
          <a:ln/>
        </p:spPr>
      </p:sp>
      <p:sp>
        <p:nvSpPr>
          <p:cNvPr id="9" name="Tech 2 circle"/>
          <p:cNvSpPr/>
          <p:nvPr/>
        </p:nvSpPr>
        <p:spPr>
          <a:xfrm>
            <a:off x="3040380" y="1783080"/>
            <a:ext cx="777240" cy="777240"/>
          </a:xfrm>
          <a:prstGeom prst="ellipse">
            <a:avLst/>
          </a:prstGeom>
          <a:solidFill>
            <a:schemeClr val="accent1"/>
          </a:solidFill>
          <a:ln/>
        </p:spPr>
      </p:sp>
      <p:pic>
        <p:nvPicPr>
          <p:cNvPr id="10" name="Tech 2 icon" descr="Tech 2">    </p:cNvPr>
          <p:cNvPicPr>
            <a:picLocks noChangeAspect="1"/>
          </p:cNvPicPr>
          <p:nvPr/>
        </p:nvPicPr>
        <p:blipFill>
          <a:blip r:embed="rId2"/>
          <a:stretch>
            <a:fillRect/>
          </a:stretch>
        </p:blipFill>
        <p:spPr>
          <a:xfrm>
            <a:off x="3250235" y="1992935"/>
            <a:ext cx="357530" cy="357530"/>
          </a:xfrm>
          <a:prstGeom prst="rect">
            <a:avLst/>
          </a:prstGeom>
        </p:spPr>
      </p:pic>
      <p:sp>
        <p:nvSpPr>
          <p:cNvPr id="11" name="Tech name 2"/>
          <p:cNvSpPr txBox="1"/>
          <p:nvPr/>
        </p:nvSpPr>
        <p:spPr>
          <a:xfrm>
            <a:off x="3040380" y="27432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Streamlit</a:t>
            </a:r>
            <a:endParaRPr lang="en-US" sz="2000" dirty="0"/>
          </a:p>
        </p:txBody>
      </p:sp>
      <p:sp>
        <p:nvSpPr>
          <p:cNvPr id="12" name="Tech role 2"/>
          <p:cNvSpPr txBox="1"/>
          <p:nvPr/>
        </p:nvSpPr>
        <p:spPr>
          <a:xfrm>
            <a:off x="3040380" y="3291840"/>
            <a:ext cx="1600200" cy="1645920"/>
          </a:xfrm>
          <a:prstGeom prst="rect">
            <a:avLst/>
          </a:prstGeom>
          <a:noFill/>
          <a:ln/>
        </p:spPr>
        <p:txBody>
          <a:bodyPr wrap="square" lIns="0" tIns="0" rIns="0" bIns="0" rtlCol="0" anchor="t"/>
          <a:lstStyle/>
          <a:p>
            <a:pPr indent="0" marL="0">
              <a:buNone/>
            </a:pPr>
            <a:r>
              <a:rPr lang="en-US" sz="1400" dirty="0">
                <a:solidFill>
                  <a:schemeClr val="accent6"/>
                </a:solidFill>
              </a:rPr>
              <a:t>Web interface for profile input, PDF upload and notice cards.</a:t>
            </a:r>
            <a:endParaRPr lang="en-US" sz="1400" dirty="0"/>
          </a:p>
        </p:txBody>
      </p:sp>
      <p:sp>
        <p:nvSpPr>
          <p:cNvPr id="13" name="Tech card 3"/>
          <p:cNvSpPr/>
          <p:nvPr/>
        </p:nvSpPr>
        <p:spPr>
          <a:xfrm>
            <a:off x="5074920" y="1508760"/>
            <a:ext cx="2011680" cy="3566160"/>
          </a:xfrm>
          <a:prstGeom prst="roundRect">
            <a:avLst>
              <a:gd name="adj" fmla="val 6364"/>
            </a:avLst>
          </a:prstGeom>
          <a:solidFill>
            <a:schemeClr val="bg2"/>
          </a:solidFill>
          <a:ln/>
        </p:spPr>
      </p:sp>
      <p:sp>
        <p:nvSpPr>
          <p:cNvPr id="14" name="Tech 3 circle"/>
          <p:cNvSpPr/>
          <p:nvPr/>
        </p:nvSpPr>
        <p:spPr>
          <a:xfrm>
            <a:off x="5303520" y="1783080"/>
            <a:ext cx="777240" cy="777240"/>
          </a:xfrm>
          <a:prstGeom prst="ellipse">
            <a:avLst/>
          </a:prstGeom>
          <a:solidFill>
            <a:schemeClr val="accent1"/>
          </a:solidFill>
          <a:ln/>
        </p:spPr>
      </p:sp>
      <p:pic>
        <p:nvPicPr>
          <p:cNvPr id="15" name="Tech 3 icon" descr="Tech 3">    </p:cNvPr>
          <p:cNvPicPr>
            <a:picLocks noChangeAspect="1"/>
          </p:cNvPicPr>
          <p:nvPr/>
        </p:nvPicPr>
        <p:blipFill>
          <a:blip r:embed="rId3"/>
          <a:stretch>
            <a:fillRect/>
          </a:stretch>
        </p:blipFill>
        <p:spPr>
          <a:xfrm>
            <a:off x="5513375" y="1992935"/>
            <a:ext cx="357530" cy="357530"/>
          </a:xfrm>
          <a:prstGeom prst="rect">
            <a:avLst/>
          </a:prstGeom>
        </p:spPr>
      </p:pic>
      <p:sp>
        <p:nvSpPr>
          <p:cNvPr id="16" name="Tech name 3"/>
          <p:cNvSpPr txBox="1"/>
          <p:nvPr/>
        </p:nvSpPr>
        <p:spPr>
          <a:xfrm>
            <a:off x="5303520" y="27432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PyMuPDF</a:t>
            </a:r>
            <a:endParaRPr lang="en-US" sz="2000" dirty="0"/>
          </a:p>
        </p:txBody>
      </p:sp>
      <p:sp>
        <p:nvSpPr>
          <p:cNvPr id="17" name="Tech role 3"/>
          <p:cNvSpPr txBox="1"/>
          <p:nvPr/>
        </p:nvSpPr>
        <p:spPr>
          <a:xfrm>
            <a:off x="5303520" y="3291840"/>
            <a:ext cx="1600200" cy="1645920"/>
          </a:xfrm>
          <a:prstGeom prst="rect">
            <a:avLst/>
          </a:prstGeom>
          <a:noFill/>
          <a:ln/>
        </p:spPr>
        <p:txBody>
          <a:bodyPr wrap="square" lIns="0" tIns="0" rIns="0" bIns="0" rtlCol="0" anchor="t"/>
          <a:lstStyle/>
          <a:p>
            <a:pPr indent="0" marL="0">
              <a:buNone/>
            </a:pPr>
            <a:r>
              <a:rPr lang="en-US" sz="1400" dirty="0">
                <a:solidFill>
                  <a:schemeClr val="accent6"/>
                </a:solidFill>
              </a:rPr>
              <a:t>Extracts readable text from the uploaded PDF.</a:t>
            </a:r>
            <a:endParaRPr lang="en-US" sz="1400" dirty="0"/>
          </a:p>
        </p:txBody>
      </p:sp>
      <p:sp>
        <p:nvSpPr>
          <p:cNvPr id="18" name="Tech card 4"/>
          <p:cNvSpPr/>
          <p:nvPr/>
        </p:nvSpPr>
        <p:spPr>
          <a:xfrm>
            <a:off x="7338060" y="1508760"/>
            <a:ext cx="2011680" cy="3566160"/>
          </a:xfrm>
          <a:prstGeom prst="roundRect">
            <a:avLst>
              <a:gd name="adj" fmla="val 6364"/>
            </a:avLst>
          </a:prstGeom>
          <a:solidFill>
            <a:schemeClr val="bg2"/>
          </a:solidFill>
          <a:ln w="25400">
            <a:solidFill>
              <a:schemeClr val="accent2"/>
            </a:solidFill>
            <a:prstDash val="solid"/>
          </a:ln>
        </p:spPr>
      </p:sp>
      <p:sp>
        <p:nvSpPr>
          <p:cNvPr id="19" name="Tech 4 circle"/>
          <p:cNvSpPr/>
          <p:nvPr/>
        </p:nvSpPr>
        <p:spPr>
          <a:xfrm>
            <a:off x="7566660" y="1783080"/>
            <a:ext cx="777240" cy="777240"/>
          </a:xfrm>
          <a:prstGeom prst="ellipse">
            <a:avLst/>
          </a:prstGeom>
          <a:solidFill>
            <a:schemeClr val="accent2"/>
          </a:solidFill>
          <a:ln/>
        </p:spPr>
      </p:sp>
      <p:pic>
        <p:nvPicPr>
          <p:cNvPr id="20" name="Tech 4 icon" descr="Tech 4">    </p:cNvPr>
          <p:cNvPicPr>
            <a:picLocks noChangeAspect="1"/>
          </p:cNvPicPr>
          <p:nvPr/>
        </p:nvPicPr>
        <p:blipFill>
          <a:blip r:embed="rId4"/>
          <a:stretch>
            <a:fillRect/>
          </a:stretch>
        </p:blipFill>
        <p:spPr>
          <a:xfrm>
            <a:off x="7776515" y="1992935"/>
            <a:ext cx="357530" cy="357530"/>
          </a:xfrm>
          <a:prstGeom prst="rect">
            <a:avLst/>
          </a:prstGeom>
        </p:spPr>
      </p:pic>
      <p:sp>
        <p:nvSpPr>
          <p:cNvPr id="21" name="Tech name 4"/>
          <p:cNvSpPr txBox="1"/>
          <p:nvPr/>
        </p:nvSpPr>
        <p:spPr>
          <a:xfrm>
            <a:off x="7566660" y="27432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Groq API</a:t>
            </a:r>
            <a:endParaRPr lang="en-US" sz="2000" dirty="0"/>
          </a:p>
        </p:txBody>
      </p:sp>
      <p:sp>
        <p:nvSpPr>
          <p:cNvPr id="22" name="Tech role 4"/>
          <p:cNvSpPr txBox="1"/>
          <p:nvPr/>
        </p:nvSpPr>
        <p:spPr>
          <a:xfrm>
            <a:off x="7566660" y="3291840"/>
            <a:ext cx="1600200" cy="1645920"/>
          </a:xfrm>
          <a:prstGeom prst="rect">
            <a:avLst/>
          </a:prstGeom>
          <a:noFill/>
          <a:ln/>
        </p:spPr>
        <p:txBody>
          <a:bodyPr wrap="square" lIns="0" tIns="0" rIns="0" bIns="0" rtlCol="0" anchor="t"/>
          <a:lstStyle/>
          <a:p>
            <a:pPr indent="0" marL="0">
              <a:buNone/>
            </a:pPr>
            <a:r>
              <a:rPr lang="en-US" sz="1400" dirty="0">
                <a:solidFill>
                  <a:schemeClr val="accent6"/>
                </a:solidFill>
              </a:rPr>
              <a:t>Hosted language-model inference that helps analyze notice content.</a:t>
            </a:r>
            <a:endParaRPr lang="en-US" sz="1400" dirty="0"/>
          </a:p>
        </p:txBody>
      </p:sp>
      <p:sp>
        <p:nvSpPr>
          <p:cNvPr id="23" name="Tech card 5"/>
          <p:cNvSpPr/>
          <p:nvPr/>
        </p:nvSpPr>
        <p:spPr>
          <a:xfrm>
            <a:off x="9601200" y="1508760"/>
            <a:ext cx="2011680" cy="3566160"/>
          </a:xfrm>
          <a:prstGeom prst="roundRect">
            <a:avLst>
              <a:gd name="adj" fmla="val 6364"/>
            </a:avLst>
          </a:prstGeom>
          <a:solidFill>
            <a:schemeClr val="bg2"/>
          </a:solidFill>
          <a:ln/>
        </p:spPr>
      </p:sp>
      <p:sp>
        <p:nvSpPr>
          <p:cNvPr id="24" name="Tech 5 circle"/>
          <p:cNvSpPr/>
          <p:nvPr/>
        </p:nvSpPr>
        <p:spPr>
          <a:xfrm>
            <a:off x="9829800" y="1783080"/>
            <a:ext cx="777240" cy="777240"/>
          </a:xfrm>
          <a:prstGeom prst="ellipse">
            <a:avLst/>
          </a:prstGeom>
          <a:solidFill>
            <a:schemeClr val="accent1"/>
          </a:solidFill>
          <a:ln/>
        </p:spPr>
      </p:sp>
      <p:pic>
        <p:nvPicPr>
          <p:cNvPr id="25" name="Tech 5 icon" descr="Tech 5">    </p:cNvPr>
          <p:cNvPicPr>
            <a:picLocks noChangeAspect="1"/>
          </p:cNvPicPr>
          <p:nvPr/>
        </p:nvPicPr>
        <p:blipFill>
          <a:blip r:embed="rId5"/>
          <a:stretch>
            <a:fillRect/>
          </a:stretch>
        </p:blipFill>
        <p:spPr>
          <a:xfrm>
            <a:off x="10039655" y="1992935"/>
            <a:ext cx="357530" cy="357530"/>
          </a:xfrm>
          <a:prstGeom prst="rect">
            <a:avLst/>
          </a:prstGeom>
        </p:spPr>
      </p:pic>
      <p:sp>
        <p:nvSpPr>
          <p:cNvPr id="26" name="Tech name 5"/>
          <p:cNvSpPr txBox="1"/>
          <p:nvPr/>
        </p:nvSpPr>
        <p:spPr>
          <a:xfrm>
            <a:off x="9829800" y="2743200"/>
            <a:ext cx="1645920" cy="411480"/>
          </a:xfrm>
          <a:prstGeom prst="rect">
            <a:avLst/>
          </a:prstGeom>
          <a:noFill/>
          <a:ln/>
        </p:spPr>
        <p:txBody>
          <a:bodyPr wrap="square" lIns="0" tIns="0" rIns="0" bIns="0" rtlCol="0" anchor="t"/>
          <a:lstStyle/>
          <a:p>
            <a:pPr indent="0" marL="0">
              <a:buNone/>
            </a:pPr>
            <a:r>
              <a:rPr lang="en-US" sz="2000" b="1" dirty="0">
                <a:solidFill>
                  <a:schemeClr val="tx1"/>
                </a:solidFill>
              </a:rPr>
              <a:t>Python rules</a:t>
            </a:r>
            <a:endParaRPr lang="en-US" sz="2000" dirty="0"/>
          </a:p>
        </p:txBody>
      </p:sp>
      <p:sp>
        <p:nvSpPr>
          <p:cNvPr id="27" name="Tech role 5"/>
          <p:cNvSpPr txBox="1"/>
          <p:nvPr/>
        </p:nvSpPr>
        <p:spPr>
          <a:xfrm>
            <a:off x="9829800" y="3291840"/>
            <a:ext cx="1600200" cy="1645920"/>
          </a:xfrm>
          <a:prstGeom prst="rect">
            <a:avLst/>
          </a:prstGeom>
          <a:noFill/>
          <a:ln/>
        </p:spPr>
        <p:txBody>
          <a:bodyPr wrap="square" lIns="0" tIns="0" rIns="0" bIns="0" rtlCol="0" anchor="t"/>
          <a:lstStyle/>
          <a:p>
            <a:pPr indent="0" marL="0">
              <a:buNone/>
            </a:pPr>
            <a:r>
              <a:rPr lang="en-US" sz="1400" dirty="0">
                <a:solidFill>
                  <a:schemeClr val="accent6"/>
                </a:solidFill>
              </a:rPr>
              <a:t>Conventional checks for relevance and priority.</a:t>
            </a:r>
            <a:endParaRPr lang="en-US" sz="1400" dirty="0"/>
          </a:p>
        </p:txBody>
      </p:sp>
      <p:sp>
        <p:nvSpPr>
          <p:cNvPr id="28" name="Tech banner"/>
          <p:cNvSpPr/>
          <p:nvPr/>
        </p:nvSpPr>
        <p:spPr>
          <a:xfrm>
            <a:off x="548640" y="5394960"/>
            <a:ext cx="11064240" cy="731520"/>
          </a:xfrm>
          <a:prstGeom prst="roundRect">
            <a:avLst>
              <a:gd name="adj" fmla="val 17500"/>
            </a:avLst>
          </a:prstGeom>
          <a:solidFill>
            <a:schemeClr val="tx1"/>
          </a:solidFill>
          <a:ln/>
        </p:spPr>
      </p:sp>
      <p:sp>
        <p:nvSpPr>
          <p:cNvPr id="29" name="Tech banner text"/>
          <p:cNvSpPr txBox="1"/>
          <p:nvPr/>
        </p:nvSpPr>
        <p:spPr>
          <a:xfrm>
            <a:off x="548640" y="5394960"/>
            <a:ext cx="11064240" cy="731520"/>
          </a:xfrm>
          <a:prstGeom prst="rect">
            <a:avLst/>
          </a:prstGeom>
          <a:noFill/>
          <a:ln/>
        </p:spPr>
        <p:txBody>
          <a:bodyPr wrap="square" lIns="0" tIns="0" rIns="0" bIns="0" rtlCol="0" anchor="ctr"/>
          <a:lstStyle/>
          <a:p>
            <a:pPr algn="ctr" indent="0" marL="0">
              <a:buNone/>
            </a:pPr>
            <a:r>
              <a:rPr lang="en-US" sz="1800" b="1" dirty="0">
                <a:solidFill>
                  <a:schemeClr val="bg1"/>
                </a:solidFill>
              </a:rPr>
              <a:t>Hosted LLM through the Groq API. No custom-trained model, no vector database, no RAG pipeline.</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Capabilities and Limitations</a:t>
            </a:r>
            <a:endParaRPr lang="en-US" sz="3600" dirty="0"/>
          </a:p>
        </p:txBody>
      </p:sp>
      <p:sp>
        <p:nvSpPr>
          <p:cNvPr id="3" name="Capabilities card"/>
          <p:cNvSpPr/>
          <p:nvPr/>
        </p:nvSpPr>
        <p:spPr>
          <a:xfrm>
            <a:off x="548640" y="1417320"/>
            <a:ext cx="5440680" cy="4709160"/>
          </a:xfrm>
          <a:prstGeom prst="roundRect">
            <a:avLst>
              <a:gd name="adj" fmla="val 2718"/>
            </a:avLst>
          </a:prstGeom>
          <a:solidFill>
            <a:schemeClr val="bg2"/>
          </a:solidFill>
          <a:ln/>
        </p:spPr>
      </p:sp>
      <p:sp>
        <p:nvSpPr>
          <p:cNvPr id="4" name="Capabilities heading"/>
          <p:cNvSpPr txBox="1"/>
          <p:nvPr/>
        </p:nvSpPr>
        <p:spPr>
          <a:xfrm>
            <a:off x="822960" y="1600200"/>
            <a:ext cx="4937760" cy="411480"/>
          </a:xfrm>
          <a:prstGeom prst="rect">
            <a:avLst/>
          </a:prstGeom>
          <a:noFill/>
          <a:ln/>
        </p:spPr>
        <p:txBody>
          <a:bodyPr wrap="square" lIns="0" tIns="0" rIns="0" bIns="0" rtlCol="0" anchor="t"/>
          <a:lstStyle/>
          <a:p>
            <a:pPr indent="0" marL="0">
              <a:buNone/>
            </a:pPr>
            <a:r>
              <a:rPr lang="en-US" sz="2200" b="1" dirty="0">
                <a:solidFill>
                  <a:schemeClr val="tx1"/>
                </a:solidFill>
              </a:rPr>
              <a:t>Implemented today</a:t>
            </a:r>
            <a:endParaRPr lang="en-US" sz="2200" dirty="0"/>
          </a:p>
        </p:txBody>
      </p:sp>
      <p:pic>
        <p:nvPicPr>
          <p:cNvPr id="5" name="Capability icon 1" descr="Check">    </p:cNvPr>
          <p:cNvPicPr>
            <a:picLocks noChangeAspect="1"/>
          </p:cNvPicPr>
          <p:nvPr/>
        </p:nvPicPr>
        <p:blipFill>
          <a:blip r:embed="rId1"/>
          <a:stretch>
            <a:fillRect/>
          </a:stretch>
        </p:blipFill>
        <p:spPr>
          <a:xfrm>
            <a:off x="822960" y="2286000"/>
            <a:ext cx="292608" cy="292608"/>
          </a:xfrm>
          <a:prstGeom prst="rect">
            <a:avLst/>
          </a:prstGeom>
        </p:spPr>
      </p:pic>
      <p:sp>
        <p:nvSpPr>
          <p:cNvPr id="6" name="Capability 1"/>
          <p:cNvSpPr txBox="1"/>
          <p:nvPr/>
        </p:nvSpPr>
        <p:spPr>
          <a:xfrm>
            <a:off x="1280160" y="2240280"/>
            <a:ext cx="4526280" cy="566928"/>
          </a:xfrm>
          <a:prstGeom prst="rect">
            <a:avLst/>
          </a:prstGeom>
          <a:noFill/>
          <a:ln/>
        </p:spPr>
        <p:txBody>
          <a:bodyPr wrap="square" lIns="0" tIns="0" rIns="0" bIns="0" rtlCol="0" anchor="t"/>
          <a:lstStyle/>
          <a:p>
            <a:pPr indent="0" marL="0">
              <a:buNone/>
            </a:pPr>
            <a:r>
              <a:rPr lang="en-US" sz="1600" dirty="0">
                <a:solidFill>
                  <a:schemeClr val="tx1"/>
                </a:solidFill>
              </a:rPr>
              <a:t>Accepts an uploaded PDF of college notices</a:t>
            </a:r>
            <a:endParaRPr lang="en-US" sz="1600" dirty="0"/>
          </a:p>
        </p:txBody>
      </p:sp>
      <p:pic>
        <p:nvPicPr>
          <p:cNvPr id="7" name="Capability icon 2" descr="Check">    </p:cNvPr>
          <p:cNvPicPr>
            <a:picLocks noChangeAspect="1"/>
          </p:cNvPicPr>
          <p:nvPr/>
        </p:nvPicPr>
        <p:blipFill>
          <a:blip r:embed="rId2"/>
          <a:stretch>
            <a:fillRect/>
          </a:stretch>
        </p:blipFill>
        <p:spPr>
          <a:xfrm>
            <a:off x="822960" y="2926080"/>
            <a:ext cx="292608" cy="292608"/>
          </a:xfrm>
          <a:prstGeom prst="rect">
            <a:avLst/>
          </a:prstGeom>
        </p:spPr>
      </p:pic>
      <p:sp>
        <p:nvSpPr>
          <p:cNvPr id="8" name="Capability 2"/>
          <p:cNvSpPr txBox="1"/>
          <p:nvPr/>
        </p:nvSpPr>
        <p:spPr>
          <a:xfrm>
            <a:off x="1280160" y="2880360"/>
            <a:ext cx="4526280" cy="566928"/>
          </a:xfrm>
          <a:prstGeom prst="rect">
            <a:avLst/>
          </a:prstGeom>
          <a:noFill/>
          <a:ln/>
        </p:spPr>
        <p:txBody>
          <a:bodyPr wrap="square" lIns="0" tIns="0" rIns="0" bIns="0" rtlCol="0" anchor="t"/>
          <a:lstStyle/>
          <a:p>
            <a:pPr indent="0" marL="0">
              <a:buNone/>
            </a:pPr>
            <a:r>
              <a:rPr lang="en-US" sz="1600" dirty="0">
                <a:solidFill>
                  <a:schemeClr val="tx1"/>
                </a:solidFill>
              </a:rPr>
              <a:t>Extracts text and splits it into individual notices</a:t>
            </a:r>
            <a:endParaRPr lang="en-US" sz="1600" dirty="0"/>
          </a:p>
        </p:txBody>
      </p:sp>
      <p:pic>
        <p:nvPicPr>
          <p:cNvPr id="9" name="Capability icon 3" descr="Check">    </p:cNvPr>
          <p:cNvPicPr>
            <a:picLocks noChangeAspect="1"/>
          </p:cNvPicPr>
          <p:nvPr/>
        </p:nvPicPr>
        <p:blipFill>
          <a:blip r:embed="rId3"/>
          <a:stretch>
            <a:fillRect/>
          </a:stretch>
        </p:blipFill>
        <p:spPr>
          <a:xfrm>
            <a:off x="822960" y="3566160"/>
            <a:ext cx="292608" cy="292608"/>
          </a:xfrm>
          <a:prstGeom prst="rect">
            <a:avLst/>
          </a:prstGeom>
        </p:spPr>
      </p:pic>
      <p:sp>
        <p:nvSpPr>
          <p:cNvPr id="10" name="Capability 3"/>
          <p:cNvSpPr txBox="1"/>
          <p:nvPr/>
        </p:nvSpPr>
        <p:spPr>
          <a:xfrm>
            <a:off x="1280160" y="3520440"/>
            <a:ext cx="4526280" cy="566928"/>
          </a:xfrm>
          <a:prstGeom prst="rect">
            <a:avLst/>
          </a:prstGeom>
          <a:noFill/>
          <a:ln/>
        </p:spPr>
        <p:txBody>
          <a:bodyPr wrap="square" lIns="0" tIns="0" rIns="0" bIns="0" rtlCol="0" anchor="t"/>
          <a:lstStyle/>
          <a:p>
            <a:pPr indent="0" marL="0">
              <a:buNone/>
            </a:pPr>
            <a:r>
              <a:rPr lang="en-US" sz="1600" dirty="0">
                <a:solidFill>
                  <a:schemeClr val="tx1"/>
                </a:solidFill>
              </a:rPr>
              <a:t>Uses AI to help extract structured details</a:t>
            </a:r>
            <a:endParaRPr lang="en-US" sz="1600" dirty="0"/>
          </a:p>
        </p:txBody>
      </p:sp>
      <p:pic>
        <p:nvPicPr>
          <p:cNvPr id="11" name="Capability icon 4" descr="Check">    </p:cNvPr>
          <p:cNvPicPr>
            <a:picLocks noChangeAspect="1"/>
          </p:cNvPicPr>
          <p:nvPr/>
        </p:nvPicPr>
        <p:blipFill>
          <a:blip r:embed="rId4"/>
          <a:stretch>
            <a:fillRect/>
          </a:stretch>
        </p:blipFill>
        <p:spPr>
          <a:xfrm>
            <a:off x="822960" y="4206240"/>
            <a:ext cx="292608" cy="292608"/>
          </a:xfrm>
          <a:prstGeom prst="rect">
            <a:avLst/>
          </a:prstGeom>
        </p:spPr>
      </p:pic>
      <p:sp>
        <p:nvSpPr>
          <p:cNvPr id="12" name="Capability 4"/>
          <p:cNvSpPr txBox="1"/>
          <p:nvPr/>
        </p:nvSpPr>
        <p:spPr>
          <a:xfrm>
            <a:off x="1280160" y="4160520"/>
            <a:ext cx="4526280" cy="566928"/>
          </a:xfrm>
          <a:prstGeom prst="rect">
            <a:avLst/>
          </a:prstGeom>
          <a:noFill/>
          <a:ln/>
        </p:spPr>
        <p:txBody>
          <a:bodyPr wrap="square" lIns="0" tIns="0" rIns="0" bIns="0" rtlCol="0" anchor="t"/>
          <a:lstStyle/>
          <a:p>
            <a:pPr indent="0" marL="0">
              <a:buNone/>
            </a:pPr>
            <a:r>
              <a:rPr lang="en-US" sz="1600" dirty="0">
                <a:solidFill>
                  <a:schemeClr val="tx1"/>
                </a:solidFill>
              </a:rPr>
              <a:t>Matches notices against the student profile</a:t>
            </a:r>
            <a:endParaRPr lang="en-US" sz="1600" dirty="0"/>
          </a:p>
        </p:txBody>
      </p:sp>
      <p:pic>
        <p:nvPicPr>
          <p:cNvPr id="13" name="Capability icon 5" descr="Check">    </p:cNvPr>
          <p:cNvPicPr>
            <a:picLocks noChangeAspect="1"/>
          </p:cNvPicPr>
          <p:nvPr/>
        </p:nvPicPr>
        <p:blipFill>
          <a:blip r:embed="rId5"/>
          <a:stretch>
            <a:fillRect/>
          </a:stretch>
        </p:blipFill>
        <p:spPr>
          <a:xfrm>
            <a:off x="822960" y="4846320"/>
            <a:ext cx="292608" cy="292608"/>
          </a:xfrm>
          <a:prstGeom prst="rect">
            <a:avLst/>
          </a:prstGeom>
        </p:spPr>
      </p:pic>
      <p:sp>
        <p:nvSpPr>
          <p:cNvPr id="14" name="Capability 5"/>
          <p:cNvSpPr txBox="1"/>
          <p:nvPr/>
        </p:nvSpPr>
        <p:spPr>
          <a:xfrm>
            <a:off x="1280160" y="4800600"/>
            <a:ext cx="4526280" cy="566928"/>
          </a:xfrm>
          <a:prstGeom prst="rect">
            <a:avLst/>
          </a:prstGeom>
          <a:noFill/>
          <a:ln/>
        </p:spPr>
        <p:txBody>
          <a:bodyPr wrap="square" lIns="0" tIns="0" rIns="0" bIns="0" rtlCol="0" anchor="t"/>
          <a:lstStyle/>
          <a:p>
            <a:pPr indent="0" marL="0">
              <a:buNone/>
            </a:pPr>
            <a:r>
              <a:rPr lang="en-US" sz="1600" dirty="0">
                <a:solidFill>
                  <a:schemeClr val="tx1"/>
                </a:solidFill>
              </a:rPr>
              <a:t>Assigns priority levels</a:t>
            </a:r>
            <a:endParaRPr lang="en-US" sz="1600" dirty="0"/>
          </a:p>
        </p:txBody>
      </p:sp>
      <p:pic>
        <p:nvPicPr>
          <p:cNvPr id="15" name="Capability icon 6" descr="Check">    </p:cNvPr>
          <p:cNvPicPr>
            <a:picLocks noChangeAspect="1"/>
          </p:cNvPicPr>
          <p:nvPr/>
        </p:nvPicPr>
        <p:blipFill>
          <a:blip r:embed="rId6"/>
          <a:stretch>
            <a:fillRect/>
          </a:stretch>
        </p:blipFill>
        <p:spPr>
          <a:xfrm>
            <a:off x="822960" y="5486400"/>
            <a:ext cx="292608" cy="292608"/>
          </a:xfrm>
          <a:prstGeom prst="rect">
            <a:avLst/>
          </a:prstGeom>
        </p:spPr>
      </p:pic>
      <p:sp>
        <p:nvSpPr>
          <p:cNvPr id="16" name="Capability 6"/>
          <p:cNvSpPr txBox="1"/>
          <p:nvPr/>
        </p:nvSpPr>
        <p:spPr>
          <a:xfrm>
            <a:off x="1280160" y="5440680"/>
            <a:ext cx="4526280" cy="566928"/>
          </a:xfrm>
          <a:prstGeom prst="rect">
            <a:avLst/>
          </a:prstGeom>
          <a:noFill/>
          <a:ln/>
        </p:spPr>
        <p:txBody>
          <a:bodyPr wrap="square" lIns="0" tIns="0" rIns="0" bIns="0" rtlCol="0" anchor="t"/>
          <a:lstStyle/>
          <a:p>
            <a:pPr indent="0" marL="0">
              <a:buNone/>
            </a:pPr>
            <a:r>
              <a:rPr lang="en-US" sz="1600" dirty="0">
                <a:solidFill>
                  <a:schemeClr val="tx1"/>
                </a:solidFill>
              </a:rPr>
              <a:t>Shows structured cards with required actions</a:t>
            </a:r>
            <a:endParaRPr lang="en-US" sz="1600" dirty="0"/>
          </a:p>
        </p:txBody>
      </p:sp>
      <p:sp>
        <p:nvSpPr>
          <p:cNvPr id="17" name="Limitations card"/>
          <p:cNvSpPr/>
          <p:nvPr/>
        </p:nvSpPr>
        <p:spPr>
          <a:xfrm>
            <a:off x="6199632" y="1417320"/>
            <a:ext cx="5440680" cy="4709160"/>
          </a:xfrm>
          <a:prstGeom prst="roundRect">
            <a:avLst>
              <a:gd name="adj" fmla="val 2718"/>
            </a:avLst>
          </a:prstGeom>
          <a:solidFill>
            <a:schemeClr val="bg2"/>
          </a:solidFill>
          <a:ln/>
        </p:spPr>
      </p:sp>
      <p:sp>
        <p:nvSpPr>
          <p:cNvPr id="18" name="Limitations heading"/>
          <p:cNvSpPr txBox="1"/>
          <p:nvPr/>
        </p:nvSpPr>
        <p:spPr>
          <a:xfrm>
            <a:off x="6473952" y="1600200"/>
            <a:ext cx="4937760" cy="411480"/>
          </a:xfrm>
          <a:prstGeom prst="rect">
            <a:avLst/>
          </a:prstGeom>
          <a:noFill/>
          <a:ln/>
        </p:spPr>
        <p:txBody>
          <a:bodyPr wrap="square" lIns="0" tIns="0" rIns="0" bIns="0" rtlCol="0" anchor="t"/>
          <a:lstStyle/>
          <a:p>
            <a:pPr indent="0" marL="0">
              <a:buNone/>
            </a:pPr>
            <a:r>
              <a:rPr lang="en-US" sz="2200" b="1" dirty="0">
                <a:solidFill>
                  <a:schemeClr val="tx1"/>
                </a:solidFill>
              </a:rPr>
              <a:t>Current limitations</a:t>
            </a:r>
            <a:endParaRPr lang="en-US" sz="2200" dirty="0"/>
          </a:p>
        </p:txBody>
      </p:sp>
      <p:pic>
        <p:nvPicPr>
          <p:cNvPr id="19" name="Limitation icon 1" descr="Warning">    </p:cNvPr>
          <p:cNvPicPr>
            <a:picLocks noChangeAspect="1"/>
          </p:cNvPicPr>
          <p:nvPr/>
        </p:nvPicPr>
        <p:blipFill>
          <a:blip r:embed="rId7"/>
          <a:stretch>
            <a:fillRect/>
          </a:stretch>
        </p:blipFill>
        <p:spPr>
          <a:xfrm>
            <a:off x="6473952" y="2286000"/>
            <a:ext cx="292608" cy="292608"/>
          </a:xfrm>
          <a:prstGeom prst="rect">
            <a:avLst/>
          </a:prstGeom>
        </p:spPr>
      </p:pic>
      <p:sp>
        <p:nvSpPr>
          <p:cNvPr id="20" name="Limitation 1"/>
          <p:cNvSpPr txBox="1"/>
          <p:nvPr/>
        </p:nvSpPr>
        <p:spPr>
          <a:xfrm>
            <a:off x="6931152" y="2240280"/>
            <a:ext cx="4480560" cy="640080"/>
          </a:xfrm>
          <a:prstGeom prst="rect">
            <a:avLst/>
          </a:prstGeom>
          <a:noFill/>
          <a:ln/>
        </p:spPr>
        <p:txBody>
          <a:bodyPr wrap="square" lIns="0" tIns="0" rIns="0" bIns="0" rtlCol="0" anchor="t"/>
          <a:lstStyle/>
          <a:p>
            <a:pPr indent="0" marL="0">
              <a:buNone/>
            </a:pPr>
            <a:r>
              <a:rPr lang="en-US" sz="1600" dirty="0">
                <a:solidFill>
                  <a:schemeClr val="tx1"/>
                </a:solidFill>
              </a:rPr>
              <a:t>Needs a PDF upload; no automatic WhatsApp, Telegram or portal reading</a:t>
            </a:r>
            <a:endParaRPr lang="en-US" sz="1600" dirty="0"/>
          </a:p>
        </p:txBody>
      </p:sp>
      <p:pic>
        <p:nvPicPr>
          <p:cNvPr id="21" name="Limitation icon 2" descr="Warning">    </p:cNvPr>
          <p:cNvPicPr>
            <a:picLocks noChangeAspect="1"/>
          </p:cNvPicPr>
          <p:nvPr/>
        </p:nvPicPr>
        <p:blipFill>
          <a:blip r:embed="rId8"/>
          <a:stretch>
            <a:fillRect/>
          </a:stretch>
        </p:blipFill>
        <p:spPr>
          <a:xfrm>
            <a:off x="6473952" y="3017520"/>
            <a:ext cx="292608" cy="292608"/>
          </a:xfrm>
          <a:prstGeom prst="rect">
            <a:avLst/>
          </a:prstGeom>
        </p:spPr>
      </p:pic>
      <p:sp>
        <p:nvSpPr>
          <p:cNvPr id="22" name="Limitation 2"/>
          <p:cNvSpPr txBox="1"/>
          <p:nvPr/>
        </p:nvSpPr>
        <p:spPr>
          <a:xfrm>
            <a:off x="6931152" y="2971800"/>
            <a:ext cx="4480560" cy="640080"/>
          </a:xfrm>
          <a:prstGeom prst="rect">
            <a:avLst/>
          </a:prstGeom>
          <a:noFill/>
          <a:ln/>
        </p:spPr>
        <p:txBody>
          <a:bodyPr wrap="square" lIns="0" tIns="0" rIns="0" bIns="0" rtlCol="0" anchor="t"/>
          <a:lstStyle/>
          <a:p>
            <a:pPr indent="0" marL="0">
              <a:buNone/>
            </a:pPr>
            <a:r>
              <a:rPr lang="en-US" sz="1600" dirty="0">
                <a:solidFill>
                  <a:schemeClr val="tx1"/>
                </a:solidFill>
              </a:rPr>
              <a:t>Extracted and AI-generated details should be verified against the original notice</a:t>
            </a:r>
            <a:endParaRPr lang="en-US" sz="1600" dirty="0"/>
          </a:p>
        </p:txBody>
      </p:sp>
      <p:pic>
        <p:nvPicPr>
          <p:cNvPr id="23" name="Limitation icon 3" descr="Warning">    </p:cNvPr>
          <p:cNvPicPr>
            <a:picLocks noChangeAspect="1"/>
          </p:cNvPicPr>
          <p:nvPr/>
        </p:nvPicPr>
        <p:blipFill>
          <a:blip r:embed="rId9"/>
          <a:stretch>
            <a:fillRect/>
          </a:stretch>
        </p:blipFill>
        <p:spPr>
          <a:xfrm>
            <a:off x="6473952" y="3749040"/>
            <a:ext cx="292608" cy="292608"/>
          </a:xfrm>
          <a:prstGeom prst="rect">
            <a:avLst/>
          </a:prstGeom>
        </p:spPr>
      </p:pic>
      <p:sp>
        <p:nvSpPr>
          <p:cNvPr id="24" name="Limitation 3"/>
          <p:cNvSpPr txBox="1"/>
          <p:nvPr/>
        </p:nvSpPr>
        <p:spPr>
          <a:xfrm>
            <a:off x="6931152" y="3703320"/>
            <a:ext cx="4480560" cy="640080"/>
          </a:xfrm>
          <a:prstGeom prst="rect">
            <a:avLst/>
          </a:prstGeom>
          <a:noFill/>
          <a:ln/>
        </p:spPr>
        <p:txBody>
          <a:bodyPr wrap="square" lIns="0" tIns="0" rIns="0" bIns="0" rtlCol="0" anchor="t"/>
          <a:lstStyle/>
          <a:p>
            <a:pPr indent="0" marL="0">
              <a:buNone/>
            </a:pPr>
            <a:r>
              <a:rPr lang="en-US" sz="1600" dirty="0">
                <a:solidFill>
                  <a:schemeClr val="tx1"/>
                </a:solidFill>
              </a:rPr>
              <a:t>Results depend on readable text in the PDF</a:t>
            </a:r>
            <a:endParaRPr lang="en-US" sz="1600" dirty="0"/>
          </a:p>
        </p:txBody>
      </p:sp>
      <p:pic>
        <p:nvPicPr>
          <p:cNvPr id="25" name="Limitation icon 4" descr="Warning">    </p:cNvPr>
          <p:cNvPicPr>
            <a:picLocks noChangeAspect="1"/>
          </p:cNvPicPr>
          <p:nvPr/>
        </p:nvPicPr>
        <p:blipFill>
          <a:blip r:embed="rId10"/>
          <a:stretch>
            <a:fillRect/>
          </a:stretch>
        </p:blipFill>
        <p:spPr>
          <a:xfrm>
            <a:off x="6473952" y="4297680"/>
            <a:ext cx="292608" cy="292608"/>
          </a:xfrm>
          <a:prstGeom prst="rect">
            <a:avLst/>
          </a:prstGeom>
        </p:spPr>
      </p:pic>
      <p:sp>
        <p:nvSpPr>
          <p:cNvPr id="26" name="Limitation 4"/>
          <p:cNvSpPr txBox="1"/>
          <p:nvPr/>
        </p:nvSpPr>
        <p:spPr>
          <a:xfrm>
            <a:off x="6931152" y="4251960"/>
            <a:ext cx="4480560" cy="640080"/>
          </a:xfrm>
          <a:prstGeom prst="rect">
            <a:avLst/>
          </a:prstGeom>
          <a:noFill/>
          <a:ln/>
        </p:spPr>
        <p:txBody>
          <a:bodyPr wrap="square" lIns="0" tIns="0" rIns="0" bIns="0" rtlCol="0" anchor="t"/>
          <a:lstStyle/>
          <a:p>
            <a:pPr indent="0" marL="0">
              <a:buNone/>
            </a:pPr>
            <a:r>
              <a:rPr lang="en-US" sz="1600" dirty="0">
                <a:solidFill>
                  <a:schemeClr val="tx1"/>
                </a:solidFill>
              </a:rPr>
              <a:t>No formal accuracy evaluation yet</a:t>
            </a:r>
            <a:endParaRPr lang="en-US" sz="1600" dirty="0"/>
          </a:p>
        </p:txBody>
      </p:sp>
      <p:pic>
        <p:nvPicPr>
          <p:cNvPr id="27" name="Limitation icon 5" descr="Warning">    </p:cNvPr>
          <p:cNvPicPr>
            <a:picLocks noChangeAspect="1"/>
          </p:cNvPicPr>
          <p:nvPr/>
        </p:nvPicPr>
        <p:blipFill>
          <a:blip r:embed="rId11"/>
          <a:stretch>
            <a:fillRect/>
          </a:stretch>
        </p:blipFill>
        <p:spPr>
          <a:xfrm>
            <a:off x="6473952" y="4846320"/>
            <a:ext cx="292608" cy="292608"/>
          </a:xfrm>
          <a:prstGeom prst="rect">
            <a:avLst/>
          </a:prstGeom>
        </p:spPr>
      </p:pic>
      <p:sp>
        <p:nvSpPr>
          <p:cNvPr id="28" name="Limitation 5"/>
          <p:cNvSpPr txBox="1"/>
          <p:nvPr/>
        </p:nvSpPr>
        <p:spPr>
          <a:xfrm>
            <a:off x="6931152" y="4800600"/>
            <a:ext cx="4480560" cy="640080"/>
          </a:xfrm>
          <a:prstGeom prst="rect">
            <a:avLst/>
          </a:prstGeom>
          <a:noFill/>
          <a:ln/>
        </p:spPr>
        <p:txBody>
          <a:bodyPr wrap="square" lIns="0" tIns="0" rIns="0" bIns="0" rtlCol="0" anchor="t"/>
          <a:lstStyle/>
          <a:p>
            <a:pPr indent="0" marL="0">
              <a:buNone/>
            </a:pPr>
            <a:r>
              <a:rPr lang="en-US" sz="1600" dirty="0">
                <a:solidFill>
                  <a:schemeClr val="tx1"/>
                </a:solidFill>
              </a:rPr>
              <a:t>A working prototype, not production-ready</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600" b="1" dirty="0">
                <a:solidFill>
                  <a:schemeClr val="tx1"/>
                </a:solidFill>
              </a:rPr>
              <a:t>Future Scope</a:t>
            </a:r>
            <a:endParaRPr lang="en-US" sz="3600" dirty="0"/>
          </a:p>
        </p:txBody>
      </p:sp>
      <p:sp>
        <p:nvSpPr>
          <p:cNvPr id="3" name="Future badge"/>
          <p:cNvSpPr/>
          <p:nvPr/>
        </p:nvSpPr>
        <p:spPr>
          <a:xfrm>
            <a:off x="548640" y="1371600"/>
            <a:ext cx="5120640" cy="365760"/>
          </a:xfrm>
          <a:prstGeom prst="roundRect">
            <a:avLst>
              <a:gd name="adj" fmla="val 50000"/>
            </a:avLst>
          </a:prstGeom>
          <a:solidFill>
            <a:schemeClr val="accent3"/>
          </a:solidFill>
          <a:ln/>
        </p:spPr>
      </p:sp>
      <p:sp>
        <p:nvSpPr>
          <p:cNvPr id="4" name="Future badge label"/>
          <p:cNvSpPr txBox="1"/>
          <p:nvPr/>
        </p:nvSpPr>
        <p:spPr>
          <a:xfrm>
            <a:off x="548640" y="1371600"/>
            <a:ext cx="5120640" cy="365760"/>
          </a:xfrm>
          <a:prstGeom prst="rect">
            <a:avLst/>
          </a:prstGeom>
          <a:noFill/>
          <a:ln/>
        </p:spPr>
        <p:txBody>
          <a:bodyPr wrap="square" lIns="0" tIns="0" rIns="0" bIns="0" rtlCol="0" anchor="ctr"/>
          <a:lstStyle/>
          <a:p>
            <a:pPr algn="ctr" indent="0" marL="0">
              <a:buNone/>
            </a:pPr>
            <a:r>
              <a:rPr lang="en-US" sz="1200" b="1" dirty="0">
                <a:solidFill>
                  <a:schemeClr val="tx1"/>
                </a:solidFill>
              </a:rPr>
              <a:t>POSSIBLE FUTURE DIRECTIONS, NOT CURRENT FEATURES</a:t>
            </a:r>
            <a:endParaRPr lang="en-US" sz="1200" dirty="0"/>
          </a:p>
        </p:txBody>
      </p:sp>
      <p:sp>
        <p:nvSpPr>
          <p:cNvPr id="5" name="Future card 1"/>
          <p:cNvSpPr/>
          <p:nvPr/>
        </p:nvSpPr>
        <p:spPr>
          <a:xfrm>
            <a:off x="548640" y="2011680"/>
            <a:ext cx="2011680" cy="3291840"/>
          </a:xfrm>
          <a:prstGeom prst="roundRect">
            <a:avLst>
              <a:gd name="adj" fmla="val 6364"/>
            </a:avLst>
          </a:prstGeom>
          <a:solidFill>
            <a:schemeClr val="bg1"/>
          </a:solidFill>
          <a:ln w="19050">
            <a:solidFill>
              <a:schemeClr val="accent1"/>
            </a:solidFill>
            <a:prstDash val="dash"/>
          </a:ln>
        </p:spPr>
      </p:sp>
      <p:sp>
        <p:nvSpPr>
          <p:cNvPr id="6" name="Future circle 1"/>
          <p:cNvSpPr/>
          <p:nvPr/>
        </p:nvSpPr>
        <p:spPr>
          <a:xfrm>
            <a:off x="777240" y="2286000"/>
            <a:ext cx="777240" cy="777240"/>
          </a:xfrm>
          <a:prstGeom prst="ellipse">
            <a:avLst/>
          </a:prstGeom>
          <a:solidFill>
            <a:schemeClr val="bg2"/>
          </a:solidFill>
          <a:ln/>
        </p:spPr>
      </p:sp>
      <p:pic>
        <p:nvPicPr>
          <p:cNvPr id="7" name="Future icon 1" descr="Automated ingestion">    </p:cNvPr>
          <p:cNvPicPr>
            <a:picLocks noChangeAspect="1"/>
          </p:cNvPicPr>
          <p:nvPr/>
        </p:nvPicPr>
        <p:blipFill>
          <a:blip r:embed="rId1"/>
          <a:stretch>
            <a:fillRect/>
          </a:stretch>
        </p:blipFill>
        <p:spPr>
          <a:xfrm>
            <a:off x="987552" y="2496312"/>
            <a:ext cx="356616" cy="356616"/>
          </a:xfrm>
          <a:prstGeom prst="rect">
            <a:avLst/>
          </a:prstGeom>
        </p:spPr>
      </p:pic>
      <p:sp>
        <p:nvSpPr>
          <p:cNvPr id="8" name="Future heading 1"/>
          <p:cNvSpPr txBox="1"/>
          <p:nvPr/>
        </p:nvSpPr>
        <p:spPr>
          <a:xfrm>
            <a:off x="777240" y="3246120"/>
            <a:ext cx="1645920" cy="640080"/>
          </a:xfrm>
          <a:prstGeom prst="rect">
            <a:avLst/>
          </a:prstGeom>
          <a:noFill/>
          <a:ln/>
        </p:spPr>
        <p:txBody>
          <a:bodyPr wrap="square" lIns="0" tIns="0" rIns="0" bIns="0" rtlCol="0" anchor="t"/>
          <a:lstStyle/>
          <a:p>
            <a:pPr indent="0" marL="0">
              <a:buNone/>
            </a:pPr>
            <a:r>
              <a:rPr lang="en-US" sz="1800" b="1" dirty="0">
                <a:solidFill>
                  <a:schemeClr val="tx1"/>
                </a:solidFill>
              </a:rPr>
              <a:t>Automated ingestion</a:t>
            </a:r>
            <a:endParaRPr lang="en-US" sz="1800" dirty="0"/>
          </a:p>
        </p:txBody>
      </p:sp>
      <p:sp>
        <p:nvSpPr>
          <p:cNvPr id="9" name="Future text 1"/>
          <p:cNvSpPr txBox="1"/>
          <p:nvPr/>
        </p:nvSpPr>
        <p:spPr>
          <a:xfrm>
            <a:off x="777240" y="3931920"/>
            <a:ext cx="1600200" cy="1280160"/>
          </a:xfrm>
          <a:prstGeom prst="rect">
            <a:avLst/>
          </a:prstGeom>
          <a:noFill/>
          <a:ln/>
        </p:spPr>
        <p:txBody>
          <a:bodyPr wrap="square" lIns="0" tIns="0" rIns="0" bIns="0" rtlCol="0" anchor="t"/>
          <a:lstStyle/>
          <a:p>
            <a:pPr indent="0" marL="0">
              <a:buNone/>
            </a:pPr>
            <a:r>
              <a:rPr lang="en-US" sz="1400" dirty="0">
                <a:solidFill>
                  <a:schemeClr val="accent6"/>
                </a:solidFill>
              </a:rPr>
              <a:t>Pull notices from approved college sources.</a:t>
            </a:r>
            <a:endParaRPr lang="en-US" sz="1400" dirty="0"/>
          </a:p>
        </p:txBody>
      </p:sp>
      <p:sp>
        <p:nvSpPr>
          <p:cNvPr id="10" name="Future card 2"/>
          <p:cNvSpPr/>
          <p:nvPr/>
        </p:nvSpPr>
        <p:spPr>
          <a:xfrm>
            <a:off x="2811780" y="2011680"/>
            <a:ext cx="2011680" cy="3291840"/>
          </a:xfrm>
          <a:prstGeom prst="roundRect">
            <a:avLst>
              <a:gd name="adj" fmla="val 6364"/>
            </a:avLst>
          </a:prstGeom>
          <a:solidFill>
            <a:schemeClr val="bg1"/>
          </a:solidFill>
          <a:ln w="19050">
            <a:solidFill>
              <a:schemeClr val="accent1"/>
            </a:solidFill>
            <a:prstDash val="dash"/>
          </a:ln>
        </p:spPr>
      </p:sp>
      <p:sp>
        <p:nvSpPr>
          <p:cNvPr id="11" name="Future circle 2"/>
          <p:cNvSpPr/>
          <p:nvPr/>
        </p:nvSpPr>
        <p:spPr>
          <a:xfrm>
            <a:off x="3040380" y="2286000"/>
            <a:ext cx="777240" cy="777240"/>
          </a:xfrm>
          <a:prstGeom prst="ellipse">
            <a:avLst/>
          </a:prstGeom>
          <a:solidFill>
            <a:schemeClr val="bg2"/>
          </a:solidFill>
          <a:ln/>
        </p:spPr>
      </p:sp>
      <p:pic>
        <p:nvPicPr>
          <p:cNvPr id="12" name="Future icon 2" descr="Calendar &amp; reminders">    </p:cNvPr>
          <p:cNvPicPr>
            <a:picLocks noChangeAspect="1"/>
          </p:cNvPicPr>
          <p:nvPr/>
        </p:nvPicPr>
        <p:blipFill>
          <a:blip r:embed="rId2"/>
          <a:stretch>
            <a:fillRect/>
          </a:stretch>
        </p:blipFill>
        <p:spPr>
          <a:xfrm>
            <a:off x="3250692" y="2496312"/>
            <a:ext cx="356616" cy="356616"/>
          </a:xfrm>
          <a:prstGeom prst="rect">
            <a:avLst/>
          </a:prstGeom>
        </p:spPr>
      </p:pic>
      <p:sp>
        <p:nvSpPr>
          <p:cNvPr id="13" name="Future heading 2"/>
          <p:cNvSpPr txBox="1"/>
          <p:nvPr/>
        </p:nvSpPr>
        <p:spPr>
          <a:xfrm>
            <a:off x="3040380" y="3246120"/>
            <a:ext cx="1645920" cy="640080"/>
          </a:xfrm>
          <a:prstGeom prst="rect">
            <a:avLst/>
          </a:prstGeom>
          <a:noFill/>
          <a:ln/>
        </p:spPr>
        <p:txBody>
          <a:bodyPr wrap="square" lIns="0" tIns="0" rIns="0" bIns="0" rtlCol="0" anchor="t"/>
          <a:lstStyle/>
          <a:p>
            <a:pPr indent="0" marL="0">
              <a:buNone/>
            </a:pPr>
            <a:r>
              <a:rPr lang="en-US" sz="1800" b="1" dirty="0">
                <a:solidFill>
                  <a:schemeClr val="tx1"/>
                </a:solidFill>
              </a:rPr>
              <a:t>Calendar &amp; reminders</a:t>
            </a:r>
            <a:endParaRPr lang="en-US" sz="1800" dirty="0"/>
          </a:p>
        </p:txBody>
      </p:sp>
      <p:sp>
        <p:nvSpPr>
          <p:cNvPr id="14" name="Future text 2"/>
          <p:cNvSpPr txBox="1"/>
          <p:nvPr/>
        </p:nvSpPr>
        <p:spPr>
          <a:xfrm>
            <a:off x="3040380" y="3931920"/>
            <a:ext cx="1600200" cy="1280160"/>
          </a:xfrm>
          <a:prstGeom prst="rect">
            <a:avLst/>
          </a:prstGeom>
          <a:noFill/>
          <a:ln/>
        </p:spPr>
        <p:txBody>
          <a:bodyPr wrap="square" lIns="0" tIns="0" rIns="0" bIns="0" rtlCol="0" anchor="t"/>
          <a:lstStyle/>
          <a:p>
            <a:pPr indent="0" marL="0">
              <a:buNone/>
            </a:pPr>
            <a:r>
              <a:rPr lang="en-US" sz="1400" dirty="0">
                <a:solidFill>
                  <a:schemeClr val="accent6"/>
                </a:solidFill>
              </a:rPr>
              <a:t>Add deadlines to a calendar with reminders.</a:t>
            </a:r>
            <a:endParaRPr lang="en-US" sz="1400" dirty="0"/>
          </a:p>
        </p:txBody>
      </p:sp>
      <p:sp>
        <p:nvSpPr>
          <p:cNvPr id="15" name="Future card 3"/>
          <p:cNvSpPr/>
          <p:nvPr/>
        </p:nvSpPr>
        <p:spPr>
          <a:xfrm>
            <a:off x="5074920" y="2011680"/>
            <a:ext cx="2011680" cy="3291840"/>
          </a:xfrm>
          <a:prstGeom prst="roundRect">
            <a:avLst>
              <a:gd name="adj" fmla="val 6364"/>
            </a:avLst>
          </a:prstGeom>
          <a:solidFill>
            <a:schemeClr val="bg1"/>
          </a:solidFill>
          <a:ln w="19050">
            <a:solidFill>
              <a:schemeClr val="accent1"/>
            </a:solidFill>
            <a:prstDash val="dash"/>
          </a:ln>
        </p:spPr>
      </p:sp>
      <p:sp>
        <p:nvSpPr>
          <p:cNvPr id="16" name="Future circle 3"/>
          <p:cNvSpPr/>
          <p:nvPr/>
        </p:nvSpPr>
        <p:spPr>
          <a:xfrm>
            <a:off x="5303520" y="2286000"/>
            <a:ext cx="777240" cy="777240"/>
          </a:xfrm>
          <a:prstGeom prst="ellipse">
            <a:avLst/>
          </a:prstGeom>
          <a:solidFill>
            <a:schemeClr val="bg2"/>
          </a:solidFill>
          <a:ln/>
        </p:spPr>
      </p:sp>
      <p:pic>
        <p:nvPicPr>
          <p:cNvPr id="17" name="Future icon 3" descr="More formats">    </p:cNvPr>
          <p:cNvPicPr>
            <a:picLocks noChangeAspect="1"/>
          </p:cNvPicPr>
          <p:nvPr/>
        </p:nvPicPr>
        <p:blipFill>
          <a:blip r:embed="rId3"/>
          <a:stretch>
            <a:fillRect/>
          </a:stretch>
        </p:blipFill>
        <p:spPr>
          <a:xfrm>
            <a:off x="5513832" y="2496312"/>
            <a:ext cx="356616" cy="356616"/>
          </a:xfrm>
          <a:prstGeom prst="rect">
            <a:avLst/>
          </a:prstGeom>
        </p:spPr>
      </p:pic>
      <p:sp>
        <p:nvSpPr>
          <p:cNvPr id="18" name="Future heading 3"/>
          <p:cNvSpPr txBox="1"/>
          <p:nvPr/>
        </p:nvSpPr>
        <p:spPr>
          <a:xfrm>
            <a:off x="5303520" y="3246120"/>
            <a:ext cx="1645920" cy="640080"/>
          </a:xfrm>
          <a:prstGeom prst="rect">
            <a:avLst/>
          </a:prstGeom>
          <a:noFill/>
          <a:ln/>
        </p:spPr>
        <p:txBody>
          <a:bodyPr wrap="square" lIns="0" tIns="0" rIns="0" bIns="0" rtlCol="0" anchor="t"/>
          <a:lstStyle/>
          <a:p>
            <a:pPr indent="0" marL="0">
              <a:buNone/>
            </a:pPr>
            <a:r>
              <a:rPr lang="en-US" sz="1800" b="1" dirty="0">
                <a:solidFill>
                  <a:schemeClr val="tx1"/>
                </a:solidFill>
              </a:rPr>
              <a:t>More formats</a:t>
            </a:r>
            <a:endParaRPr lang="en-US" sz="1800" dirty="0"/>
          </a:p>
        </p:txBody>
      </p:sp>
      <p:sp>
        <p:nvSpPr>
          <p:cNvPr id="19" name="Future text 3"/>
          <p:cNvSpPr txBox="1"/>
          <p:nvPr/>
        </p:nvSpPr>
        <p:spPr>
          <a:xfrm>
            <a:off x="5303520" y="3931920"/>
            <a:ext cx="1600200" cy="1280160"/>
          </a:xfrm>
          <a:prstGeom prst="rect">
            <a:avLst/>
          </a:prstGeom>
          <a:noFill/>
          <a:ln/>
        </p:spPr>
        <p:txBody>
          <a:bodyPr wrap="square" lIns="0" tIns="0" rIns="0" bIns="0" rtlCol="0" anchor="t"/>
          <a:lstStyle/>
          <a:p>
            <a:pPr indent="0" marL="0">
              <a:buNone/>
            </a:pPr>
            <a:r>
              <a:rPr lang="en-US" sz="1400" dirty="0">
                <a:solidFill>
                  <a:schemeClr val="accent6"/>
                </a:solidFill>
              </a:rPr>
              <a:t>Support document types beyond PDF.</a:t>
            </a:r>
            <a:endParaRPr lang="en-US" sz="1400" dirty="0"/>
          </a:p>
        </p:txBody>
      </p:sp>
      <p:sp>
        <p:nvSpPr>
          <p:cNvPr id="20" name="Future card 4"/>
          <p:cNvSpPr/>
          <p:nvPr/>
        </p:nvSpPr>
        <p:spPr>
          <a:xfrm>
            <a:off x="7338060" y="2011680"/>
            <a:ext cx="2011680" cy="3291840"/>
          </a:xfrm>
          <a:prstGeom prst="roundRect">
            <a:avLst>
              <a:gd name="adj" fmla="val 6364"/>
            </a:avLst>
          </a:prstGeom>
          <a:solidFill>
            <a:schemeClr val="bg1"/>
          </a:solidFill>
          <a:ln w="19050">
            <a:solidFill>
              <a:schemeClr val="accent1"/>
            </a:solidFill>
            <a:prstDash val="dash"/>
          </a:ln>
        </p:spPr>
      </p:sp>
      <p:sp>
        <p:nvSpPr>
          <p:cNvPr id="21" name="Future circle 4"/>
          <p:cNvSpPr/>
          <p:nvPr/>
        </p:nvSpPr>
        <p:spPr>
          <a:xfrm>
            <a:off x="7566660" y="2286000"/>
            <a:ext cx="777240" cy="777240"/>
          </a:xfrm>
          <a:prstGeom prst="ellipse">
            <a:avLst/>
          </a:prstGeom>
          <a:solidFill>
            <a:schemeClr val="bg2"/>
          </a:solidFill>
          <a:ln/>
        </p:spPr>
      </p:sp>
      <p:pic>
        <p:nvPicPr>
          <p:cNvPr id="22" name="Future icon 4" descr="Better validation">    </p:cNvPr>
          <p:cNvPicPr>
            <a:picLocks noChangeAspect="1"/>
          </p:cNvPicPr>
          <p:nvPr/>
        </p:nvPicPr>
        <p:blipFill>
          <a:blip r:embed="rId4"/>
          <a:stretch>
            <a:fillRect/>
          </a:stretch>
        </p:blipFill>
        <p:spPr>
          <a:xfrm>
            <a:off x="7776972" y="2496312"/>
            <a:ext cx="356616" cy="356616"/>
          </a:xfrm>
          <a:prstGeom prst="rect">
            <a:avLst/>
          </a:prstGeom>
        </p:spPr>
      </p:pic>
      <p:sp>
        <p:nvSpPr>
          <p:cNvPr id="23" name="Future heading 4"/>
          <p:cNvSpPr txBox="1"/>
          <p:nvPr/>
        </p:nvSpPr>
        <p:spPr>
          <a:xfrm>
            <a:off x="7566660" y="3246120"/>
            <a:ext cx="1645920" cy="640080"/>
          </a:xfrm>
          <a:prstGeom prst="rect">
            <a:avLst/>
          </a:prstGeom>
          <a:noFill/>
          <a:ln/>
        </p:spPr>
        <p:txBody>
          <a:bodyPr wrap="square" lIns="0" tIns="0" rIns="0" bIns="0" rtlCol="0" anchor="t"/>
          <a:lstStyle/>
          <a:p>
            <a:pPr indent="0" marL="0">
              <a:buNone/>
            </a:pPr>
            <a:r>
              <a:rPr lang="en-US" sz="1800" b="1" dirty="0">
                <a:solidFill>
                  <a:schemeClr val="tx1"/>
                </a:solidFill>
              </a:rPr>
              <a:t>Better validation</a:t>
            </a:r>
            <a:endParaRPr lang="en-US" sz="1800" dirty="0"/>
          </a:p>
        </p:txBody>
      </p:sp>
      <p:sp>
        <p:nvSpPr>
          <p:cNvPr id="24" name="Future text 4"/>
          <p:cNvSpPr txBox="1"/>
          <p:nvPr/>
        </p:nvSpPr>
        <p:spPr>
          <a:xfrm>
            <a:off x="7566660" y="3931920"/>
            <a:ext cx="1600200" cy="1280160"/>
          </a:xfrm>
          <a:prstGeom prst="rect">
            <a:avLst/>
          </a:prstGeom>
          <a:noFill/>
          <a:ln/>
        </p:spPr>
        <p:txBody>
          <a:bodyPr wrap="square" lIns="0" tIns="0" rIns="0" bIns="0" rtlCol="0" anchor="t"/>
          <a:lstStyle/>
          <a:p>
            <a:pPr indent="0" marL="0">
              <a:buNone/>
            </a:pPr>
            <a:r>
              <a:rPr lang="en-US" sz="1400" dirty="0">
                <a:solidFill>
                  <a:schemeClr val="accent6"/>
                </a:solidFill>
              </a:rPr>
              <a:t>Stronger extraction checks and formal evaluation.</a:t>
            </a:r>
            <a:endParaRPr lang="en-US" sz="1400" dirty="0"/>
          </a:p>
        </p:txBody>
      </p:sp>
      <p:sp>
        <p:nvSpPr>
          <p:cNvPr id="25" name="Future card 5"/>
          <p:cNvSpPr/>
          <p:nvPr/>
        </p:nvSpPr>
        <p:spPr>
          <a:xfrm>
            <a:off x="9601200" y="2011680"/>
            <a:ext cx="2011680" cy="3291840"/>
          </a:xfrm>
          <a:prstGeom prst="roundRect">
            <a:avLst>
              <a:gd name="adj" fmla="val 6364"/>
            </a:avLst>
          </a:prstGeom>
          <a:solidFill>
            <a:schemeClr val="bg1"/>
          </a:solidFill>
          <a:ln w="19050">
            <a:solidFill>
              <a:schemeClr val="accent1"/>
            </a:solidFill>
            <a:prstDash val="dash"/>
          </a:ln>
        </p:spPr>
      </p:sp>
      <p:sp>
        <p:nvSpPr>
          <p:cNvPr id="26" name="Future circle 5"/>
          <p:cNvSpPr/>
          <p:nvPr/>
        </p:nvSpPr>
        <p:spPr>
          <a:xfrm>
            <a:off x="9829800" y="2286000"/>
            <a:ext cx="777240" cy="777240"/>
          </a:xfrm>
          <a:prstGeom prst="ellipse">
            <a:avLst/>
          </a:prstGeom>
          <a:solidFill>
            <a:schemeClr val="bg2"/>
          </a:solidFill>
          <a:ln/>
        </p:spPr>
      </p:sp>
      <p:pic>
        <p:nvPicPr>
          <p:cNvPr id="27" name="Future icon 5" descr="Easier profiles">    </p:cNvPr>
          <p:cNvPicPr>
            <a:picLocks noChangeAspect="1"/>
          </p:cNvPicPr>
          <p:nvPr/>
        </p:nvPicPr>
        <p:blipFill>
          <a:blip r:embed="rId5"/>
          <a:stretch>
            <a:fillRect/>
          </a:stretch>
        </p:blipFill>
        <p:spPr>
          <a:xfrm>
            <a:off x="10040112" y="2496312"/>
            <a:ext cx="356616" cy="356616"/>
          </a:xfrm>
          <a:prstGeom prst="rect">
            <a:avLst/>
          </a:prstGeom>
        </p:spPr>
      </p:pic>
      <p:sp>
        <p:nvSpPr>
          <p:cNvPr id="28" name="Future heading 5"/>
          <p:cNvSpPr txBox="1"/>
          <p:nvPr/>
        </p:nvSpPr>
        <p:spPr>
          <a:xfrm>
            <a:off x="9829800" y="3246120"/>
            <a:ext cx="1645920" cy="640080"/>
          </a:xfrm>
          <a:prstGeom prst="rect">
            <a:avLst/>
          </a:prstGeom>
          <a:noFill/>
          <a:ln/>
        </p:spPr>
        <p:txBody>
          <a:bodyPr wrap="square" lIns="0" tIns="0" rIns="0" bIns="0" rtlCol="0" anchor="t"/>
          <a:lstStyle/>
          <a:p>
            <a:pPr indent="0" marL="0">
              <a:buNone/>
            </a:pPr>
            <a:r>
              <a:rPr lang="en-US" sz="1800" b="1" dirty="0">
                <a:solidFill>
                  <a:schemeClr val="tx1"/>
                </a:solidFill>
              </a:rPr>
              <a:t>Easier profiles</a:t>
            </a:r>
            <a:endParaRPr lang="en-US" sz="1800" dirty="0"/>
          </a:p>
        </p:txBody>
      </p:sp>
      <p:sp>
        <p:nvSpPr>
          <p:cNvPr id="29" name="Future text 5"/>
          <p:cNvSpPr txBox="1"/>
          <p:nvPr/>
        </p:nvSpPr>
        <p:spPr>
          <a:xfrm>
            <a:off x="9829800" y="3931920"/>
            <a:ext cx="1600200" cy="1280160"/>
          </a:xfrm>
          <a:prstGeom prst="rect">
            <a:avLst/>
          </a:prstGeom>
          <a:noFill/>
          <a:ln/>
        </p:spPr>
        <p:txBody>
          <a:bodyPr wrap="square" lIns="0" tIns="0" rIns="0" bIns="0" rtlCol="0" anchor="t"/>
          <a:lstStyle/>
          <a:p>
            <a:pPr indent="0" marL="0">
              <a:buNone/>
            </a:pPr>
            <a:r>
              <a:rPr lang="en-US" sz="1400" dirty="0">
                <a:solidFill>
                  <a:schemeClr val="accent6"/>
                </a:solidFill>
              </a:rPr>
              <a:t>More convenient student-profile management.</a:t>
            </a:r>
            <a:endParaRPr lang="en-US" sz="1400" dirty="0"/>
          </a:p>
        </p:txBody>
      </p:sp>
      <p:sp>
        <p:nvSpPr>
          <p:cNvPr id="30" name="Future note"/>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Each item is a possibility for later versions. None is implemented in the current prototype.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losing message"/>
          <p:cNvSpPr txBox="1"/>
          <p:nvPr/>
        </p:nvSpPr>
        <p:spPr>
          <a:xfrm>
            <a:off x="731520" y="1280160"/>
            <a:ext cx="10241280" cy="1828800"/>
          </a:xfrm>
          <a:prstGeom prst="rect">
            <a:avLst/>
          </a:prstGeom>
          <a:noFill/>
          <a:ln/>
        </p:spPr>
        <p:txBody>
          <a:bodyPr wrap="square" lIns="0" tIns="0" rIns="0" bIns="0" rtlCol="0" anchor="t"/>
          <a:lstStyle/>
          <a:p>
            <a:pPr indent="0" marL="0">
              <a:buNone/>
            </a:pPr>
            <a:r>
              <a:rPr lang="en-US" sz="4400" b="1" dirty="0">
                <a:solidFill>
                  <a:schemeClr val="bg1"/>
                </a:solidFill>
              </a:rPr>
              <a:t>Less time interpreting notices. More clarity about what to do next.</a:t>
            </a:r>
            <a:endParaRPr lang="en-US" sz="4400" dirty="0"/>
          </a:p>
        </p:txBody>
      </p:sp>
      <p:sp>
        <p:nvSpPr>
          <p:cNvPr id="3" name="Closing project"/>
          <p:cNvSpPr txBox="1"/>
          <p:nvPr/>
        </p:nvSpPr>
        <p:spPr>
          <a:xfrm>
            <a:off x="731520" y="3611880"/>
            <a:ext cx="6400800" cy="548640"/>
          </a:xfrm>
          <a:prstGeom prst="rect">
            <a:avLst/>
          </a:prstGeom>
          <a:noFill/>
          <a:ln/>
        </p:spPr>
        <p:txBody>
          <a:bodyPr wrap="square" lIns="0" tIns="0" rIns="0" bIns="0" rtlCol="0" anchor="t"/>
          <a:lstStyle/>
          <a:p>
            <a:pPr indent="0" marL="0">
              <a:buNone/>
            </a:pPr>
            <a:r>
              <a:rPr lang="en-US" sz="3000" b="1" dirty="0">
                <a:solidFill>
                  <a:schemeClr val="bg1"/>
                </a:solidFill>
              </a:rPr>
              <a:t>NOTICE</a:t>
            </a:r>
            <a:pPr indent="0" marL="0">
              <a:buNone/>
            </a:pPr>
            <a:r>
              <a:rPr lang="en-US" sz="3000" b="1" dirty="0">
                <a:solidFill>
                  <a:schemeClr val="accent2"/>
                </a:solidFill>
              </a:rPr>
              <a:t>2</a:t>
            </a:r>
            <a:pPr indent="0" marL="0">
              <a:buNone/>
            </a:pPr>
            <a:r>
              <a:rPr lang="en-US" sz="3000" b="1" dirty="0">
                <a:solidFill>
                  <a:schemeClr val="bg1"/>
                </a:solidFill>
              </a:rPr>
              <a:t>ACTION</a:t>
            </a:r>
            <a:endParaRPr lang="en-US" sz="3000" dirty="0"/>
          </a:p>
        </p:txBody>
      </p:sp>
      <p:sp>
        <p:nvSpPr>
          <p:cNvPr id="4" name="Closing credit"/>
          <p:cNvSpPr txBox="1"/>
          <p:nvPr/>
        </p:nvSpPr>
        <p:spPr>
          <a:xfrm>
            <a:off x="731520" y="4251960"/>
            <a:ext cx="6400800" cy="365760"/>
          </a:xfrm>
          <a:prstGeom prst="rect">
            <a:avLst/>
          </a:prstGeom>
          <a:noFill/>
          <a:ln/>
        </p:spPr>
        <p:txBody>
          <a:bodyPr wrap="square" lIns="0" tIns="0" rIns="0" bIns="0" rtlCol="0" anchor="t"/>
          <a:lstStyle/>
          <a:p>
            <a:pPr indent="0" marL="0">
              <a:buNone/>
            </a:pPr>
            <a:r>
              <a:rPr lang="en-US" sz="2000" dirty="0">
                <a:solidFill>
                  <a:schemeClr val="bg2"/>
                </a:solidFill>
              </a:rPr>
              <a:t>Developed by ALAN BAIJU</a:t>
            </a:r>
            <a:endParaRPr lang="en-US" sz="2000" dirty="0"/>
          </a:p>
        </p:txBody>
      </p:sp>
      <p:sp>
        <p:nvSpPr>
          <p:cNvPr id="5" name="Closing link label"/>
          <p:cNvSpPr txBox="1"/>
          <p:nvPr/>
        </p:nvSpPr>
        <p:spPr>
          <a:xfrm>
            <a:off x="731520" y="5029200"/>
            <a:ext cx="3657600"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LIVE PROTOTYPE</a:t>
            </a:r>
            <a:endParaRPr lang="en-US" sz="1200" dirty="0"/>
          </a:p>
        </p:txBody>
      </p:sp>
      <p:sp>
        <p:nvSpPr>
          <p:cNvPr id="6" name="Closing link pill"/>
          <p:cNvSpPr/>
          <p:nvPr/>
        </p:nvSpPr>
        <p:spPr>
          <a:xfrm>
            <a:off x="731520" y="5303520"/>
            <a:ext cx="7863840" cy="457200"/>
          </a:xfrm>
          <a:prstGeom prst="roundRect">
            <a:avLst>
              <a:gd name="adj" fmla="val 24000"/>
            </a:avLst>
          </a:prstGeom>
          <a:solidFill>
            <a:schemeClr val="bg1"/>
          </a:solidFill>
          <a:ln/>
        </p:spPr>
      </p:sp>
      <p:sp>
        <p:nvSpPr>
          <p:cNvPr id="7" name="Closing link"/>
          <p:cNvSpPr txBox="1"/>
          <p:nvPr/>
        </p:nvSpPr>
        <p:spPr>
          <a:xfrm>
            <a:off x="914400" y="5303520"/>
            <a:ext cx="7589520" cy="457200"/>
          </a:xfrm>
          <a:prstGeom prst="rect">
            <a:avLst/>
          </a:prstGeom>
          <a:noFill/>
          <a:ln/>
        </p:spPr>
        <p:txBody>
          <a:bodyPr wrap="square" lIns="0" tIns="0" rIns="0" bIns="0" rtlCol="0" anchor="ctr"/>
          <a:lstStyle/>
          <a:p>
            <a:pPr indent="0" marL="0">
              <a:buNone/>
            </a:pPr>
            <a:r>
              <a:rPr lang="en-US" sz="1600" b="1" u="sng" dirty="0">
                <a:solidFill>
                  <a:schemeClr val="tx1"/>
                </a:solidFill>
                <a:hlinkClick r:id="rId1" invalidUrl="" action="" tgtFrame="" tooltip="Open the Notice2Action prototype" history="1" highlightClick="0" endSnd="0">
                  <a:extLst>
                    <a:ext uri="{A12FA001-AC4F-418D-AE19-62706E023703}">
                      <ahyp:hlinkClr xmlns:ahyp="http://schemas.microsoft.com/office/drawing/2018/hyperlinkcolor" val="tx"/>
                    </a:ext>
                  </a:extLst>
                </a:hlinkClick>
              </a:rPr>
              <a:t>https://notice2action-ppdndd9hck3vpiskvwn3oy.streamlit.app/</a:t>
            </a:r>
            <a:endParaRPr lang="en-US" sz="1600" dirty="0"/>
          </a:p>
        </p:txBody>
      </p:sp>
      <p:sp>
        <p:nvSpPr>
          <p:cNvPr id="8" name="Closing QR tile"/>
          <p:cNvSpPr/>
          <p:nvPr/>
        </p:nvSpPr>
        <p:spPr>
          <a:xfrm>
            <a:off x="9418320" y="3520440"/>
            <a:ext cx="2194560" cy="2194560"/>
          </a:xfrm>
          <a:prstGeom prst="roundRect">
            <a:avLst>
              <a:gd name="adj" fmla="val 5833"/>
            </a:avLst>
          </a:prstGeom>
          <a:solidFill>
            <a:schemeClr val="bg1"/>
          </a:solidFill>
          <a:ln/>
        </p:spPr>
      </p:sp>
      <p:pic>
        <p:nvPicPr>
          <p:cNvPr id="9" name="Closing QR code" descr="QR code linking to the Notice2Action live prototype">
            <a:hlinkClick r:id="rId3" tooltip="Open the Notice2Action prototype"/>
          </p:cNvPr>
          <p:cNvPicPr>
            <a:picLocks noChangeAspect="1"/>
          </p:cNvPicPr>
          <p:nvPr/>
        </p:nvPicPr>
        <p:blipFill>
          <a:blip r:embed="rId2"/>
          <a:stretch>
            <a:fillRect/>
          </a:stretch>
        </p:blipFill>
        <p:spPr>
          <a:xfrm>
            <a:off x="9601200" y="3703320"/>
            <a:ext cx="1828800" cy="1828800"/>
          </a:xfrm>
          <a:prstGeom prst="rect">
            <a:avLst/>
          </a:prstGeom>
        </p:spPr>
      </p:pic>
      <p:sp>
        <p:nvSpPr>
          <p:cNvPr id="10" name="Closing QR caption"/>
          <p:cNvSpPr txBox="1"/>
          <p:nvPr/>
        </p:nvSpPr>
        <p:spPr>
          <a:xfrm>
            <a:off x="9418320" y="5806440"/>
            <a:ext cx="2194560" cy="274320"/>
          </a:xfrm>
          <a:prstGeom prst="rect">
            <a:avLst/>
          </a:prstGeom>
          <a:noFill/>
          <a:ln/>
        </p:spPr>
        <p:txBody>
          <a:bodyPr wrap="square" lIns="0" tIns="0" rIns="0" bIns="0" rtlCol="0" anchor="t"/>
          <a:lstStyle/>
          <a:p>
            <a:pPr algn="ctr" indent="0" marL="0">
              <a:buNone/>
            </a:pPr>
            <a:r>
              <a:rPr lang="en-US" sz="1200" b="1" dirty="0">
                <a:solidFill>
                  <a:schemeClr val="bg2"/>
                </a:solidFill>
              </a:rPr>
              <a:t>Scan to try it</a:t>
            </a:r>
            <a:endParaRPr lang="en-US" sz="1200" dirty="0"/>
          </a:p>
        </p:txBody>
      </p:sp>
    </p:spTree>
  </p:cSld>
  <p:clrMapOvr>
    <a:masterClrMapping/>
  </p:clrMapOvr>
</p:sld>
</file>

<file path=ppt/theme/theme1.xml><?xml version="1.0" encoding="utf-8"?>
<a:theme xmlns:a="http://schemas.openxmlformats.org/drawingml/2006/main" name="Notice2Action">
  <a:themeElements>
    <a:clrScheme name="Notice2Action">
      <a:dk1>
        <a:srgbClr val="0B1530"/>
      </a:dk1>
      <a:lt1>
        <a:srgbClr val="FFFFFF"/>
      </a:lt1>
      <a:dk2>
        <a:srgbClr val="14224A"/>
      </a:dk2>
      <a:lt2>
        <a:srgbClr val="EEF3FF"/>
      </a:lt2>
      <a:accent1>
        <a:srgbClr val="2F6BFF"/>
      </a:accent1>
      <a:accent2>
        <a:srgbClr val="22D3EE"/>
      </a:accent2>
      <a:accent3>
        <a:srgbClr val="F59E0B"/>
      </a:accent3>
      <a:accent4>
        <a:srgbClr val="EF4444"/>
      </a:accent4>
      <a:accent5>
        <a:srgbClr val="22C55E"/>
      </a:accent5>
      <a:accent6>
        <a:srgbClr val="5B6B84"/>
      </a:accent6>
      <a:hlink>
        <a:srgbClr val="1D4ED8"/>
      </a:hlink>
      <a:folHlink>
        <a:srgbClr val="1D4ED8"/>
      </a:folHlink>
    </a:clrScheme>
    <a:fontScheme name="Notice2Ac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Notice2Action - From College Notices to Clear, Personalized Actions</dc:title>
  <dc:subject>Individual project presentation</dc:subject>
  <dc:creator>ALAN BAIJU</dc:creator>
  <cp:lastModifiedBy>ALAN BAIJU</cp:lastModifiedBy>
  <cp:revision>1</cp:revision>
  <dcterms:created xsi:type="dcterms:W3CDTF">2026-10-09T06:07:34Z</dcterms:created>
  <dcterms:modified xsi:type="dcterms:W3CDTF">2026-10-09T06:07:34Z</dcterms:modified>
</cp:coreProperties>
</file>